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1.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slideLayout" Target="../slideLayouts/slideLayout1.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991295" y="3657600"/>
            <a:ext cx="4572000" cy="4572000"/>
          </a:xfrm>
          <a:prstGeom prst="ellipse">
            <a:avLst/>
          </a:prstGeom>
          <a:solidFill>
            <a:srgbClr val="155E75"/>
          </a:solidFill>
          <a:ln w="12700">
            <a:solidFill>
              <a:srgbClr val="155E75"/>
            </a:solidFill>
            <a:prstDash val="solid"/>
          </a:ln>
        </p:spPr>
      </p:sp>
      <p:sp>
        <p:nvSpPr>
          <p:cNvPr id="3" name="Shape 1"/>
          <p:cNvSpPr/>
          <p:nvPr/>
        </p:nvSpPr>
        <p:spPr>
          <a:xfrm>
            <a:off x="9905695" y="4572000"/>
            <a:ext cx="3200400" cy="3200400"/>
          </a:xfrm>
          <a:prstGeom prst="ellipse">
            <a:avLst/>
          </a:prstGeom>
          <a:solidFill>
            <a:srgbClr val="E36414"/>
          </a:solidFill>
          <a:ln w="12700">
            <a:solidFill>
              <a:srgbClr val="E36414"/>
            </a:solidFill>
            <a:prstDash val="solid"/>
          </a:ln>
        </p:spPr>
      </p:sp>
      <p:sp>
        <p:nvSpPr>
          <p:cNvPr id="4" name="Shape 2"/>
          <p:cNvSpPr/>
          <p:nvPr/>
        </p:nvSpPr>
        <p:spPr>
          <a:xfrm>
            <a:off x="548640" y="1097280"/>
            <a:ext cx="1280160" cy="73152"/>
          </a:xfrm>
          <a:prstGeom prst="rect">
            <a:avLst/>
          </a:prstGeom>
          <a:solidFill>
            <a:srgbClr val="E36414"/>
          </a:solidFill>
          <a:ln w="12700">
            <a:solidFill>
              <a:srgbClr val="E36414"/>
            </a:solidFill>
            <a:prstDash val="solid"/>
          </a:ln>
        </p:spPr>
      </p:sp>
      <p:sp>
        <p:nvSpPr>
          <p:cNvPr id="5" name="Text 3"/>
          <p:cNvSpPr/>
          <p:nvPr/>
        </p:nvSpPr>
        <p:spPr>
          <a:xfrm>
            <a:off x="548640" y="1280160"/>
            <a:ext cx="7315200" cy="411480"/>
          </a:xfrm>
          <a:prstGeom prst="rect">
            <a:avLst/>
          </a:prstGeom>
          <a:noFill/>
          <a:ln/>
        </p:spPr>
        <p:txBody>
          <a:bodyPr wrap="square" lIns="0" tIns="0" rIns="0" bIns="0" rtlCol="0" anchor="ctr"/>
          <a:lstStyle/>
          <a:p>
            <a:pPr indent="0" marL="0">
              <a:buNone/>
            </a:pPr>
            <a:r>
              <a:rPr lang="en-US" sz="1600" b="1" spc="800" kern="0" dirty="0">
                <a:solidFill>
                  <a:srgbClr val="E36414"/>
                </a:solidFill>
                <a:latin typeface="Calibri" pitchFamily="34" charset="0"/>
                <a:ea typeface="Calibri" pitchFamily="34" charset="-122"/>
                <a:cs typeface="Calibri" pitchFamily="34" charset="-120"/>
              </a:rPr>
              <a:t>NCLEX REVIEW</a:t>
            </a:r>
            <a:endParaRPr lang="en-US" sz="1600" dirty="0"/>
          </a:p>
        </p:txBody>
      </p:sp>
      <p:sp>
        <p:nvSpPr>
          <p:cNvPr id="6" name="Text 4"/>
          <p:cNvSpPr/>
          <p:nvPr/>
        </p:nvSpPr>
        <p:spPr>
          <a:xfrm>
            <a:off x="548640" y="1783080"/>
            <a:ext cx="8229600" cy="109728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The Endocrine</a:t>
            </a:r>
            <a:endParaRPr lang="en-US" sz="7200" dirty="0"/>
          </a:p>
        </p:txBody>
      </p:sp>
      <p:sp>
        <p:nvSpPr>
          <p:cNvPr id="7" name="Text 5"/>
          <p:cNvSpPr/>
          <p:nvPr/>
        </p:nvSpPr>
        <p:spPr>
          <a:xfrm>
            <a:off x="548640" y="2834640"/>
            <a:ext cx="8229600" cy="1097280"/>
          </a:xfrm>
          <a:prstGeom prst="rect">
            <a:avLst/>
          </a:prstGeom>
          <a:noFill/>
          <a:ln/>
        </p:spPr>
        <p:txBody>
          <a:bodyPr wrap="square" lIns="0" tIns="0" rIns="0" bIns="0" rtlCol="0" anchor="ctr"/>
          <a:lstStyle/>
          <a:p>
            <a:pPr indent="0" marL="0">
              <a:buNone/>
            </a:pPr>
            <a:r>
              <a:rPr lang="en-US" sz="7200" b="1" i="1" dirty="0">
                <a:solidFill>
                  <a:srgbClr val="FFFFFF"/>
                </a:solidFill>
                <a:latin typeface="Georgia" pitchFamily="34" charset="0"/>
                <a:ea typeface="Georgia" pitchFamily="34" charset="-122"/>
                <a:cs typeface="Georgia" pitchFamily="34" charset="-120"/>
              </a:rPr>
              <a:t>System</a:t>
            </a:r>
            <a:endParaRPr lang="en-US" sz="7200" dirty="0"/>
          </a:p>
        </p:txBody>
      </p:sp>
      <p:sp>
        <p:nvSpPr>
          <p:cNvPr id="8" name="Text 6"/>
          <p:cNvSpPr/>
          <p:nvPr/>
        </p:nvSpPr>
        <p:spPr>
          <a:xfrm>
            <a:off x="548640" y="4114800"/>
            <a:ext cx="8229600" cy="457200"/>
          </a:xfrm>
          <a:prstGeom prst="rect">
            <a:avLst/>
          </a:prstGeom>
          <a:noFill/>
          <a:ln/>
        </p:spPr>
        <p:txBody>
          <a:bodyPr wrap="square" lIns="0" tIns="0" rIns="0" bIns="0" rtlCol="0" anchor="ctr"/>
          <a:lstStyle/>
          <a:p>
            <a:pPr indent="0" marL="0">
              <a:buNone/>
            </a:pPr>
            <a:r>
              <a:rPr lang="en-US" sz="2000" i="1" dirty="0">
                <a:solidFill>
                  <a:srgbClr val="FAF3E0"/>
                </a:solidFill>
                <a:latin typeface="Calibri" pitchFamily="34" charset="0"/>
                <a:ea typeface="Calibri" pitchFamily="34" charset="-122"/>
                <a:cs typeface="Calibri" pitchFamily="34" charset="-120"/>
              </a:rPr>
              <a:t>Hormones • Disorders • Medications</a:t>
            </a:r>
            <a:endParaRPr lang="en-US" sz="2000" dirty="0"/>
          </a:p>
        </p:txBody>
      </p:sp>
      <p:pic>
        <p:nvPicPr>
          <p:cNvPr id="9" name="Image 0" descr="preencoded.png">    </p:cNvPr>
          <p:cNvPicPr>
            <a:picLocks noChangeAspect="1"/>
          </p:cNvPicPr>
          <p:nvPr/>
        </p:nvPicPr>
        <p:blipFill>
          <a:blip r:embed="rId1"/>
          <a:stretch>
            <a:fillRect/>
          </a:stretch>
        </p:blipFill>
        <p:spPr>
          <a:xfrm>
            <a:off x="548640" y="5669280"/>
            <a:ext cx="320040" cy="320040"/>
          </a:xfrm>
          <a:prstGeom prst="rect">
            <a:avLst/>
          </a:prstGeom>
        </p:spPr>
      </p:pic>
      <p:sp>
        <p:nvSpPr>
          <p:cNvPr id="10" name="Text 7"/>
          <p:cNvSpPr/>
          <p:nvPr/>
        </p:nvSpPr>
        <p:spPr>
          <a:xfrm>
            <a:off x="960120" y="5669280"/>
            <a:ext cx="9144000" cy="320040"/>
          </a:xfrm>
          <a:prstGeom prst="rect">
            <a:avLst/>
          </a:prstGeom>
          <a:noFill/>
          <a:ln/>
        </p:spPr>
        <p:txBody>
          <a:bodyPr wrap="square" lIns="0" tIns="0" rIns="0" bIns="0" rtlCol="0" anchor="ctr"/>
          <a:lstStyle/>
          <a:p>
            <a:pPr indent="0" marL="0">
              <a:buNone/>
            </a:pPr>
            <a:r>
              <a:rPr lang="en-US" sz="1200" dirty="0">
                <a:solidFill>
                  <a:srgbClr val="FAF3E0"/>
                </a:solidFill>
                <a:latin typeface="Calibri" pitchFamily="34" charset="0"/>
                <a:ea typeface="Calibri" pitchFamily="34" charset="-122"/>
                <a:cs typeface="Calibri" pitchFamily="34" charset="-120"/>
              </a:rPr>
              <a:t>Reference: Saunders Comprehensive Review for the NCLEX-RN® Examination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F4C5C"/>
          </a:solidFill>
          <a:ln w="12700">
            <a:solidFill>
              <a:srgbClr val="0F4C5C"/>
            </a:solidFill>
            <a:prstDash val="solid"/>
          </a:ln>
        </p:spPr>
      </p:sp>
      <p:sp>
        <p:nvSpPr>
          <p:cNvPr id="3" name="Text 1"/>
          <p:cNvSpPr/>
          <p:nvPr/>
        </p:nvSpPr>
        <p:spPr>
          <a:xfrm>
            <a:off x="548640" y="2377440"/>
            <a:ext cx="3657600" cy="457200"/>
          </a:xfrm>
          <a:prstGeom prst="rect">
            <a:avLst/>
          </a:prstGeom>
          <a:noFill/>
          <a:ln/>
        </p:spPr>
        <p:txBody>
          <a:bodyPr wrap="square" lIns="0" tIns="0" rIns="0" bIns="0" rtlCol="0" anchor="ctr"/>
          <a:lstStyle/>
          <a:p>
            <a:pPr indent="0" marL="0">
              <a:buNone/>
            </a:pPr>
            <a:r>
              <a:rPr lang="en-US" sz="1800" b="1" spc="1000" kern="0" dirty="0">
                <a:solidFill>
                  <a:srgbClr val="E36414"/>
                </a:solidFill>
                <a:latin typeface="Calibri" pitchFamily="34" charset="0"/>
                <a:ea typeface="Calibri" pitchFamily="34" charset="-122"/>
                <a:cs typeface="Calibri" pitchFamily="34" charset="-120"/>
              </a:rPr>
              <a:t>PART I</a:t>
            </a:r>
            <a:endParaRPr lang="en-US" sz="1800" dirty="0"/>
          </a:p>
        </p:txBody>
      </p:sp>
      <p:sp>
        <p:nvSpPr>
          <p:cNvPr id="4" name="Shape 2"/>
          <p:cNvSpPr/>
          <p:nvPr/>
        </p:nvSpPr>
        <p:spPr>
          <a:xfrm>
            <a:off x="548640" y="2788920"/>
            <a:ext cx="731520" cy="45720"/>
          </a:xfrm>
          <a:prstGeom prst="rect">
            <a:avLst/>
          </a:prstGeom>
          <a:solidFill>
            <a:srgbClr val="E36414"/>
          </a:solidFill>
          <a:ln w="12700">
            <a:solidFill>
              <a:srgbClr val="E36414"/>
            </a:solidFill>
            <a:prstDash val="solid"/>
          </a:ln>
        </p:spPr>
      </p:sp>
      <p:sp>
        <p:nvSpPr>
          <p:cNvPr id="5" name="Text 3"/>
          <p:cNvSpPr/>
          <p:nvPr/>
        </p:nvSpPr>
        <p:spPr>
          <a:xfrm>
            <a:off x="548640" y="2926080"/>
            <a:ext cx="3931920" cy="82296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Anatomy &amp;</a:t>
            </a:r>
            <a:endParaRPr lang="en-US" sz="4800" dirty="0"/>
          </a:p>
        </p:txBody>
      </p:sp>
      <p:sp>
        <p:nvSpPr>
          <p:cNvPr id="6" name="Text 4"/>
          <p:cNvSpPr/>
          <p:nvPr/>
        </p:nvSpPr>
        <p:spPr>
          <a:xfrm>
            <a:off x="548640" y="3703320"/>
            <a:ext cx="3931920" cy="822960"/>
          </a:xfrm>
          <a:prstGeom prst="rect">
            <a:avLst/>
          </a:prstGeom>
          <a:noFill/>
          <a:ln/>
        </p:spPr>
        <p:txBody>
          <a:bodyPr wrap="square" lIns="0" tIns="0" rIns="0" bIns="0" rtlCol="0" anchor="ctr"/>
          <a:lstStyle/>
          <a:p>
            <a:pPr indent="0" marL="0">
              <a:buNone/>
            </a:pPr>
            <a:r>
              <a:rPr lang="en-US" sz="4800" b="1" i="1" dirty="0">
                <a:solidFill>
                  <a:srgbClr val="FFFFFF"/>
                </a:solidFill>
                <a:latin typeface="Georgia" pitchFamily="34" charset="0"/>
                <a:ea typeface="Georgia" pitchFamily="34" charset="-122"/>
                <a:cs typeface="Georgia" pitchFamily="34" charset="-120"/>
              </a:rPr>
              <a:t>Physiology</a:t>
            </a:r>
            <a:endParaRPr lang="en-US" sz="4800" dirty="0"/>
          </a:p>
        </p:txBody>
      </p:sp>
      <p:sp>
        <p:nvSpPr>
          <p:cNvPr id="7" name="Shape 5"/>
          <p:cNvSpPr/>
          <p:nvPr/>
        </p:nvSpPr>
        <p:spPr>
          <a:xfrm>
            <a:off x="5669280" y="1280160"/>
            <a:ext cx="1828800" cy="1828800"/>
          </a:xfrm>
          <a:prstGeom prst="ellipse">
            <a:avLst/>
          </a:prstGeom>
          <a:solidFill>
            <a:srgbClr val="FFFFFF"/>
          </a:solidFill>
          <a:ln w="25400">
            <a:solidFill>
              <a:srgbClr val="0F4C5C"/>
            </a:solidFill>
            <a:prstDash val="solid"/>
          </a:ln>
          <a:effectLst>
            <a:outerShdw sx="100000" sy="100000" kx="0" ky="0" algn="bl" rotWithShape="0" blurRad="127000" dist="25400" dir="5400000">
              <a:srgbClr val="000000">
                <a:alpha val="8000"/>
              </a:srgbClr>
            </a:outerShdw>
          </a:effectLst>
        </p:spPr>
      </p:sp>
      <p:pic>
        <p:nvPicPr>
          <p:cNvPr id="8" name="Image 0" descr="preencoded.png">    </p:cNvPr>
          <p:cNvPicPr>
            <a:picLocks noChangeAspect="1"/>
          </p:cNvPicPr>
          <p:nvPr/>
        </p:nvPicPr>
        <p:blipFill>
          <a:blip r:embed="rId1"/>
          <a:stretch>
            <a:fillRect/>
          </a:stretch>
        </p:blipFill>
        <p:spPr>
          <a:xfrm>
            <a:off x="6172200" y="1691640"/>
            <a:ext cx="822960" cy="822960"/>
          </a:xfrm>
          <a:prstGeom prst="rect">
            <a:avLst/>
          </a:prstGeom>
        </p:spPr>
      </p:pic>
      <p:sp>
        <p:nvSpPr>
          <p:cNvPr id="9" name="Text 6"/>
          <p:cNvSpPr/>
          <p:nvPr/>
        </p:nvSpPr>
        <p:spPr>
          <a:xfrm>
            <a:off x="5394960" y="3154680"/>
            <a:ext cx="2377440" cy="6400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Hypothalamus</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&amp; Pituitary</a:t>
            </a:r>
            <a:endParaRPr lang="en-US" sz="1300" dirty="0"/>
          </a:p>
        </p:txBody>
      </p:sp>
      <p:sp>
        <p:nvSpPr>
          <p:cNvPr id="10" name="Shape 7"/>
          <p:cNvSpPr/>
          <p:nvPr/>
        </p:nvSpPr>
        <p:spPr>
          <a:xfrm>
            <a:off x="8412480" y="1280160"/>
            <a:ext cx="1828800" cy="1828800"/>
          </a:xfrm>
          <a:prstGeom prst="ellipse">
            <a:avLst/>
          </a:prstGeom>
          <a:solidFill>
            <a:srgbClr val="FFFFFF"/>
          </a:solidFill>
          <a:ln w="25400">
            <a:solidFill>
              <a:srgbClr val="0F4C5C"/>
            </a:solidFill>
            <a:prstDash val="solid"/>
          </a:ln>
          <a:effectLst>
            <a:outerShdw sx="100000" sy="100000" kx="0" ky="0" algn="bl" rotWithShape="0" blurRad="127000" dist="25400" dir="5400000">
              <a:srgbClr val="000000">
                <a:alpha val="8000"/>
              </a:srgbClr>
            </a:outerShdw>
          </a:effectLst>
        </p:spPr>
      </p:sp>
      <p:pic>
        <p:nvPicPr>
          <p:cNvPr id="11" name="Image 1" descr="preencoded.png">    </p:cNvPr>
          <p:cNvPicPr>
            <a:picLocks noChangeAspect="1"/>
          </p:cNvPicPr>
          <p:nvPr/>
        </p:nvPicPr>
        <p:blipFill>
          <a:blip r:embed="rId2"/>
          <a:stretch>
            <a:fillRect/>
          </a:stretch>
        </p:blipFill>
        <p:spPr>
          <a:xfrm>
            <a:off x="8915400" y="1691640"/>
            <a:ext cx="822960" cy="822960"/>
          </a:xfrm>
          <a:prstGeom prst="rect">
            <a:avLst/>
          </a:prstGeom>
        </p:spPr>
      </p:pic>
      <p:sp>
        <p:nvSpPr>
          <p:cNvPr id="12" name="Text 8"/>
          <p:cNvSpPr/>
          <p:nvPr/>
        </p:nvSpPr>
        <p:spPr>
          <a:xfrm>
            <a:off x="8138160" y="3154680"/>
            <a:ext cx="2377440" cy="6400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Thyroid &amp;</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Parathyroid</a:t>
            </a:r>
            <a:endParaRPr lang="en-US" sz="1300" dirty="0"/>
          </a:p>
        </p:txBody>
      </p:sp>
      <p:sp>
        <p:nvSpPr>
          <p:cNvPr id="13" name="Shape 9"/>
          <p:cNvSpPr/>
          <p:nvPr/>
        </p:nvSpPr>
        <p:spPr>
          <a:xfrm>
            <a:off x="5669280" y="3749040"/>
            <a:ext cx="1828800" cy="1828800"/>
          </a:xfrm>
          <a:prstGeom prst="ellipse">
            <a:avLst/>
          </a:prstGeom>
          <a:solidFill>
            <a:srgbClr val="FFFFFF"/>
          </a:solidFill>
          <a:ln w="25400">
            <a:solidFill>
              <a:srgbClr val="0F4C5C"/>
            </a:solidFill>
            <a:prstDash val="solid"/>
          </a:ln>
          <a:effectLst>
            <a:outerShdw sx="100000" sy="100000" kx="0" ky="0" algn="bl" rotWithShape="0" blurRad="127000" dist="25400" dir="5400000">
              <a:srgbClr val="000000">
                <a:alpha val="8000"/>
              </a:srgbClr>
            </a:outerShdw>
          </a:effectLst>
        </p:spPr>
      </p:sp>
      <p:pic>
        <p:nvPicPr>
          <p:cNvPr id="14" name="Image 2" descr="preencoded.png">    </p:cNvPr>
          <p:cNvPicPr>
            <a:picLocks noChangeAspect="1"/>
          </p:cNvPicPr>
          <p:nvPr/>
        </p:nvPicPr>
        <p:blipFill>
          <a:blip r:embed="rId3"/>
          <a:stretch>
            <a:fillRect/>
          </a:stretch>
        </p:blipFill>
        <p:spPr>
          <a:xfrm>
            <a:off x="6172200" y="4160520"/>
            <a:ext cx="822960" cy="822960"/>
          </a:xfrm>
          <a:prstGeom prst="rect">
            <a:avLst/>
          </a:prstGeom>
        </p:spPr>
      </p:pic>
      <p:sp>
        <p:nvSpPr>
          <p:cNvPr id="15" name="Text 10"/>
          <p:cNvSpPr/>
          <p:nvPr/>
        </p:nvSpPr>
        <p:spPr>
          <a:xfrm>
            <a:off x="5394960" y="5623560"/>
            <a:ext cx="2377440" cy="6400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Adrenal</a:t>
            </a:r>
            <a:endParaRPr lang="en-US" sz="1300" dirty="0"/>
          </a:p>
          <a:p>
            <a:pPr algn="ctr" indent="0" marL="0">
              <a:buNone/>
            </a:pPr>
            <a:r>
              <a:rPr lang="en-US" sz="1300" b="1" dirty="0">
                <a:solidFill>
                  <a:srgbClr val="1E293B"/>
                </a:solidFill>
                <a:latin typeface="Calibri" pitchFamily="34" charset="0"/>
                <a:ea typeface="Calibri" pitchFamily="34" charset="-122"/>
                <a:cs typeface="Calibri" pitchFamily="34" charset="-120"/>
              </a:rPr>
              <a:t>Glands</a:t>
            </a:r>
            <a:endParaRPr lang="en-US" sz="1300" dirty="0"/>
          </a:p>
        </p:txBody>
      </p:sp>
      <p:sp>
        <p:nvSpPr>
          <p:cNvPr id="16" name="Shape 11"/>
          <p:cNvSpPr/>
          <p:nvPr/>
        </p:nvSpPr>
        <p:spPr>
          <a:xfrm>
            <a:off x="8412480" y="3749040"/>
            <a:ext cx="1828800" cy="1828800"/>
          </a:xfrm>
          <a:prstGeom prst="ellipse">
            <a:avLst/>
          </a:prstGeom>
          <a:solidFill>
            <a:srgbClr val="FFFFFF"/>
          </a:solidFill>
          <a:ln w="25400">
            <a:solidFill>
              <a:srgbClr val="0F4C5C"/>
            </a:solidFill>
            <a:prstDash val="solid"/>
          </a:ln>
          <a:effectLst>
            <a:outerShdw sx="100000" sy="100000" kx="0" ky="0" algn="bl" rotWithShape="0" blurRad="127000" dist="25400" dir="5400000">
              <a:srgbClr val="000000">
                <a:alpha val="8000"/>
              </a:srgbClr>
            </a:outerShdw>
          </a:effectLst>
        </p:spPr>
      </p:sp>
      <p:pic>
        <p:nvPicPr>
          <p:cNvPr id="17" name="Image 3" descr="preencoded.png">    </p:cNvPr>
          <p:cNvPicPr>
            <a:picLocks noChangeAspect="1"/>
          </p:cNvPicPr>
          <p:nvPr/>
        </p:nvPicPr>
        <p:blipFill>
          <a:blip r:embed="rId4"/>
          <a:stretch>
            <a:fillRect/>
          </a:stretch>
        </p:blipFill>
        <p:spPr>
          <a:xfrm>
            <a:off x="8915400" y="4160520"/>
            <a:ext cx="822960" cy="822960"/>
          </a:xfrm>
          <a:prstGeom prst="rect">
            <a:avLst/>
          </a:prstGeom>
        </p:spPr>
      </p:pic>
      <p:sp>
        <p:nvSpPr>
          <p:cNvPr id="18" name="Text 12"/>
          <p:cNvSpPr/>
          <p:nvPr/>
        </p:nvSpPr>
        <p:spPr>
          <a:xfrm>
            <a:off x="8138160" y="5623560"/>
            <a:ext cx="2377440" cy="64008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Pancreas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Functions of the Endocrine System</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Chemical messengers that coordinate body activity</a:t>
            </a:r>
            <a:endParaRPr lang="en-US" sz="1400" dirty="0"/>
          </a:p>
        </p:txBody>
      </p:sp>
      <p:sp>
        <p:nvSpPr>
          <p:cNvPr id="5" name="Shape 3"/>
          <p:cNvSpPr/>
          <p:nvPr/>
        </p:nvSpPr>
        <p:spPr>
          <a:xfrm>
            <a:off x="731520" y="1554480"/>
            <a:ext cx="10698480" cy="13258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109728" cy="1325880"/>
          </a:xfrm>
          <a:prstGeom prst="rect">
            <a:avLst/>
          </a:prstGeom>
          <a:solidFill>
            <a:srgbClr val="0F4C5C"/>
          </a:solidFill>
          <a:ln w="12700">
            <a:solidFill>
              <a:srgbClr val="0F4C5C"/>
            </a:solidFill>
            <a:prstDash val="solid"/>
          </a:ln>
        </p:spPr>
      </p:sp>
      <p:sp>
        <p:nvSpPr>
          <p:cNvPr id="7" name="Shape 5"/>
          <p:cNvSpPr/>
          <p:nvPr/>
        </p:nvSpPr>
        <p:spPr>
          <a:xfrm>
            <a:off x="1051560" y="1847088"/>
            <a:ext cx="777240" cy="777240"/>
          </a:xfrm>
          <a:prstGeom prst="ellipse">
            <a:avLst/>
          </a:prstGeom>
          <a:solidFill>
            <a:srgbClr val="E0F2FE"/>
          </a:solidFill>
          <a:ln w="12700">
            <a:solidFill>
              <a:srgbClr val="E0F2FE"/>
            </a:solidFill>
            <a:prstDash val="solid"/>
          </a:ln>
        </p:spPr>
      </p:sp>
      <p:pic>
        <p:nvPicPr>
          <p:cNvPr id="8" name="Image 0" descr="preencoded.png">    </p:cNvPr>
          <p:cNvPicPr>
            <a:picLocks noChangeAspect="1"/>
          </p:cNvPicPr>
          <p:nvPr/>
        </p:nvPicPr>
        <p:blipFill>
          <a:blip r:embed="rId1"/>
          <a:stretch>
            <a:fillRect/>
          </a:stretch>
        </p:blipFill>
        <p:spPr>
          <a:xfrm>
            <a:off x="1188720" y="1984248"/>
            <a:ext cx="502920" cy="502920"/>
          </a:xfrm>
          <a:prstGeom prst="rect">
            <a:avLst/>
          </a:prstGeom>
        </p:spPr>
      </p:pic>
      <p:sp>
        <p:nvSpPr>
          <p:cNvPr id="9" name="Text 6"/>
          <p:cNvSpPr/>
          <p:nvPr/>
        </p:nvSpPr>
        <p:spPr>
          <a:xfrm>
            <a:off x="2057400" y="1755648"/>
            <a:ext cx="8686800" cy="457200"/>
          </a:xfrm>
          <a:prstGeom prst="rect">
            <a:avLst/>
          </a:prstGeom>
          <a:noFill/>
          <a:ln/>
        </p:spPr>
        <p:txBody>
          <a:bodyPr wrap="square" lIns="0" tIns="0" rIns="0" bIns="0" rtlCol="0" anchor="ctr"/>
          <a:lstStyle/>
          <a:p>
            <a:pPr indent="0" marL="0">
              <a:buNone/>
            </a:pPr>
            <a:r>
              <a:rPr lang="en-US" sz="2000" b="1" dirty="0">
                <a:solidFill>
                  <a:srgbClr val="0F4C5C"/>
                </a:solidFill>
                <a:latin typeface="Georgia" pitchFamily="34" charset="0"/>
                <a:ea typeface="Georgia" pitchFamily="34" charset="-122"/>
                <a:cs typeface="Georgia" pitchFamily="34" charset="-120"/>
              </a:rPr>
              <a:t>Reproduction</a:t>
            </a:r>
            <a:endParaRPr lang="en-US" sz="2000" dirty="0"/>
          </a:p>
        </p:txBody>
      </p:sp>
      <p:sp>
        <p:nvSpPr>
          <p:cNvPr id="10" name="Text 7"/>
          <p:cNvSpPr/>
          <p:nvPr/>
        </p:nvSpPr>
        <p:spPr>
          <a:xfrm>
            <a:off x="2057400" y="2212848"/>
            <a:ext cx="9144000" cy="6400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Coordinates the male and female reproductive systems through sex hormones (estrogen, progesterone, testosterone).</a:t>
            </a:r>
            <a:endParaRPr lang="en-US" sz="1300" dirty="0"/>
          </a:p>
        </p:txBody>
      </p:sp>
      <p:sp>
        <p:nvSpPr>
          <p:cNvPr id="11" name="Shape 8"/>
          <p:cNvSpPr/>
          <p:nvPr/>
        </p:nvSpPr>
        <p:spPr>
          <a:xfrm>
            <a:off x="731520" y="3108960"/>
            <a:ext cx="10698480" cy="13258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2" name="Shape 9"/>
          <p:cNvSpPr/>
          <p:nvPr/>
        </p:nvSpPr>
        <p:spPr>
          <a:xfrm>
            <a:off x="731520" y="3108960"/>
            <a:ext cx="109728" cy="1325880"/>
          </a:xfrm>
          <a:prstGeom prst="rect">
            <a:avLst/>
          </a:prstGeom>
          <a:solidFill>
            <a:srgbClr val="0F4C5C"/>
          </a:solidFill>
          <a:ln w="12700">
            <a:solidFill>
              <a:srgbClr val="0F4C5C"/>
            </a:solidFill>
            <a:prstDash val="solid"/>
          </a:ln>
        </p:spPr>
      </p:sp>
      <p:sp>
        <p:nvSpPr>
          <p:cNvPr id="13" name="Shape 10"/>
          <p:cNvSpPr/>
          <p:nvPr/>
        </p:nvSpPr>
        <p:spPr>
          <a:xfrm>
            <a:off x="1051560" y="3401568"/>
            <a:ext cx="777240" cy="777240"/>
          </a:xfrm>
          <a:prstGeom prst="ellipse">
            <a:avLst/>
          </a:prstGeom>
          <a:solidFill>
            <a:srgbClr val="E0F2FE"/>
          </a:solidFill>
          <a:ln w="12700">
            <a:solidFill>
              <a:srgbClr val="E0F2FE"/>
            </a:solidFill>
            <a:prstDash val="solid"/>
          </a:ln>
        </p:spPr>
      </p:sp>
      <p:pic>
        <p:nvPicPr>
          <p:cNvPr id="14" name="Image 1" descr="preencoded.png">    </p:cNvPr>
          <p:cNvPicPr>
            <a:picLocks noChangeAspect="1"/>
          </p:cNvPicPr>
          <p:nvPr/>
        </p:nvPicPr>
        <p:blipFill>
          <a:blip r:embed="rId2"/>
          <a:stretch>
            <a:fillRect/>
          </a:stretch>
        </p:blipFill>
        <p:spPr>
          <a:xfrm>
            <a:off x="1188720" y="3538728"/>
            <a:ext cx="502920" cy="502920"/>
          </a:xfrm>
          <a:prstGeom prst="rect">
            <a:avLst/>
          </a:prstGeom>
        </p:spPr>
      </p:pic>
      <p:sp>
        <p:nvSpPr>
          <p:cNvPr id="15" name="Text 11"/>
          <p:cNvSpPr/>
          <p:nvPr/>
        </p:nvSpPr>
        <p:spPr>
          <a:xfrm>
            <a:off x="2057400" y="3310128"/>
            <a:ext cx="8686800" cy="457200"/>
          </a:xfrm>
          <a:prstGeom prst="rect">
            <a:avLst/>
          </a:prstGeom>
          <a:noFill/>
          <a:ln/>
        </p:spPr>
        <p:txBody>
          <a:bodyPr wrap="square" lIns="0" tIns="0" rIns="0" bIns="0" rtlCol="0" anchor="ctr"/>
          <a:lstStyle/>
          <a:p>
            <a:pPr indent="0" marL="0">
              <a:buNone/>
            </a:pPr>
            <a:r>
              <a:rPr lang="en-US" sz="2000" b="1" dirty="0">
                <a:solidFill>
                  <a:srgbClr val="0F4C5C"/>
                </a:solidFill>
                <a:latin typeface="Georgia" pitchFamily="34" charset="0"/>
                <a:ea typeface="Georgia" pitchFamily="34" charset="-122"/>
                <a:cs typeface="Georgia" pitchFamily="34" charset="-120"/>
              </a:rPr>
              <a:t>Homeostasis</a:t>
            </a:r>
            <a:endParaRPr lang="en-US" sz="2000" dirty="0"/>
          </a:p>
        </p:txBody>
      </p:sp>
      <p:sp>
        <p:nvSpPr>
          <p:cNvPr id="16" name="Text 12"/>
          <p:cNvSpPr/>
          <p:nvPr/>
        </p:nvSpPr>
        <p:spPr>
          <a:xfrm>
            <a:off x="2057400" y="3767328"/>
            <a:ext cx="9144000" cy="6400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Maintains the body's optimal internal environment — blood glucose, fluid balance, electrolyte levels, and metabolism.</a:t>
            </a:r>
            <a:endParaRPr lang="en-US" sz="1300" dirty="0"/>
          </a:p>
        </p:txBody>
      </p:sp>
      <p:sp>
        <p:nvSpPr>
          <p:cNvPr id="17" name="Shape 13"/>
          <p:cNvSpPr/>
          <p:nvPr/>
        </p:nvSpPr>
        <p:spPr>
          <a:xfrm>
            <a:off x="731520" y="4663440"/>
            <a:ext cx="10698480" cy="13258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8" name="Shape 14"/>
          <p:cNvSpPr/>
          <p:nvPr/>
        </p:nvSpPr>
        <p:spPr>
          <a:xfrm>
            <a:off x="731520" y="4663440"/>
            <a:ext cx="109728" cy="1325880"/>
          </a:xfrm>
          <a:prstGeom prst="rect">
            <a:avLst/>
          </a:prstGeom>
          <a:solidFill>
            <a:srgbClr val="0F4C5C"/>
          </a:solidFill>
          <a:ln w="12700">
            <a:solidFill>
              <a:srgbClr val="0F4C5C"/>
            </a:solidFill>
            <a:prstDash val="solid"/>
          </a:ln>
        </p:spPr>
      </p:sp>
      <p:sp>
        <p:nvSpPr>
          <p:cNvPr id="19" name="Shape 15"/>
          <p:cNvSpPr/>
          <p:nvPr/>
        </p:nvSpPr>
        <p:spPr>
          <a:xfrm>
            <a:off x="1051560" y="4956048"/>
            <a:ext cx="777240" cy="777240"/>
          </a:xfrm>
          <a:prstGeom prst="ellipse">
            <a:avLst/>
          </a:prstGeom>
          <a:solidFill>
            <a:srgbClr val="E0F2FE"/>
          </a:solidFill>
          <a:ln w="12700">
            <a:solidFill>
              <a:srgbClr val="E0F2FE"/>
            </a:solidFill>
            <a:prstDash val="solid"/>
          </a:ln>
        </p:spPr>
      </p:sp>
      <p:pic>
        <p:nvPicPr>
          <p:cNvPr id="20" name="Image 2" descr="preencoded.png">    </p:cNvPr>
          <p:cNvPicPr>
            <a:picLocks noChangeAspect="1"/>
          </p:cNvPicPr>
          <p:nvPr/>
        </p:nvPicPr>
        <p:blipFill>
          <a:blip r:embed="rId3"/>
          <a:stretch>
            <a:fillRect/>
          </a:stretch>
        </p:blipFill>
        <p:spPr>
          <a:xfrm>
            <a:off x="1188720" y="5093208"/>
            <a:ext cx="502920" cy="502920"/>
          </a:xfrm>
          <a:prstGeom prst="rect">
            <a:avLst/>
          </a:prstGeom>
        </p:spPr>
      </p:pic>
      <p:sp>
        <p:nvSpPr>
          <p:cNvPr id="21" name="Text 16"/>
          <p:cNvSpPr/>
          <p:nvPr/>
        </p:nvSpPr>
        <p:spPr>
          <a:xfrm>
            <a:off x="2057400" y="4864608"/>
            <a:ext cx="8686800" cy="457200"/>
          </a:xfrm>
          <a:prstGeom prst="rect">
            <a:avLst/>
          </a:prstGeom>
          <a:noFill/>
          <a:ln/>
        </p:spPr>
        <p:txBody>
          <a:bodyPr wrap="square" lIns="0" tIns="0" rIns="0" bIns="0" rtlCol="0" anchor="ctr"/>
          <a:lstStyle/>
          <a:p>
            <a:pPr indent="0" marL="0">
              <a:buNone/>
            </a:pPr>
            <a:r>
              <a:rPr lang="en-US" sz="2000" b="1" dirty="0">
                <a:solidFill>
                  <a:srgbClr val="0F4C5C"/>
                </a:solidFill>
                <a:latin typeface="Georgia" pitchFamily="34" charset="0"/>
                <a:ea typeface="Georgia" pitchFamily="34" charset="-122"/>
                <a:cs typeface="Georgia" pitchFamily="34" charset="-120"/>
              </a:rPr>
              <a:t>Emergency Response</a:t>
            </a:r>
            <a:endParaRPr lang="en-US" sz="2000" dirty="0"/>
          </a:p>
        </p:txBody>
      </p:sp>
      <p:sp>
        <p:nvSpPr>
          <p:cNvPr id="22" name="Text 17"/>
          <p:cNvSpPr/>
          <p:nvPr/>
        </p:nvSpPr>
        <p:spPr>
          <a:xfrm>
            <a:off x="2057400" y="5321808"/>
            <a:ext cx="9144000" cy="6400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Responds to stress and danger — raises blood glucose, retains fluid to support blood pressure, and triggers fight-or-flight.</a:t>
            </a:r>
            <a:endParaRPr lang="en-US" sz="1300" dirty="0"/>
          </a:p>
        </p:txBody>
      </p:sp>
      <p:sp>
        <p:nvSpPr>
          <p:cNvPr id="23" name="Text 1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4" name="Text 1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Organs of the Endocrine System</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The glands that produce and release hormones</a:t>
            </a:r>
            <a:endParaRPr lang="en-US" sz="1400" dirty="0"/>
          </a:p>
        </p:txBody>
      </p:sp>
      <p:sp>
        <p:nvSpPr>
          <p:cNvPr id="5" name="Shape 3"/>
          <p:cNvSpPr/>
          <p:nvPr/>
        </p:nvSpPr>
        <p:spPr>
          <a:xfrm>
            <a:off x="5272888" y="1463040"/>
            <a:ext cx="1645920" cy="4754880"/>
          </a:xfrm>
          <a:prstGeom prst="roundRect">
            <a:avLst>
              <a:gd name="adj" fmla="val 50000"/>
            </a:avLst>
          </a:prstGeom>
          <a:solidFill>
            <a:srgbClr val="E0F2FE"/>
          </a:solidFill>
          <a:ln w="12700">
            <a:solidFill>
              <a:srgbClr val="0F4C5C"/>
            </a:solidFill>
            <a:prstDash val="solid"/>
          </a:ln>
        </p:spPr>
      </p:sp>
      <p:sp>
        <p:nvSpPr>
          <p:cNvPr id="6" name="Text 4"/>
          <p:cNvSpPr/>
          <p:nvPr/>
        </p:nvSpPr>
        <p:spPr>
          <a:xfrm>
            <a:off x="5272888" y="3566160"/>
            <a:ext cx="1645920" cy="457200"/>
          </a:xfrm>
          <a:prstGeom prst="rect">
            <a:avLst/>
          </a:prstGeom>
          <a:noFill/>
          <a:ln/>
        </p:spPr>
        <p:txBody>
          <a:bodyPr wrap="square" lIns="0" tIns="0" rIns="0" bIns="0" rtlCol="0" anchor="ctr"/>
          <a:lstStyle/>
          <a:p>
            <a:pPr algn="ctr" indent="0" marL="0">
              <a:buNone/>
            </a:pPr>
            <a:r>
              <a:rPr lang="en-US" sz="1400" b="1" dirty="0">
                <a:solidFill>
                  <a:srgbClr val="0F4C5C"/>
                </a:solidFill>
                <a:latin typeface="Calibri" pitchFamily="34" charset="0"/>
                <a:ea typeface="Calibri" pitchFamily="34" charset="-122"/>
                <a:cs typeface="Calibri" pitchFamily="34" charset="-120"/>
              </a:rPr>
              <a:t>BODY</a:t>
            </a:r>
            <a:endParaRPr lang="en-US" sz="1400" dirty="0"/>
          </a:p>
        </p:txBody>
      </p:sp>
      <p:sp>
        <p:nvSpPr>
          <p:cNvPr id="7" name="Shape 5"/>
          <p:cNvSpPr/>
          <p:nvPr/>
        </p:nvSpPr>
        <p:spPr>
          <a:xfrm>
            <a:off x="731520" y="164592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8" name="Shape 6"/>
          <p:cNvSpPr/>
          <p:nvPr/>
        </p:nvSpPr>
        <p:spPr>
          <a:xfrm>
            <a:off x="4846320" y="1645920"/>
            <a:ext cx="182880" cy="868680"/>
          </a:xfrm>
          <a:prstGeom prst="rect">
            <a:avLst/>
          </a:prstGeom>
          <a:solidFill>
            <a:srgbClr val="0F4C5C"/>
          </a:solidFill>
          <a:ln w="12700">
            <a:solidFill>
              <a:srgbClr val="0F4C5C"/>
            </a:solidFill>
            <a:prstDash val="solid"/>
          </a:ln>
        </p:spPr>
      </p:sp>
      <p:sp>
        <p:nvSpPr>
          <p:cNvPr id="9" name="Text 7"/>
          <p:cNvSpPr/>
          <p:nvPr/>
        </p:nvSpPr>
        <p:spPr>
          <a:xfrm>
            <a:off x="914400" y="173736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Hypothalamus</a:t>
            </a:r>
            <a:endParaRPr lang="en-US" sz="1400" dirty="0"/>
          </a:p>
          <a:p>
            <a:pPr indent="0" marL="0">
              <a:buNone/>
            </a:pPr>
            <a:r>
              <a:rPr lang="en-US" sz="1400" b="1" dirty="0">
                <a:solidFill>
                  <a:srgbClr val="0F4C5C"/>
                </a:solidFill>
                <a:latin typeface="Georgia" pitchFamily="34" charset="0"/>
                <a:ea typeface="Georgia" pitchFamily="34" charset="-122"/>
                <a:cs typeface="Georgia" pitchFamily="34" charset="-120"/>
              </a:rPr>
              <a:t>&amp; Pituitary</a:t>
            </a:r>
            <a:endParaRPr lang="en-US" sz="1400" dirty="0"/>
          </a:p>
        </p:txBody>
      </p:sp>
      <p:sp>
        <p:nvSpPr>
          <p:cNvPr id="10" name="Text 8"/>
          <p:cNvSpPr/>
          <p:nvPr/>
        </p:nvSpPr>
        <p:spPr>
          <a:xfrm>
            <a:off x="914400" y="214884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Brain (master glands)</a:t>
            </a:r>
            <a:endParaRPr lang="en-US" sz="1100" dirty="0"/>
          </a:p>
        </p:txBody>
      </p:sp>
      <p:sp>
        <p:nvSpPr>
          <p:cNvPr id="11" name="Shape 9"/>
          <p:cNvSpPr/>
          <p:nvPr/>
        </p:nvSpPr>
        <p:spPr>
          <a:xfrm>
            <a:off x="731520" y="265176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2" name="Shape 10"/>
          <p:cNvSpPr/>
          <p:nvPr/>
        </p:nvSpPr>
        <p:spPr>
          <a:xfrm>
            <a:off x="4846320" y="2651760"/>
            <a:ext cx="182880" cy="868680"/>
          </a:xfrm>
          <a:prstGeom prst="rect">
            <a:avLst/>
          </a:prstGeom>
          <a:solidFill>
            <a:srgbClr val="0F4C5C"/>
          </a:solidFill>
          <a:ln w="12700">
            <a:solidFill>
              <a:srgbClr val="0F4C5C"/>
            </a:solidFill>
            <a:prstDash val="solid"/>
          </a:ln>
        </p:spPr>
      </p:sp>
      <p:sp>
        <p:nvSpPr>
          <p:cNvPr id="13" name="Text 11"/>
          <p:cNvSpPr/>
          <p:nvPr/>
        </p:nvSpPr>
        <p:spPr>
          <a:xfrm>
            <a:off x="914400" y="274320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Thyroid &amp;</a:t>
            </a:r>
            <a:endParaRPr lang="en-US" sz="1400" dirty="0"/>
          </a:p>
          <a:p>
            <a:pPr indent="0" marL="0">
              <a:buNone/>
            </a:pPr>
            <a:r>
              <a:rPr lang="en-US" sz="1400" b="1" dirty="0">
                <a:solidFill>
                  <a:srgbClr val="0F4C5C"/>
                </a:solidFill>
                <a:latin typeface="Georgia" pitchFamily="34" charset="0"/>
                <a:ea typeface="Georgia" pitchFamily="34" charset="-122"/>
                <a:cs typeface="Georgia" pitchFamily="34" charset="-120"/>
              </a:rPr>
              <a:t>Parathyroids</a:t>
            </a:r>
            <a:endParaRPr lang="en-US" sz="1400" dirty="0"/>
          </a:p>
        </p:txBody>
      </p:sp>
      <p:sp>
        <p:nvSpPr>
          <p:cNvPr id="14" name="Text 12"/>
          <p:cNvSpPr/>
          <p:nvPr/>
        </p:nvSpPr>
        <p:spPr>
          <a:xfrm>
            <a:off x="914400" y="315468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Anterior neck</a:t>
            </a:r>
            <a:endParaRPr lang="en-US" sz="1100" dirty="0"/>
          </a:p>
        </p:txBody>
      </p:sp>
      <p:sp>
        <p:nvSpPr>
          <p:cNvPr id="15" name="Shape 13"/>
          <p:cNvSpPr/>
          <p:nvPr/>
        </p:nvSpPr>
        <p:spPr>
          <a:xfrm>
            <a:off x="731520" y="365760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6" name="Shape 14"/>
          <p:cNvSpPr/>
          <p:nvPr/>
        </p:nvSpPr>
        <p:spPr>
          <a:xfrm>
            <a:off x="4846320" y="3657600"/>
            <a:ext cx="182880" cy="868680"/>
          </a:xfrm>
          <a:prstGeom prst="rect">
            <a:avLst/>
          </a:prstGeom>
          <a:solidFill>
            <a:srgbClr val="0F4C5C"/>
          </a:solidFill>
          <a:ln w="12700">
            <a:solidFill>
              <a:srgbClr val="0F4C5C"/>
            </a:solidFill>
            <a:prstDash val="solid"/>
          </a:ln>
        </p:spPr>
      </p:sp>
      <p:sp>
        <p:nvSpPr>
          <p:cNvPr id="17" name="Text 15"/>
          <p:cNvSpPr/>
          <p:nvPr/>
        </p:nvSpPr>
        <p:spPr>
          <a:xfrm>
            <a:off x="914400" y="374904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Thymus</a:t>
            </a:r>
            <a:endParaRPr lang="en-US" sz="1400" dirty="0"/>
          </a:p>
        </p:txBody>
      </p:sp>
      <p:sp>
        <p:nvSpPr>
          <p:cNvPr id="18" name="Text 16"/>
          <p:cNvSpPr/>
          <p:nvPr/>
        </p:nvSpPr>
        <p:spPr>
          <a:xfrm>
            <a:off x="914400" y="416052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Mediastinum</a:t>
            </a:r>
            <a:endParaRPr lang="en-US" sz="1100" dirty="0"/>
          </a:p>
        </p:txBody>
      </p:sp>
      <p:sp>
        <p:nvSpPr>
          <p:cNvPr id="19" name="Shape 17"/>
          <p:cNvSpPr/>
          <p:nvPr/>
        </p:nvSpPr>
        <p:spPr>
          <a:xfrm>
            <a:off x="731520" y="466344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0" name="Shape 18"/>
          <p:cNvSpPr/>
          <p:nvPr/>
        </p:nvSpPr>
        <p:spPr>
          <a:xfrm>
            <a:off x="4846320" y="4663440"/>
            <a:ext cx="182880" cy="868680"/>
          </a:xfrm>
          <a:prstGeom prst="rect">
            <a:avLst/>
          </a:prstGeom>
          <a:solidFill>
            <a:srgbClr val="0F4C5C"/>
          </a:solidFill>
          <a:ln w="12700">
            <a:solidFill>
              <a:srgbClr val="0F4C5C"/>
            </a:solidFill>
            <a:prstDash val="solid"/>
          </a:ln>
        </p:spPr>
      </p:sp>
      <p:sp>
        <p:nvSpPr>
          <p:cNvPr id="21" name="Text 19"/>
          <p:cNvSpPr/>
          <p:nvPr/>
        </p:nvSpPr>
        <p:spPr>
          <a:xfrm>
            <a:off x="914400" y="475488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Pancreas</a:t>
            </a:r>
            <a:endParaRPr lang="en-US" sz="1400" dirty="0"/>
          </a:p>
        </p:txBody>
      </p:sp>
      <p:sp>
        <p:nvSpPr>
          <p:cNvPr id="22" name="Text 20"/>
          <p:cNvSpPr/>
          <p:nvPr/>
        </p:nvSpPr>
        <p:spPr>
          <a:xfrm>
            <a:off x="914400" y="516636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Abdomen</a:t>
            </a:r>
            <a:endParaRPr lang="en-US" sz="1100" dirty="0"/>
          </a:p>
        </p:txBody>
      </p:sp>
      <p:sp>
        <p:nvSpPr>
          <p:cNvPr id="23" name="Shape 21"/>
          <p:cNvSpPr/>
          <p:nvPr/>
        </p:nvSpPr>
        <p:spPr>
          <a:xfrm>
            <a:off x="731520" y="566928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4" name="Shape 22"/>
          <p:cNvSpPr/>
          <p:nvPr/>
        </p:nvSpPr>
        <p:spPr>
          <a:xfrm>
            <a:off x="4846320" y="5669280"/>
            <a:ext cx="182880" cy="868680"/>
          </a:xfrm>
          <a:prstGeom prst="rect">
            <a:avLst/>
          </a:prstGeom>
          <a:solidFill>
            <a:srgbClr val="0F4C5C"/>
          </a:solidFill>
          <a:ln w="12700">
            <a:solidFill>
              <a:srgbClr val="0F4C5C"/>
            </a:solidFill>
            <a:prstDash val="solid"/>
          </a:ln>
        </p:spPr>
      </p:sp>
      <p:sp>
        <p:nvSpPr>
          <p:cNvPr id="25" name="Text 23"/>
          <p:cNvSpPr/>
          <p:nvPr/>
        </p:nvSpPr>
        <p:spPr>
          <a:xfrm>
            <a:off x="914400" y="576072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Ovaries</a:t>
            </a:r>
            <a:endParaRPr lang="en-US" sz="1400" dirty="0"/>
          </a:p>
        </p:txBody>
      </p:sp>
      <p:sp>
        <p:nvSpPr>
          <p:cNvPr id="26" name="Text 24"/>
          <p:cNvSpPr/>
          <p:nvPr/>
        </p:nvSpPr>
        <p:spPr>
          <a:xfrm>
            <a:off x="914400" y="617220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Female pelvis</a:t>
            </a:r>
            <a:endParaRPr lang="en-US" sz="1100" dirty="0"/>
          </a:p>
        </p:txBody>
      </p:sp>
      <p:sp>
        <p:nvSpPr>
          <p:cNvPr id="27" name="Shape 25"/>
          <p:cNvSpPr/>
          <p:nvPr/>
        </p:nvSpPr>
        <p:spPr>
          <a:xfrm>
            <a:off x="7132320" y="164592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8" name="Shape 26"/>
          <p:cNvSpPr/>
          <p:nvPr/>
        </p:nvSpPr>
        <p:spPr>
          <a:xfrm>
            <a:off x="7132320" y="1645920"/>
            <a:ext cx="182880" cy="868680"/>
          </a:xfrm>
          <a:prstGeom prst="rect">
            <a:avLst/>
          </a:prstGeom>
          <a:solidFill>
            <a:srgbClr val="E36414"/>
          </a:solidFill>
          <a:ln w="12700">
            <a:solidFill>
              <a:srgbClr val="E36414"/>
            </a:solidFill>
            <a:prstDash val="solid"/>
          </a:ln>
        </p:spPr>
      </p:sp>
      <p:sp>
        <p:nvSpPr>
          <p:cNvPr id="29" name="Text 27"/>
          <p:cNvSpPr/>
          <p:nvPr/>
        </p:nvSpPr>
        <p:spPr>
          <a:xfrm>
            <a:off x="7406640" y="173736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Pineal Gland</a:t>
            </a:r>
            <a:endParaRPr lang="en-US" sz="1400" dirty="0"/>
          </a:p>
        </p:txBody>
      </p:sp>
      <p:sp>
        <p:nvSpPr>
          <p:cNvPr id="30" name="Text 28"/>
          <p:cNvSpPr/>
          <p:nvPr/>
        </p:nvSpPr>
        <p:spPr>
          <a:xfrm>
            <a:off x="7406640" y="214884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Circadian rhythm</a:t>
            </a:r>
            <a:endParaRPr lang="en-US" sz="1100" dirty="0"/>
          </a:p>
        </p:txBody>
      </p:sp>
      <p:sp>
        <p:nvSpPr>
          <p:cNvPr id="31" name="Shape 29"/>
          <p:cNvSpPr/>
          <p:nvPr/>
        </p:nvSpPr>
        <p:spPr>
          <a:xfrm>
            <a:off x="7132320" y="265176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2" name="Shape 30"/>
          <p:cNvSpPr/>
          <p:nvPr/>
        </p:nvSpPr>
        <p:spPr>
          <a:xfrm>
            <a:off x="7132320" y="2651760"/>
            <a:ext cx="182880" cy="868680"/>
          </a:xfrm>
          <a:prstGeom prst="rect">
            <a:avLst/>
          </a:prstGeom>
          <a:solidFill>
            <a:srgbClr val="E36414"/>
          </a:solidFill>
          <a:ln w="12700">
            <a:solidFill>
              <a:srgbClr val="E36414"/>
            </a:solidFill>
            <a:prstDash val="solid"/>
          </a:ln>
        </p:spPr>
      </p:sp>
      <p:sp>
        <p:nvSpPr>
          <p:cNvPr id="33" name="Text 31"/>
          <p:cNvSpPr/>
          <p:nvPr/>
        </p:nvSpPr>
        <p:spPr>
          <a:xfrm>
            <a:off x="7406640" y="274320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Parathyroids</a:t>
            </a:r>
            <a:endParaRPr lang="en-US" sz="1400" dirty="0"/>
          </a:p>
        </p:txBody>
      </p:sp>
      <p:sp>
        <p:nvSpPr>
          <p:cNvPr id="34" name="Text 32"/>
          <p:cNvSpPr/>
          <p:nvPr/>
        </p:nvSpPr>
        <p:spPr>
          <a:xfrm>
            <a:off x="7406640" y="315468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4 glands, behind thyroid</a:t>
            </a:r>
            <a:endParaRPr lang="en-US" sz="1100" dirty="0"/>
          </a:p>
        </p:txBody>
      </p:sp>
      <p:sp>
        <p:nvSpPr>
          <p:cNvPr id="35" name="Shape 33"/>
          <p:cNvSpPr/>
          <p:nvPr/>
        </p:nvSpPr>
        <p:spPr>
          <a:xfrm>
            <a:off x="7132320" y="365760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6" name="Shape 34"/>
          <p:cNvSpPr/>
          <p:nvPr/>
        </p:nvSpPr>
        <p:spPr>
          <a:xfrm>
            <a:off x="7132320" y="3657600"/>
            <a:ext cx="182880" cy="868680"/>
          </a:xfrm>
          <a:prstGeom prst="rect">
            <a:avLst/>
          </a:prstGeom>
          <a:solidFill>
            <a:srgbClr val="E36414"/>
          </a:solidFill>
          <a:ln w="12700">
            <a:solidFill>
              <a:srgbClr val="E36414"/>
            </a:solidFill>
            <a:prstDash val="solid"/>
          </a:ln>
        </p:spPr>
      </p:sp>
      <p:sp>
        <p:nvSpPr>
          <p:cNvPr id="37" name="Text 35"/>
          <p:cNvSpPr/>
          <p:nvPr/>
        </p:nvSpPr>
        <p:spPr>
          <a:xfrm>
            <a:off x="7406640" y="374904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Adrenal Glands</a:t>
            </a:r>
            <a:endParaRPr lang="en-US" sz="1400" dirty="0"/>
          </a:p>
        </p:txBody>
      </p:sp>
      <p:sp>
        <p:nvSpPr>
          <p:cNvPr id="38" name="Text 36"/>
          <p:cNvSpPr/>
          <p:nvPr/>
        </p:nvSpPr>
        <p:spPr>
          <a:xfrm>
            <a:off x="7406640" y="416052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On top of kidneys</a:t>
            </a:r>
            <a:endParaRPr lang="en-US" sz="1100" dirty="0"/>
          </a:p>
        </p:txBody>
      </p:sp>
      <p:sp>
        <p:nvSpPr>
          <p:cNvPr id="39" name="Shape 37"/>
          <p:cNvSpPr/>
          <p:nvPr/>
        </p:nvSpPr>
        <p:spPr>
          <a:xfrm>
            <a:off x="7132320" y="466344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40" name="Shape 38"/>
          <p:cNvSpPr/>
          <p:nvPr/>
        </p:nvSpPr>
        <p:spPr>
          <a:xfrm>
            <a:off x="7132320" y="4663440"/>
            <a:ext cx="182880" cy="868680"/>
          </a:xfrm>
          <a:prstGeom prst="rect">
            <a:avLst/>
          </a:prstGeom>
          <a:solidFill>
            <a:srgbClr val="E36414"/>
          </a:solidFill>
          <a:ln w="12700">
            <a:solidFill>
              <a:srgbClr val="E36414"/>
            </a:solidFill>
            <a:prstDash val="solid"/>
          </a:ln>
        </p:spPr>
      </p:sp>
      <p:sp>
        <p:nvSpPr>
          <p:cNvPr id="41" name="Text 39"/>
          <p:cNvSpPr/>
          <p:nvPr/>
        </p:nvSpPr>
        <p:spPr>
          <a:xfrm>
            <a:off x="7406640" y="475488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Pancreas (Islets)</a:t>
            </a:r>
            <a:endParaRPr lang="en-US" sz="1400" dirty="0"/>
          </a:p>
        </p:txBody>
      </p:sp>
      <p:sp>
        <p:nvSpPr>
          <p:cNvPr id="42" name="Text 40"/>
          <p:cNvSpPr/>
          <p:nvPr/>
        </p:nvSpPr>
        <p:spPr>
          <a:xfrm>
            <a:off x="7406640" y="516636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α &amp; β cells</a:t>
            </a:r>
            <a:endParaRPr lang="en-US" sz="1100" dirty="0"/>
          </a:p>
        </p:txBody>
      </p:sp>
      <p:sp>
        <p:nvSpPr>
          <p:cNvPr id="43" name="Shape 41"/>
          <p:cNvSpPr/>
          <p:nvPr/>
        </p:nvSpPr>
        <p:spPr>
          <a:xfrm>
            <a:off x="7132320" y="5669280"/>
            <a:ext cx="42976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44" name="Shape 42"/>
          <p:cNvSpPr/>
          <p:nvPr/>
        </p:nvSpPr>
        <p:spPr>
          <a:xfrm>
            <a:off x="7132320" y="5669280"/>
            <a:ext cx="182880" cy="868680"/>
          </a:xfrm>
          <a:prstGeom prst="rect">
            <a:avLst/>
          </a:prstGeom>
          <a:solidFill>
            <a:srgbClr val="E36414"/>
          </a:solidFill>
          <a:ln w="12700">
            <a:solidFill>
              <a:srgbClr val="E36414"/>
            </a:solidFill>
            <a:prstDash val="solid"/>
          </a:ln>
        </p:spPr>
      </p:sp>
      <p:sp>
        <p:nvSpPr>
          <p:cNvPr id="45" name="Text 43"/>
          <p:cNvSpPr/>
          <p:nvPr/>
        </p:nvSpPr>
        <p:spPr>
          <a:xfrm>
            <a:off x="7406640" y="5760720"/>
            <a:ext cx="3931920" cy="41148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Testes</a:t>
            </a:r>
            <a:endParaRPr lang="en-US" sz="1400" dirty="0"/>
          </a:p>
        </p:txBody>
      </p:sp>
      <p:sp>
        <p:nvSpPr>
          <p:cNvPr id="46" name="Text 44"/>
          <p:cNvSpPr/>
          <p:nvPr/>
        </p:nvSpPr>
        <p:spPr>
          <a:xfrm>
            <a:off x="7406640" y="6172200"/>
            <a:ext cx="3931920" cy="3200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Male pelvis</a:t>
            </a:r>
            <a:endParaRPr lang="en-US" sz="1100" dirty="0"/>
          </a:p>
        </p:txBody>
      </p:sp>
      <p:sp>
        <p:nvSpPr>
          <p:cNvPr id="47" name="Text 4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8" name="Text 4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Hormones &amp; Their Source Organs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 quick reference for NCLEX hormone-gland pairings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2926080"/>
                <a:gridCol w="7772400"/>
              </a:tblGrid>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Organ / Gland</a:t>
                      </a:r>
                      <a:endParaRPr lang="en-US" sz="1400" dirty="0">
                        <a:latin typeface="Georgia" charset="0"/>
                        <a:ea typeface="Georgia" charset="0"/>
                        <a:cs typeface="Georgia"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Hormones Released</a:t>
                      </a:r>
                      <a:endParaRPr lang="en-US" sz="1400" dirty="0">
                        <a:latin typeface="Georgia" charset="0"/>
                        <a:ea typeface="Georgia" charset="0"/>
                        <a:cs typeface="Georgia"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Hypothalamus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TRH (Thyroid-Releasing Hormone) • CRH (Corticotropin-Releasing Hormone)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Pituitary Gland</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TSH • FSH • LH • GH • ACTH • Prolactin • Oxytocin • ADH (Vasopressin)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Thyroid Gland</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T3 (triiodothyronine) • T4 (thyroxine) • Calcitonin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Parathyroid Glands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Parathyroid Hormone (PTH) — raises serum calcium</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Adrenal Cortex</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Glucocorticoids (cortisol) • Mineralocorticoids (aldosterone) • Sex hormones</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Adrenal Medulla</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Catecholamines: Epinephrine • Norepinephrine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Pancreas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Insulin (β-cells) • Glucagon (α-cells)</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indent="0" marL="0">
                        <a:buNone/>
                      </a:pPr>
                      <a:r>
                        <a:rPr lang="en-US" sz="1300" b="1" dirty="0">
                          <a:solidFill>
                            <a:srgbClr val="0F4C5C"/>
                          </a:solidFill>
                          <a:latin typeface="Calibri" pitchFamily="34" charset="0"/>
                          <a:ea typeface="Calibri" pitchFamily="34" charset="-122"/>
                          <a:cs typeface="Calibri" pitchFamily="34" charset="-120"/>
                        </a:rPr>
                        <a:t>Ovaries / Testes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Estrogen, Progesterone / Testosterone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bl>
          </a:graphicData>
        </a:graphic>
      </p:graphicFrame>
      <p:sp>
        <p:nvSpPr>
          <p:cNvPr id="6" name="Text 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7" name="Text 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Hypothalamus &amp; Pituitary: Master Control</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The command center that regulates other glands</a:t>
            </a:r>
            <a:endParaRPr lang="en-US" sz="1400" dirty="0"/>
          </a:p>
        </p:txBody>
      </p:sp>
      <p:sp>
        <p:nvSpPr>
          <p:cNvPr id="5" name="Shape 3"/>
          <p:cNvSpPr/>
          <p:nvPr/>
        </p:nvSpPr>
        <p:spPr>
          <a:xfrm>
            <a:off x="731520" y="1554480"/>
            <a:ext cx="5212080" cy="448056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5212080" cy="54864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914400" y="1664208"/>
            <a:ext cx="320040" cy="320040"/>
          </a:xfrm>
          <a:prstGeom prst="rect">
            <a:avLst/>
          </a:prstGeom>
        </p:spPr>
      </p:pic>
      <p:sp>
        <p:nvSpPr>
          <p:cNvPr id="8" name="Text 5"/>
          <p:cNvSpPr/>
          <p:nvPr/>
        </p:nvSpPr>
        <p:spPr>
          <a:xfrm>
            <a:off x="1371600" y="1554480"/>
            <a:ext cx="4297680" cy="54864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Hypothalamus</a:t>
            </a:r>
            <a:endParaRPr lang="en-US" sz="2000" dirty="0"/>
          </a:p>
        </p:txBody>
      </p:sp>
      <p:sp>
        <p:nvSpPr>
          <p:cNvPr id="9" name="Text 6"/>
          <p:cNvSpPr/>
          <p:nvPr/>
        </p:nvSpPr>
        <p:spPr>
          <a:xfrm>
            <a:off x="914400" y="2286000"/>
            <a:ext cx="4846320" cy="3657600"/>
          </a:xfrm>
          <a:prstGeom prst="rect">
            <a:avLst/>
          </a:prstGeom>
          <a:noFill/>
          <a:ln/>
        </p:spPr>
        <p:txBody>
          <a:bodyPr wrap="square" rtlCol="0" anchor="ctr"/>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Bridge between nervous &amp; endocrine systems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Secretes Releasing &amp; Inhibiting hormones</a:t>
            </a:r>
            <a:endParaRPr lang="en-US" sz="1300" dirty="0"/>
          </a:p>
          <a:p>
            <a:pPr lvl="1" marL="6858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TRH → signals pituitary to release TSH</a:t>
            </a:r>
            <a:endParaRPr lang="en-US" sz="1300" dirty="0"/>
          </a:p>
          <a:p>
            <a:pPr lvl="1" marL="6858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CRH → signals pituitary to release ACTH</a:t>
            </a:r>
            <a:endParaRPr lang="en-US" sz="1300" dirty="0"/>
          </a:p>
          <a:p>
            <a:pPr lvl="1" marL="6858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GnRH → signals release of FSH and LH</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Regulates body temperature, hunger, thirst</a:t>
            </a:r>
            <a:endParaRPr lang="en-US" sz="1300" dirty="0"/>
          </a:p>
        </p:txBody>
      </p:sp>
      <p:sp>
        <p:nvSpPr>
          <p:cNvPr id="10" name="Shape 7"/>
          <p:cNvSpPr/>
          <p:nvPr/>
        </p:nvSpPr>
        <p:spPr>
          <a:xfrm>
            <a:off x="6217920" y="1554480"/>
            <a:ext cx="5212080" cy="448056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1" name="Shape 8"/>
          <p:cNvSpPr/>
          <p:nvPr/>
        </p:nvSpPr>
        <p:spPr>
          <a:xfrm>
            <a:off x="6217920" y="1554480"/>
            <a:ext cx="5212080" cy="548640"/>
          </a:xfrm>
          <a:prstGeom prst="rect">
            <a:avLst/>
          </a:prstGeom>
          <a:solidFill>
            <a:srgbClr val="E36414"/>
          </a:solidFill>
          <a:ln w="12700">
            <a:solidFill>
              <a:srgbClr val="E36414"/>
            </a:solidFill>
            <a:prstDash val="solid"/>
          </a:ln>
        </p:spPr>
      </p:sp>
      <p:pic>
        <p:nvPicPr>
          <p:cNvPr id="12" name="Image 1" descr="preencoded.png">    </p:cNvPr>
          <p:cNvPicPr>
            <a:picLocks noChangeAspect="1"/>
          </p:cNvPicPr>
          <p:nvPr/>
        </p:nvPicPr>
        <p:blipFill>
          <a:blip r:embed="rId2"/>
          <a:stretch>
            <a:fillRect/>
          </a:stretch>
        </p:blipFill>
        <p:spPr>
          <a:xfrm>
            <a:off x="6400800" y="1664208"/>
            <a:ext cx="320040" cy="320040"/>
          </a:xfrm>
          <a:prstGeom prst="rect">
            <a:avLst/>
          </a:prstGeom>
        </p:spPr>
      </p:pic>
      <p:sp>
        <p:nvSpPr>
          <p:cNvPr id="13" name="Text 9"/>
          <p:cNvSpPr/>
          <p:nvPr/>
        </p:nvSpPr>
        <p:spPr>
          <a:xfrm>
            <a:off x="6858000" y="1554480"/>
            <a:ext cx="4297680" cy="54864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Pituitary Gland</a:t>
            </a:r>
            <a:endParaRPr lang="en-US" sz="2000" dirty="0"/>
          </a:p>
        </p:txBody>
      </p:sp>
      <p:sp>
        <p:nvSpPr>
          <p:cNvPr id="14" name="Text 10"/>
          <p:cNvSpPr/>
          <p:nvPr/>
        </p:nvSpPr>
        <p:spPr>
          <a:xfrm>
            <a:off x="6400800" y="2286000"/>
            <a:ext cx="4846320" cy="3657600"/>
          </a:xfrm>
          <a:prstGeom prst="rect">
            <a:avLst/>
          </a:prstGeom>
          <a:noFill/>
          <a:ln/>
        </p:spPr>
        <p:txBody>
          <a:bodyPr wrap="square" rtlCol="0" anchor="ctr"/>
          <a:lstStyle/>
          <a:p>
            <a:pPr indent="0" marL="0">
              <a:spcAft>
                <a:spcPts val="400"/>
              </a:spcAft>
              <a:buNone/>
            </a:pPr>
            <a:r>
              <a:rPr lang="en-US" sz="1300" b="1" dirty="0">
                <a:solidFill>
                  <a:srgbClr val="0F4C5C"/>
                </a:solidFill>
                <a:latin typeface="Calibri" pitchFamily="34" charset="0"/>
                <a:ea typeface="Calibri" pitchFamily="34" charset="-122"/>
                <a:cs typeface="Calibri" pitchFamily="34" charset="-120"/>
              </a:rPr>
              <a:t>Anterior Lobe: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TSH, ACTH, FSH, LH, GH, Prolactin</a:t>
            </a:r>
            <a:endParaRPr lang="en-US" sz="1300" dirty="0"/>
          </a:p>
          <a:p>
            <a:pPr indent="0" marL="0">
              <a:spcAft>
                <a:spcPts val="400"/>
              </a:spcAft>
              <a:buNone/>
            </a:pPr>
            <a:r>
              <a:rPr lang="en-US" sz="1300" b="1" dirty="0">
                <a:solidFill>
                  <a:srgbClr val="0F4C5C"/>
                </a:solidFill>
                <a:latin typeface="Calibri" pitchFamily="34" charset="0"/>
                <a:ea typeface="Calibri" pitchFamily="34" charset="-122"/>
                <a:cs typeface="Calibri" pitchFamily="34" charset="-120"/>
              </a:rPr>
              <a:t>Posterior Lobe: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Oxytocin (labor, lactation)</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ADH / Vasopressin (water retention)</a:t>
            </a:r>
            <a:endParaRPr lang="en-US" sz="1300" dirty="0"/>
          </a:p>
          <a:p>
            <a:pPr indent="0" marL="0">
              <a:spcAft>
                <a:spcPts val="400"/>
              </a:spcAft>
              <a:buNone/>
            </a:pPr>
            <a:r>
              <a:rPr lang="en-US" sz="1300" i="1" dirty="0">
                <a:solidFill>
                  <a:srgbClr val="DC2626"/>
                </a:solidFill>
                <a:latin typeface="Calibri" pitchFamily="34" charset="0"/>
                <a:ea typeface="Calibri" pitchFamily="34" charset="-122"/>
                <a:cs typeface="Calibri" pitchFamily="34" charset="-120"/>
              </a:rPr>
              <a:t>Clinical alert: Located between the eyes — watch the pituitary after craniotomy, head injury, or sinus surgery.</a:t>
            </a:r>
            <a:endParaRPr lang="en-US" sz="1300" dirty="0"/>
          </a:p>
        </p:txBody>
      </p:sp>
      <p:sp>
        <p:nvSpPr>
          <p:cNvPr id="15" name="Text 11"/>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6" name="Text 12"/>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Antidiuretic Hormone (ADH)</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Also called Vasopressin — the body's water-retention hormone</a:t>
            </a:r>
            <a:endParaRPr lang="en-US" sz="1400" dirty="0"/>
          </a:p>
        </p:txBody>
      </p:sp>
      <p:sp>
        <p:nvSpPr>
          <p:cNvPr id="5" name="Shape 3"/>
          <p:cNvSpPr/>
          <p:nvPr/>
        </p:nvSpPr>
        <p:spPr>
          <a:xfrm>
            <a:off x="731520" y="1554480"/>
            <a:ext cx="5486400" cy="448056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737360"/>
            <a:ext cx="457200" cy="457200"/>
          </a:xfrm>
          <a:prstGeom prst="rect">
            <a:avLst/>
          </a:prstGeom>
        </p:spPr>
      </p:pic>
      <p:sp>
        <p:nvSpPr>
          <p:cNvPr id="7" name="Text 4"/>
          <p:cNvSpPr/>
          <p:nvPr/>
        </p:nvSpPr>
        <p:spPr>
          <a:xfrm>
            <a:off x="1463040" y="1737360"/>
            <a:ext cx="4572000" cy="457200"/>
          </a:xfrm>
          <a:prstGeom prst="rect">
            <a:avLst/>
          </a:prstGeom>
          <a:noFill/>
          <a:ln/>
        </p:spPr>
        <p:txBody>
          <a:bodyPr wrap="square" lIns="0" tIns="0" rIns="0" bIns="0" rtlCol="0" anchor="ctr"/>
          <a:lstStyle/>
          <a:p>
            <a:pPr indent="0" marL="0">
              <a:buNone/>
            </a:pPr>
            <a:r>
              <a:rPr lang="en-US" sz="1800" b="1" dirty="0">
                <a:solidFill>
                  <a:srgbClr val="0F4C5C"/>
                </a:solidFill>
                <a:latin typeface="Georgia" pitchFamily="34" charset="0"/>
                <a:ea typeface="Georgia" pitchFamily="34" charset="-122"/>
                <a:cs typeface="Georgia" pitchFamily="34" charset="-120"/>
              </a:rPr>
              <a:t>Source &amp; Action</a:t>
            </a:r>
            <a:endParaRPr lang="en-US" sz="1800" dirty="0"/>
          </a:p>
        </p:txBody>
      </p:sp>
      <p:sp>
        <p:nvSpPr>
          <p:cNvPr id="8" name="Text 5"/>
          <p:cNvSpPr/>
          <p:nvPr/>
        </p:nvSpPr>
        <p:spPr>
          <a:xfrm>
            <a:off x="914400" y="2377440"/>
            <a:ext cx="5120640" cy="3474720"/>
          </a:xfrm>
          <a:prstGeom prst="rect">
            <a:avLst/>
          </a:prstGeom>
          <a:noFill/>
          <a:ln/>
        </p:spPr>
        <p:txBody>
          <a:bodyPr wrap="square" rtlCol="0" anchor="ctr"/>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Secreted by the posterior pituitary gland</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Causes antidiuresis → holds on to WATER only</a:t>
            </a:r>
            <a:endParaRPr lang="en-US" sz="1400" dirty="0"/>
          </a:p>
          <a:p>
            <a:pPr lvl="1" marL="6858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No sodium is retained — only free water</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 ADH → ↑ water reabsorption at kidneys</a:t>
            </a:r>
            <a:endParaRPr lang="en-US" sz="1400" dirty="0"/>
          </a:p>
          <a:p>
            <a:pPr indent="0" marL="0">
              <a:spcAft>
                <a:spcPts val="600"/>
              </a:spcAft>
              <a:buNone/>
            </a:pPr>
            <a:r>
              <a:rPr lang="en-US" sz="1400" b="1" i="1" dirty="0">
                <a:solidFill>
                  <a:srgbClr val="E36414"/>
                </a:solidFill>
                <a:latin typeface="Calibri" pitchFamily="34" charset="0"/>
                <a:ea typeface="Calibri" pitchFamily="34" charset="-122"/>
                <a:cs typeface="Calibri" pitchFamily="34" charset="-120"/>
              </a:rPr>
              <a:t>ADH = Antidiuretic Hormone = Vasopressin</a:t>
            </a:r>
            <a:endParaRPr lang="en-US" sz="1400" dirty="0"/>
          </a:p>
        </p:txBody>
      </p:sp>
      <p:sp>
        <p:nvSpPr>
          <p:cNvPr id="9" name="Shape 6"/>
          <p:cNvSpPr/>
          <p:nvPr/>
        </p:nvSpPr>
        <p:spPr>
          <a:xfrm>
            <a:off x="6492240" y="1554480"/>
            <a:ext cx="4937760" cy="4480560"/>
          </a:xfrm>
          <a:prstGeom prst="rect">
            <a:avLst/>
          </a:prstGeom>
          <a:solidFill>
            <a:srgbClr val="FEE2E2"/>
          </a:solidFill>
          <a:ln w="12700">
            <a:solidFill>
              <a:srgbClr val="DC2626"/>
            </a:solidFill>
            <a:prstDash val="solid"/>
          </a:ln>
          <a:effectLst>
            <a:outerShdw sx="100000" sy="100000" kx="0" ky="0" algn="bl" rotWithShape="0" blurRad="127000" dist="25400" dir="5400000">
              <a:srgbClr val="000000">
                <a:alpha val="8000"/>
              </a:srgbClr>
            </a:outerShdw>
          </a:effectLst>
        </p:spPr>
      </p:sp>
      <p:pic>
        <p:nvPicPr>
          <p:cNvPr id="10" name="Image 1" descr="preencoded.png">    </p:cNvPr>
          <p:cNvPicPr>
            <a:picLocks noChangeAspect="1"/>
          </p:cNvPicPr>
          <p:nvPr/>
        </p:nvPicPr>
        <p:blipFill>
          <a:blip r:embed="rId2"/>
          <a:stretch>
            <a:fillRect/>
          </a:stretch>
        </p:blipFill>
        <p:spPr>
          <a:xfrm>
            <a:off x="6675120" y="1737360"/>
            <a:ext cx="457200" cy="457200"/>
          </a:xfrm>
          <a:prstGeom prst="rect">
            <a:avLst/>
          </a:prstGeom>
        </p:spPr>
      </p:pic>
      <p:sp>
        <p:nvSpPr>
          <p:cNvPr id="11" name="Text 7"/>
          <p:cNvSpPr/>
          <p:nvPr/>
        </p:nvSpPr>
        <p:spPr>
          <a:xfrm>
            <a:off x="7223760" y="1737360"/>
            <a:ext cx="4114800" cy="457200"/>
          </a:xfrm>
          <a:prstGeom prst="rect">
            <a:avLst/>
          </a:prstGeom>
          <a:noFill/>
          <a:ln/>
        </p:spPr>
        <p:txBody>
          <a:bodyPr wrap="square" lIns="0" tIns="0" rIns="0" bIns="0" rtlCol="0" anchor="ctr"/>
          <a:lstStyle/>
          <a:p>
            <a:pPr indent="0" marL="0">
              <a:buNone/>
            </a:pPr>
            <a:r>
              <a:rPr lang="en-US" sz="1700" b="1" dirty="0">
                <a:solidFill>
                  <a:srgbClr val="DC2626"/>
                </a:solidFill>
                <a:latin typeface="Georgia" pitchFamily="34" charset="0"/>
                <a:ea typeface="Georgia" pitchFamily="34" charset="-122"/>
                <a:cs typeface="Georgia" pitchFamily="34" charset="-120"/>
              </a:rPr>
              <a:t>ADH Disruption — Red Flags</a:t>
            </a:r>
            <a:endParaRPr lang="en-US" sz="1700" dirty="0"/>
          </a:p>
        </p:txBody>
      </p:sp>
      <p:sp>
        <p:nvSpPr>
          <p:cNvPr id="12" name="Text 8"/>
          <p:cNvSpPr/>
          <p:nvPr/>
        </p:nvSpPr>
        <p:spPr>
          <a:xfrm>
            <a:off x="6675120" y="2377440"/>
            <a:ext cx="4572000" cy="3657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Watch ADH-related problems in clients who had:</a:t>
            </a:r>
            <a:endParaRPr lang="en-US" sz="1300" dirty="0"/>
          </a:p>
        </p:txBody>
      </p:sp>
      <p:sp>
        <p:nvSpPr>
          <p:cNvPr id="13" name="Text 9"/>
          <p:cNvSpPr/>
          <p:nvPr/>
        </p:nvSpPr>
        <p:spPr>
          <a:xfrm>
            <a:off x="6675120" y="2834640"/>
            <a:ext cx="4572000" cy="1645920"/>
          </a:xfrm>
          <a:prstGeom prst="rect">
            <a:avLst/>
          </a:prstGeom>
          <a:noFill/>
          <a:ln/>
        </p:spPr>
        <p:txBody>
          <a:bodyPr wrap="square" rtlCol="0" anchor="ctr"/>
          <a:lstStyle/>
          <a:p>
            <a:pPr marL="342900" indent="-342900">
              <a:spcAft>
                <a:spcPts val="400"/>
              </a:spcAft>
              <a:buSzPct val="100000"/>
              <a:buChar char="•"/>
            </a:pPr>
            <a:r>
              <a:rPr lang="en-US" sz="1400" b="1" dirty="0">
                <a:solidFill>
                  <a:srgbClr val="1E293B"/>
                </a:solidFill>
                <a:latin typeface="Calibri" pitchFamily="34" charset="0"/>
                <a:ea typeface="Calibri" pitchFamily="34" charset="-122"/>
                <a:cs typeface="Calibri" pitchFamily="34" charset="-120"/>
              </a:rPr>
              <a:t>Craniotomy</a:t>
            </a:r>
            <a:endParaRPr lang="en-US" sz="1400" dirty="0"/>
          </a:p>
          <a:p>
            <a:pPr marL="342900" indent="-342900">
              <a:spcAft>
                <a:spcPts val="400"/>
              </a:spcAft>
              <a:buSzPct val="100000"/>
              <a:buChar char="•"/>
            </a:pPr>
            <a:r>
              <a:rPr lang="en-US" sz="1400" b="1" dirty="0">
                <a:solidFill>
                  <a:srgbClr val="1E293B"/>
                </a:solidFill>
                <a:latin typeface="Calibri" pitchFamily="34" charset="0"/>
                <a:ea typeface="Calibri" pitchFamily="34" charset="-122"/>
                <a:cs typeface="Calibri" pitchFamily="34" charset="-120"/>
              </a:rPr>
              <a:t>Head injury / TBI</a:t>
            </a:r>
            <a:endParaRPr lang="en-US" sz="1400" dirty="0"/>
          </a:p>
          <a:p>
            <a:pPr marL="342900" indent="-342900">
              <a:spcAft>
                <a:spcPts val="400"/>
              </a:spcAft>
              <a:buSzPct val="100000"/>
              <a:buChar char="•"/>
            </a:pPr>
            <a:r>
              <a:rPr lang="en-US" sz="1400" b="1" dirty="0">
                <a:solidFill>
                  <a:srgbClr val="1E293B"/>
                </a:solidFill>
                <a:latin typeface="Calibri" pitchFamily="34" charset="0"/>
                <a:ea typeface="Calibri" pitchFamily="34" charset="-122"/>
                <a:cs typeface="Calibri" pitchFamily="34" charset="-120"/>
              </a:rPr>
              <a:t>Sinus or transsphenoidal surgery</a:t>
            </a:r>
            <a:endParaRPr lang="en-US" sz="1400" dirty="0"/>
          </a:p>
          <a:p>
            <a:pPr marL="342900" indent="-342900">
              <a:spcAft>
                <a:spcPts val="400"/>
              </a:spcAft>
              <a:buSzPct val="100000"/>
              <a:buChar char="•"/>
            </a:pPr>
            <a:r>
              <a:rPr lang="en-US" sz="1400" b="1" dirty="0">
                <a:solidFill>
                  <a:srgbClr val="1E293B"/>
                </a:solidFill>
                <a:latin typeface="Calibri" pitchFamily="34" charset="0"/>
                <a:ea typeface="Calibri" pitchFamily="34" charset="-122"/>
                <a:cs typeface="Calibri" pitchFamily="34" charset="-120"/>
              </a:rPr>
              <a:t>Pituitary tumor</a:t>
            </a:r>
            <a:endParaRPr lang="en-US" sz="1400" dirty="0"/>
          </a:p>
        </p:txBody>
      </p:sp>
      <p:sp>
        <p:nvSpPr>
          <p:cNvPr id="14" name="Text 10"/>
          <p:cNvSpPr/>
          <p:nvPr/>
        </p:nvSpPr>
        <p:spPr>
          <a:xfrm>
            <a:off x="6675120" y="4846320"/>
            <a:ext cx="4572000" cy="914400"/>
          </a:xfrm>
          <a:prstGeom prst="rect">
            <a:avLst/>
          </a:prstGeom>
          <a:noFill/>
          <a:ln/>
        </p:spPr>
        <p:txBody>
          <a:bodyPr wrap="square" lIns="0" tIns="0" rIns="0" bIns="0" rtlCol="0" anchor="ctr"/>
          <a:lstStyle/>
          <a:p>
            <a:pPr indent="0" marL="0">
              <a:buNone/>
            </a:pPr>
            <a:r>
              <a:rPr lang="en-US" sz="1300" b="1" i="1" dirty="0">
                <a:solidFill>
                  <a:srgbClr val="DC2626"/>
                </a:solidFill>
                <a:latin typeface="Calibri" pitchFamily="34" charset="0"/>
                <a:ea typeface="Calibri" pitchFamily="34" charset="-122"/>
                <a:cs typeface="Calibri" pitchFamily="34" charset="-120"/>
              </a:rPr>
              <a:t>Too much ADH → SIADH</a:t>
            </a:r>
            <a:endParaRPr lang="en-US" sz="1300" dirty="0"/>
          </a:p>
          <a:p>
            <a:pPr indent="0" marL="0">
              <a:buNone/>
            </a:pPr>
            <a:r>
              <a:rPr lang="en-US" sz="1300" b="1" i="1" dirty="0">
                <a:solidFill>
                  <a:srgbClr val="DC2626"/>
                </a:solidFill>
                <a:latin typeface="Calibri" pitchFamily="34" charset="0"/>
                <a:ea typeface="Calibri" pitchFamily="34" charset="-122"/>
                <a:cs typeface="Calibri" pitchFamily="34" charset="-120"/>
              </a:rPr>
              <a:t>Too little ADH → Diabetes Insipidus</a:t>
            </a:r>
            <a:endParaRPr lang="en-US" sz="1300" dirty="0"/>
          </a:p>
        </p:txBody>
      </p:sp>
      <p:sp>
        <p:nvSpPr>
          <p:cNvPr id="15" name="Text 11"/>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6" name="Text 12"/>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Steroids — Adrenal Cortex</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Three hormone classes secreted by the adrenal cortex</a:t>
            </a:r>
            <a:endParaRPr lang="en-US" sz="1400" dirty="0"/>
          </a:p>
        </p:txBody>
      </p:sp>
      <p:sp>
        <p:nvSpPr>
          <p:cNvPr id="5" name="Shape 3"/>
          <p:cNvSpPr/>
          <p:nvPr/>
        </p:nvSpPr>
        <p:spPr>
          <a:xfrm>
            <a:off x="731520" y="1554480"/>
            <a:ext cx="35204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3520440" cy="73152"/>
          </a:xfrm>
          <a:prstGeom prst="rect">
            <a:avLst/>
          </a:prstGeom>
          <a:solidFill>
            <a:srgbClr val="0F4C5C"/>
          </a:solidFill>
          <a:ln w="12700">
            <a:solidFill>
              <a:srgbClr val="0F4C5C"/>
            </a:solidFill>
            <a:prstDash val="solid"/>
          </a:ln>
        </p:spPr>
      </p:sp>
      <p:sp>
        <p:nvSpPr>
          <p:cNvPr id="7" name="Shape 5"/>
          <p:cNvSpPr/>
          <p:nvPr/>
        </p:nvSpPr>
        <p:spPr>
          <a:xfrm>
            <a:off x="1988820" y="1828800"/>
            <a:ext cx="1005840" cy="1005840"/>
          </a:xfrm>
          <a:prstGeom prst="ellipse">
            <a:avLst/>
          </a:prstGeom>
          <a:solidFill>
            <a:srgbClr val="E0F2FE"/>
          </a:solidFill>
          <a:ln w="12700">
            <a:solidFill>
              <a:srgbClr val="0F4C5C"/>
            </a:solidFill>
            <a:prstDash val="solid"/>
          </a:ln>
        </p:spPr>
      </p:sp>
      <p:pic>
        <p:nvPicPr>
          <p:cNvPr id="8" name="Image 0" descr="preencoded.png">    </p:cNvPr>
          <p:cNvPicPr>
            <a:picLocks noChangeAspect="1"/>
          </p:cNvPicPr>
          <p:nvPr/>
        </p:nvPicPr>
        <p:blipFill>
          <a:blip r:embed="rId1"/>
          <a:stretch>
            <a:fillRect/>
          </a:stretch>
        </p:blipFill>
        <p:spPr>
          <a:xfrm>
            <a:off x="2217420" y="2057400"/>
            <a:ext cx="548640" cy="548640"/>
          </a:xfrm>
          <a:prstGeom prst="rect">
            <a:avLst/>
          </a:prstGeom>
        </p:spPr>
      </p:pic>
      <p:sp>
        <p:nvSpPr>
          <p:cNvPr id="9" name="Text 6"/>
          <p:cNvSpPr/>
          <p:nvPr/>
        </p:nvSpPr>
        <p:spPr>
          <a:xfrm>
            <a:off x="914400" y="2926080"/>
            <a:ext cx="3154680" cy="411480"/>
          </a:xfrm>
          <a:prstGeom prst="rect">
            <a:avLst/>
          </a:prstGeom>
          <a:noFill/>
          <a:ln/>
        </p:spPr>
        <p:txBody>
          <a:bodyPr wrap="square" lIns="0" tIns="0" rIns="0" bIns="0" rtlCol="0" anchor="ctr"/>
          <a:lstStyle/>
          <a:p>
            <a:pPr algn="ctr" indent="0" marL="0">
              <a:buNone/>
            </a:pPr>
            <a:r>
              <a:rPr lang="en-US" sz="1800" b="1" dirty="0">
                <a:solidFill>
                  <a:srgbClr val="0F4C5C"/>
                </a:solidFill>
                <a:latin typeface="Georgia" pitchFamily="34" charset="0"/>
                <a:ea typeface="Georgia" pitchFamily="34" charset="-122"/>
                <a:cs typeface="Georgia" pitchFamily="34" charset="-120"/>
              </a:rPr>
              <a:t>Glucocorticoids</a:t>
            </a:r>
            <a:endParaRPr lang="en-US" sz="1800" dirty="0"/>
          </a:p>
        </p:txBody>
      </p:sp>
      <p:sp>
        <p:nvSpPr>
          <p:cNvPr id="10" name="Text 7"/>
          <p:cNvSpPr/>
          <p:nvPr/>
        </p:nvSpPr>
        <p:spPr>
          <a:xfrm>
            <a:off x="914400" y="3337560"/>
            <a:ext cx="3154680" cy="365760"/>
          </a:xfrm>
          <a:prstGeom prst="rect">
            <a:avLst/>
          </a:prstGeom>
          <a:noFill/>
          <a:ln/>
        </p:spPr>
        <p:txBody>
          <a:bodyPr wrap="square" lIns="0" tIns="0" rIns="0" bIns="0" rtlCol="0" anchor="ctr"/>
          <a:lstStyle/>
          <a:p>
            <a:pPr algn="ctr" indent="0" marL="0">
              <a:buNone/>
            </a:pPr>
            <a:r>
              <a:rPr lang="en-US" sz="1300" i="1" dirty="0">
                <a:solidFill>
                  <a:srgbClr val="E36414"/>
                </a:solidFill>
                <a:latin typeface="Calibri" pitchFamily="34" charset="0"/>
                <a:ea typeface="Calibri" pitchFamily="34" charset="-122"/>
                <a:cs typeface="Calibri" pitchFamily="34" charset="-120"/>
              </a:rPr>
              <a:t>Cortisol</a:t>
            </a:r>
            <a:endParaRPr lang="en-US" sz="1300" dirty="0"/>
          </a:p>
        </p:txBody>
      </p:sp>
      <p:sp>
        <p:nvSpPr>
          <p:cNvPr id="11" name="Text 8"/>
          <p:cNvSpPr/>
          <p:nvPr/>
        </p:nvSpPr>
        <p:spPr>
          <a:xfrm>
            <a:off x="1051560" y="3794760"/>
            <a:ext cx="2971800" cy="219456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Affect mood</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Cause immunosuppression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Breakdown of fats &amp; proteins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Inhibit insulin (↑ blood glucose)</a:t>
            </a:r>
            <a:endParaRPr lang="en-US" sz="1200" dirty="0"/>
          </a:p>
        </p:txBody>
      </p:sp>
      <p:sp>
        <p:nvSpPr>
          <p:cNvPr id="12" name="Shape 9"/>
          <p:cNvSpPr/>
          <p:nvPr/>
        </p:nvSpPr>
        <p:spPr>
          <a:xfrm>
            <a:off x="4453128" y="1554480"/>
            <a:ext cx="35204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3" name="Shape 10"/>
          <p:cNvSpPr/>
          <p:nvPr/>
        </p:nvSpPr>
        <p:spPr>
          <a:xfrm>
            <a:off x="4453128" y="1554480"/>
            <a:ext cx="3520440" cy="73152"/>
          </a:xfrm>
          <a:prstGeom prst="rect">
            <a:avLst/>
          </a:prstGeom>
          <a:solidFill>
            <a:srgbClr val="0F4C5C"/>
          </a:solidFill>
          <a:ln w="12700">
            <a:solidFill>
              <a:srgbClr val="0F4C5C"/>
            </a:solidFill>
            <a:prstDash val="solid"/>
          </a:ln>
        </p:spPr>
      </p:sp>
      <p:sp>
        <p:nvSpPr>
          <p:cNvPr id="14" name="Shape 11"/>
          <p:cNvSpPr/>
          <p:nvPr/>
        </p:nvSpPr>
        <p:spPr>
          <a:xfrm>
            <a:off x="5710428" y="1828800"/>
            <a:ext cx="1005840" cy="1005840"/>
          </a:xfrm>
          <a:prstGeom prst="ellipse">
            <a:avLst/>
          </a:prstGeom>
          <a:solidFill>
            <a:srgbClr val="E0F2FE"/>
          </a:solidFill>
          <a:ln w="12700">
            <a:solidFill>
              <a:srgbClr val="0F4C5C"/>
            </a:solidFill>
            <a:prstDash val="solid"/>
          </a:ln>
        </p:spPr>
      </p:sp>
      <p:pic>
        <p:nvPicPr>
          <p:cNvPr id="15" name="Image 1" descr="preencoded.png">    </p:cNvPr>
          <p:cNvPicPr>
            <a:picLocks noChangeAspect="1"/>
          </p:cNvPicPr>
          <p:nvPr/>
        </p:nvPicPr>
        <p:blipFill>
          <a:blip r:embed="rId2"/>
          <a:stretch>
            <a:fillRect/>
          </a:stretch>
        </p:blipFill>
        <p:spPr>
          <a:xfrm>
            <a:off x="5939028" y="2057400"/>
            <a:ext cx="548640" cy="548640"/>
          </a:xfrm>
          <a:prstGeom prst="rect">
            <a:avLst/>
          </a:prstGeom>
        </p:spPr>
      </p:pic>
      <p:sp>
        <p:nvSpPr>
          <p:cNvPr id="16" name="Text 12"/>
          <p:cNvSpPr/>
          <p:nvPr/>
        </p:nvSpPr>
        <p:spPr>
          <a:xfrm>
            <a:off x="4636008" y="2926080"/>
            <a:ext cx="3154680" cy="411480"/>
          </a:xfrm>
          <a:prstGeom prst="rect">
            <a:avLst/>
          </a:prstGeom>
          <a:noFill/>
          <a:ln/>
        </p:spPr>
        <p:txBody>
          <a:bodyPr wrap="square" lIns="0" tIns="0" rIns="0" bIns="0" rtlCol="0" anchor="ctr"/>
          <a:lstStyle/>
          <a:p>
            <a:pPr algn="ctr" indent="0" marL="0">
              <a:buNone/>
            </a:pPr>
            <a:r>
              <a:rPr lang="en-US" sz="1800" b="1" dirty="0">
                <a:solidFill>
                  <a:srgbClr val="0F4C5C"/>
                </a:solidFill>
                <a:latin typeface="Georgia" pitchFamily="34" charset="0"/>
                <a:ea typeface="Georgia" pitchFamily="34" charset="-122"/>
                <a:cs typeface="Georgia" pitchFamily="34" charset="-120"/>
              </a:rPr>
              <a:t>Mineralocorticoids</a:t>
            </a:r>
            <a:endParaRPr lang="en-US" sz="1800" dirty="0"/>
          </a:p>
        </p:txBody>
      </p:sp>
      <p:sp>
        <p:nvSpPr>
          <p:cNvPr id="17" name="Text 13"/>
          <p:cNvSpPr/>
          <p:nvPr/>
        </p:nvSpPr>
        <p:spPr>
          <a:xfrm>
            <a:off x="4636008" y="3337560"/>
            <a:ext cx="3154680" cy="365760"/>
          </a:xfrm>
          <a:prstGeom prst="rect">
            <a:avLst/>
          </a:prstGeom>
          <a:noFill/>
          <a:ln/>
        </p:spPr>
        <p:txBody>
          <a:bodyPr wrap="square" lIns="0" tIns="0" rIns="0" bIns="0" rtlCol="0" anchor="ctr"/>
          <a:lstStyle/>
          <a:p>
            <a:pPr algn="ctr" indent="0" marL="0">
              <a:buNone/>
            </a:pPr>
            <a:r>
              <a:rPr lang="en-US" sz="1300" i="1" dirty="0">
                <a:solidFill>
                  <a:srgbClr val="E36414"/>
                </a:solidFill>
                <a:latin typeface="Calibri" pitchFamily="34" charset="0"/>
                <a:ea typeface="Calibri" pitchFamily="34" charset="-122"/>
                <a:cs typeface="Calibri" pitchFamily="34" charset="-120"/>
              </a:rPr>
              <a:t>Aldosterone ★</a:t>
            </a:r>
            <a:endParaRPr lang="en-US" sz="1300" dirty="0"/>
          </a:p>
        </p:txBody>
      </p:sp>
      <p:sp>
        <p:nvSpPr>
          <p:cNvPr id="18" name="Text 14"/>
          <p:cNvSpPr/>
          <p:nvPr/>
        </p:nvSpPr>
        <p:spPr>
          <a:xfrm>
            <a:off x="4773168" y="3794760"/>
            <a:ext cx="2971800" cy="219456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Retention of sodium &amp; water</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Excretion of potassium</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Connects renal ↔ endocrine (RAAS)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 BP and circulating volume</a:t>
            </a:r>
            <a:endParaRPr lang="en-US" sz="1200" dirty="0"/>
          </a:p>
        </p:txBody>
      </p:sp>
      <p:sp>
        <p:nvSpPr>
          <p:cNvPr id="19" name="Shape 15"/>
          <p:cNvSpPr/>
          <p:nvPr/>
        </p:nvSpPr>
        <p:spPr>
          <a:xfrm>
            <a:off x="8174736" y="1554480"/>
            <a:ext cx="35204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0" name="Shape 16"/>
          <p:cNvSpPr/>
          <p:nvPr/>
        </p:nvSpPr>
        <p:spPr>
          <a:xfrm>
            <a:off x="8174736" y="1554480"/>
            <a:ext cx="3520440" cy="73152"/>
          </a:xfrm>
          <a:prstGeom prst="rect">
            <a:avLst/>
          </a:prstGeom>
          <a:solidFill>
            <a:srgbClr val="0F4C5C"/>
          </a:solidFill>
          <a:ln w="12700">
            <a:solidFill>
              <a:srgbClr val="0F4C5C"/>
            </a:solidFill>
            <a:prstDash val="solid"/>
          </a:ln>
        </p:spPr>
      </p:sp>
      <p:sp>
        <p:nvSpPr>
          <p:cNvPr id="21" name="Shape 17"/>
          <p:cNvSpPr/>
          <p:nvPr/>
        </p:nvSpPr>
        <p:spPr>
          <a:xfrm>
            <a:off x="9432036" y="1828800"/>
            <a:ext cx="1005840" cy="1005840"/>
          </a:xfrm>
          <a:prstGeom prst="ellipse">
            <a:avLst/>
          </a:prstGeom>
          <a:solidFill>
            <a:srgbClr val="E0F2FE"/>
          </a:solidFill>
          <a:ln w="12700">
            <a:solidFill>
              <a:srgbClr val="0F4C5C"/>
            </a:solidFill>
            <a:prstDash val="solid"/>
          </a:ln>
        </p:spPr>
      </p:sp>
      <p:pic>
        <p:nvPicPr>
          <p:cNvPr id="22" name="Image 2" descr="preencoded.png">    </p:cNvPr>
          <p:cNvPicPr>
            <a:picLocks noChangeAspect="1"/>
          </p:cNvPicPr>
          <p:nvPr/>
        </p:nvPicPr>
        <p:blipFill>
          <a:blip r:embed="rId3"/>
          <a:stretch>
            <a:fillRect/>
          </a:stretch>
        </p:blipFill>
        <p:spPr>
          <a:xfrm>
            <a:off x="9660636" y="2057400"/>
            <a:ext cx="548640" cy="548640"/>
          </a:xfrm>
          <a:prstGeom prst="rect">
            <a:avLst/>
          </a:prstGeom>
        </p:spPr>
      </p:pic>
      <p:sp>
        <p:nvSpPr>
          <p:cNvPr id="23" name="Text 18"/>
          <p:cNvSpPr/>
          <p:nvPr/>
        </p:nvSpPr>
        <p:spPr>
          <a:xfrm>
            <a:off x="8357616" y="2926080"/>
            <a:ext cx="3154680" cy="411480"/>
          </a:xfrm>
          <a:prstGeom prst="rect">
            <a:avLst/>
          </a:prstGeom>
          <a:noFill/>
          <a:ln/>
        </p:spPr>
        <p:txBody>
          <a:bodyPr wrap="square" lIns="0" tIns="0" rIns="0" bIns="0" rtlCol="0" anchor="ctr"/>
          <a:lstStyle/>
          <a:p>
            <a:pPr algn="ctr" indent="0" marL="0">
              <a:buNone/>
            </a:pPr>
            <a:r>
              <a:rPr lang="en-US" sz="1800" b="1" dirty="0">
                <a:solidFill>
                  <a:srgbClr val="0F4C5C"/>
                </a:solidFill>
                <a:latin typeface="Georgia" pitchFamily="34" charset="0"/>
                <a:ea typeface="Georgia" pitchFamily="34" charset="-122"/>
                <a:cs typeface="Georgia" pitchFamily="34" charset="-120"/>
              </a:rPr>
              <a:t>Sex Hormones</a:t>
            </a:r>
            <a:endParaRPr lang="en-US" sz="1800" dirty="0"/>
          </a:p>
        </p:txBody>
      </p:sp>
      <p:sp>
        <p:nvSpPr>
          <p:cNvPr id="24" name="Text 19"/>
          <p:cNvSpPr/>
          <p:nvPr/>
        </p:nvSpPr>
        <p:spPr>
          <a:xfrm>
            <a:off x="8357616" y="3337560"/>
            <a:ext cx="3154680" cy="365760"/>
          </a:xfrm>
          <a:prstGeom prst="rect">
            <a:avLst/>
          </a:prstGeom>
          <a:noFill/>
          <a:ln/>
        </p:spPr>
        <p:txBody>
          <a:bodyPr wrap="square" lIns="0" tIns="0" rIns="0" bIns="0" rtlCol="0" anchor="ctr"/>
          <a:lstStyle/>
          <a:p>
            <a:pPr algn="ctr" indent="0" marL="0">
              <a:buNone/>
            </a:pPr>
            <a:r>
              <a:rPr lang="en-US" sz="1300" i="1" dirty="0">
                <a:solidFill>
                  <a:srgbClr val="E36414"/>
                </a:solidFill>
                <a:latin typeface="Calibri" pitchFamily="34" charset="0"/>
                <a:ea typeface="Calibri" pitchFamily="34" charset="-122"/>
                <a:cs typeface="Calibri" pitchFamily="34" charset="-120"/>
              </a:rPr>
              <a:t>Androgens &amp; Estrogens</a:t>
            </a:r>
            <a:endParaRPr lang="en-US" sz="1300" dirty="0"/>
          </a:p>
        </p:txBody>
      </p:sp>
      <p:sp>
        <p:nvSpPr>
          <p:cNvPr id="25" name="Text 20"/>
          <p:cNvSpPr/>
          <p:nvPr/>
        </p:nvSpPr>
        <p:spPr>
          <a:xfrm>
            <a:off x="8494776" y="3794760"/>
            <a:ext cx="2971800" cy="219456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Testosterone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Estrogen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Progesterone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Secondary sex characteristics</a:t>
            </a:r>
            <a:endParaRPr lang="en-US" sz="1200" dirty="0"/>
          </a:p>
        </p:txBody>
      </p:sp>
      <p:sp>
        <p:nvSpPr>
          <p:cNvPr id="26" name="Shape 21"/>
          <p:cNvSpPr/>
          <p:nvPr/>
        </p:nvSpPr>
        <p:spPr>
          <a:xfrm>
            <a:off x="731520" y="6263640"/>
            <a:ext cx="10698480" cy="457200"/>
          </a:xfrm>
          <a:prstGeom prst="roundRect">
            <a:avLst>
              <a:gd name="adj" fmla="val 16000"/>
            </a:avLst>
          </a:prstGeom>
          <a:solidFill>
            <a:srgbClr val="FEF3C7"/>
          </a:solidFill>
          <a:ln w="12700">
            <a:solidFill>
              <a:srgbClr val="E36414"/>
            </a:solidFill>
            <a:prstDash val="solid"/>
          </a:ln>
        </p:spPr>
      </p:sp>
      <p:sp>
        <p:nvSpPr>
          <p:cNvPr id="27" name="Text 22"/>
          <p:cNvSpPr/>
          <p:nvPr/>
        </p:nvSpPr>
        <p:spPr>
          <a:xfrm>
            <a:off x="822960" y="6263640"/>
            <a:ext cx="10515600" cy="457200"/>
          </a:xfrm>
          <a:prstGeom prst="rect">
            <a:avLst/>
          </a:prstGeom>
          <a:noFill/>
          <a:ln/>
        </p:spPr>
        <p:txBody>
          <a:bodyPr wrap="square" lIns="0" tIns="0" rIns="0" bIns="0" rtlCol="0" anchor="ctr"/>
          <a:lstStyle/>
          <a:p>
            <a:pPr algn="ctr" indent="0" marL="0">
              <a:buNone/>
            </a:pPr>
            <a:r>
              <a:rPr lang="en-US" sz="1200" i="1" dirty="0">
                <a:solidFill>
                  <a:srgbClr val="1E293B"/>
                </a:solidFill>
                <a:latin typeface="Calibri" pitchFamily="34" charset="0"/>
                <a:ea typeface="Calibri" pitchFamily="34" charset="-122"/>
                <a:cs typeface="Calibri" pitchFamily="34" charset="-120"/>
              </a:rPr>
              <a:t>★ Aldosterone connects the renal system to the endocrine system — the RAAS (Renin-Angiotensin-Aldosterone) pathway.</a:t>
            </a:r>
            <a:endParaRPr lang="en-US" sz="1200" dirty="0"/>
          </a:p>
        </p:txBody>
      </p:sp>
      <p:sp>
        <p:nvSpPr>
          <p:cNvPr id="28" name="Text 2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9" name="Text 2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Catecholamines — Adrenal Medulla</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Fight-or-flight hormones from the inner adrenal gland</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5349240" cy="64008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914400" y="1691640"/>
            <a:ext cx="365760" cy="365760"/>
          </a:xfrm>
          <a:prstGeom prst="rect">
            <a:avLst/>
          </a:prstGeom>
        </p:spPr>
      </p:pic>
      <p:sp>
        <p:nvSpPr>
          <p:cNvPr id="8" name="Text 5"/>
          <p:cNvSpPr/>
          <p:nvPr/>
        </p:nvSpPr>
        <p:spPr>
          <a:xfrm>
            <a:off x="1371600" y="1554480"/>
            <a:ext cx="4572000" cy="6400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Norepinephrine</a:t>
            </a:r>
            <a:endParaRPr lang="en-US" sz="2000" dirty="0"/>
          </a:p>
        </p:txBody>
      </p:sp>
      <p:sp>
        <p:nvSpPr>
          <p:cNvPr id="9" name="Text 6"/>
          <p:cNvSpPr/>
          <p:nvPr/>
        </p:nvSpPr>
        <p:spPr>
          <a:xfrm>
            <a:off x="1005840" y="2377440"/>
            <a:ext cx="4846320" cy="3657600"/>
          </a:xfrm>
          <a:prstGeom prst="rect">
            <a:avLst/>
          </a:prstGeom>
          <a:noFill/>
          <a:ln/>
        </p:spPr>
        <p:txBody>
          <a:bodyPr wrap="square" rtlCol="0" anchor="ctr"/>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Vasoconstriction → ↑ Blood Pressure</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Pupil dilation (mydriasis)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Increased cardiac contractility</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Inhibits GI system activity</a:t>
            </a:r>
            <a:endParaRPr lang="en-US" sz="1400" dirty="0"/>
          </a:p>
          <a:p>
            <a:pPr marL="342900" indent="-342900">
              <a:spcAft>
                <a:spcPts val="800"/>
              </a:spcAft>
              <a:buSzPct val="100000"/>
              <a:buChar char="•"/>
            </a:pPr>
            <a:r>
              <a:rPr lang="en-US" sz="1400" i="1" dirty="0">
                <a:solidFill>
                  <a:srgbClr val="E36414"/>
                </a:solidFill>
                <a:latin typeface="Calibri" pitchFamily="34" charset="0"/>
                <a:ea typeface="Calibri" pitchFamily="34" charset="-122"/>
                <a:cs typeface="Calibri" pitchFamily="34" charset="-120"/>
              </a:rPr>
              <a:t>Used clinically as a vasopressor in shock</a:t>
            </a:r>
            <a:endParaRPr lang="en-US" sz="1400" dirty="0"/>
          </a:p>
        </p:txBody>
      </p:sp>
      <p:sp>
        <p:nvSpPr>
          <p:cNvPr id="10" name="Shape 7"/>
          <p:cNvSpPr/>
          <p:nvPr/>
        </p:nvSpPr>
        <p:spPr>
          <a:xfrm>
            <a:off x="6355080" y="1554480"/>
            <a:ext cx="507492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1" name="Shape 8"/>
          <p:cNvSpPr/>
          <p:nvPr/>
        </p:nvSpPr>
        <p:spPr>
          <a:xfrm>
            <a:off x="6355080" y="1554480"/>
            <a:ext cx="5074920" cy="640080"/>
          </a:xfrm>
          <a:prstGeom prst="rect">
            <a:avLst/>
          </a:prstGeom>
          <a:solidFill>
            <a:srgbClr val="E36414"/>
          </a:solidFill>
          <a:ln w="12700">
            <a:solidFill>
              <a:srgbClr val="E36414"/>
            </a:solidFill>
            <a:prstDash val="solid"/>
          </a:ln>
        </p:spPr>
      </p:sp>
      <p:pic>
        <p:nvPicPr>
          <p:cNvPr id="12" name="Image 1" descr="preencoded.png">    </p:cNvPr>
          <p:cNvPicPr>
            <a:picLocks noChangeAspect="1"/>
          </p:cNvPicPr>
          <p:nvPr/>
        </p:nvPicPr>
        <p:blipFill>
          <a:blip r:embed="rId2"/>
          <a:stretch>
            <a:fillRect/>
          </a:stretch>
        </p:blipFill>
        <p:spPr>
          <a:xfrm>
            <a:off x="6537960" y="1691640"/>
            <a:ext cx="365760" cy="365760"/>
          </a:xfrm>
          <a:prstGeom prst="rect">
            <a:avLst/>
          </a:prstGeom>
        </p:spPr>
      </p:pic>
      <p:sp>
        <p:nvSpPr>
          <p:cNvPr id="13" name="Text 9"/>
          <p:cNvSpPr/>
          <p:nvPr/>
        </p:nvSpPr>
        <p:spPr>
          <a:xfrm>
            <a:off x="6995160" y="1554480"/>
            <a:ext cx="4297680" cy="6400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Epinephrine</a:t>
            </a:r>
            <a:endParaRPr lang="en-US" sz="2000" dirty="0"/>
          </a:p>
        </p:txBody>
      </p:sp>
      <p:sp>
        <p:nvSpPr>
          <p:cNvPr id="14" name="Text 10"/>
          <p:cNvSpPr/>
          <p:nvPr/>
        </p:nvSpPr>
        <p:spPr>
          <a:xfrm>
            <a:off x="6629400" y="2377440"/>
            <a:ext cx="4572000" cy="3657600"/>
          </a:xfrm>
          <a:prstGeom prst="rect">
            <a:avLst/>
          </a:prstGeom>
          <a:noFill/>
          <a:ln/>
        </p:spPr>
        <p:txBody>
          <a:bodyPr wrap="square" rtlCol="0" anchor="ctr"/>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Increases the body's metabolism</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Increases blood glucose levels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Inhibits secretion of insulin</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Positive inotrope — ↑ cardiac output</a:t>
            </a:r>
            <a:endParaRPr lang="en-US" sz="1400" dirty="0"/>
          </a:p>
          <a:p>
            <a:pPr marL="342900" indent="-342900">
              <a:spcAft>
                <a:spcPts val="800"/>
              </a:spcAft>
              <a:buSzPct val="100000"/>
              <a:buChar char="•"/>
            </a:pPr>
            <a:r>
              <a:rPr lang="en-US" sz="1400" i="1" dirty="0">
                <a:solidFill>
                  <a:srgbClr val="E36414"/>
                </a:solidFill>
                <a:latin typeface="Calibri" pitchFamily="34" charset="0"/>
                <a:ea typeface="Calibri" pitchFamily="34" charset="-122"/>
                <a:cs typeface="Calibri" pitchFamily="34" charset="-120"/>
              </a:rPr>
              <a:t>Bronchodilator — reverses anaphylaxis</a:t>
            </a:r>
            <a:endParaRPr lang="en-US" sz="1400" dirty="0"/>
          </a:p>
        </p:txBody>
      </p:sp>
      <p:sp>
        <p:nvSpPr>
          <p:cNvPr id="15" name="Text 11"/>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6" name="Text 12"/>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Thyroid Hormone (T3 &amp; T4)</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Metabolic regulator — controlled by a negative feedback loop</a:t>
            </a:r>
            <a:endParaRPr lang="en-US" sz="1400" dirty="0"/>
          </a:p>
        </p:txBody>
      </p:sp>
      <p:sp>
        <p:nvSpPr>
          <p:cNvPr id="5" name="Shape 3"/>
          <p:cNvSpPr/>
          <p:nvPr/>
        </p:nvSpPr>
        <p:spPr>
          <a:xfrm>
            <a:off x="731520" y="1554480"/>
            <a:ext cx="502920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Text 4"/>
          <p:cNvSpPr/>
          <p:nvPr/>
        </p:nvSpPr>
        <p:spPr>
          <a:xfrm>
            <a:off x="914400" y="1691640"/>
            <a:ext cx="4663440" cy="411480"/>
          </a:xfrm>
          <a:prstGeom prst="rect">
            <a:avLst/>
          </a:prstGeom>
          <a:noFill/>
          <a:ln/>
        </p:spPr>
        <p:txBody>
          <a:bodyPr wrap="square" lIns="0" tIns="0" rIns="0" bIns="0" rtlCol="0" anchor="ctr"/>
          <a:lstStyle/>
          <a:p>
            <a:pPr indent="0" marL="0">
              <a:buNone/>
            </a:pPr>
            <a:r>
              <a:rPr lang="en-US" sz="1800" b="1" dirty="0">
                <a:solidFill>
                  <a:srgbClr val="0F4C5C"/>
                </a:solidFill>
                <a:latin typeface="Georgia" pitchFamily="34" charset="0"/>
                <a:ea typeface="Georgia" pitchFamily="34" charset="-122"/>
                <a:cs typeface="Georgia" pitchFamily="34" charset="-120"/>
              </a:rPr>
              <a:t>Key Points</a:t>
            </a:r>
            <a:endParaRPr lang="en-US" sz="1800" dirty="0"/>
          </a:p>
        </p:txBody>
      </p:sp>
      <p:sp>
        <p:nvSpPr>
          <p:cNvPr id="7" name="Text 5"/>
          <p:cNvSpPr/>
          <p:nvPr/>
        </p:nvSpPr>
        <p:spPr>
          <a:xfrm>
            <a:off x="914400" y="2194560"/>
            <a:ext cx="4663440" cy="374904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Produced by the thyroid gland</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Two forms: T3 (triiodothyronine) &amp; T4 (thyroxine)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Thyroid hormones = ENERGY &amp; metabolism</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Controlled by TSH from the anterior pituitary</a:t>
            </a:r>
            <a:endParaRPr lang="en-US" sz="1300" dirty="0"/>
          </a:p>
          <a:p>
            <a:pPr lvl="1" marL="685800" indent="-342900">
              <a:spcAft>
                <a:spcPts val="600"/>
              </a:spcAft>
              <a:buSzPct val="100000"/>
              <a:buChar char="•"/>
            </a:pPr>
            <a:r>
              <a:rPr lang="en-US" sz="1300" dirty="0">
                <a:solidFill>
                  <a:srgbClr val="DC2626"/>
                </a:solidFill>
                <a:latin typeface="Calibri" pitchFamily="34" charset="0"/>
                <a:ea typeface="Calibri" pitchFamily="34" charset="-122"/>
                <a:cs typeface="Calibri" pitchFamily="34" charset="-120"/>
              </a:rPr>
              <a:t>Low T3/T4 → High TSH</a:t>
            </a:r>
            <a:endParaRPr lang="en-US" sz="1300" dirty="0"/>
          </a:p>
          <a:p>
            <a:pPr lvl="1" marL="685800" indent="-342900">
              <a:spcAft>
                <a:spcPts val="600"/>
              </a:spcAft>
              <a:buSzPct val="100000"/>
              <a:buChar char="•"/>
            </a:pPr>
            <a:r>
              <a:rPr lang="en-US" sz="1300" dirty="0">
                <a:solidFill>
                  <a:srgbClr val="059669"/>
                </a:solidFill>
                <a:latin typeface="Calibri" pitchFamily="34" charset="0"/>
                <a:ea typeface="Calibri" pitchFamily="34" charset="-122"/>
                <a:cs typeface="Calibri" pitchFamily="34" charset="-120"/>
              </a:rPr>
              <a:t>High T3/T4 → Low TSH</a:t>
            </a:r>
            <a:endParaRPr lang="en-US" sz="1300" dirty="0"/>
          </a:p>
        </p:txBody>
      </p:sp>
      <p:sp>
        <p:nvSpPr>
          <p:cNvPr id="8" name="Shape 6"/>
          <p:cNvSpPr/>
          <p:nvPr/>
        </p:nvSpPr>
        <p:spPr>
          <a:xfrm>
            <a:off x="6400800" y="1554480"/>
            <a:ext cx="5029200" cy="4572000"/>
          </a:xfrm>
          <a:prstGeom prst="rect">
            <a:avLst/>
          </a:prstGeom>
          <a:solidFill>
            <a:srgbClr val="E0F2FE"/>
          </a:solidFill>
          <a:ln w="12700">
            <a:solidFill>
              <a:srgbClr val="0F4C5C"/>
            </a:solidFill>
            <a:prstDash val="solid"/>
          </a:ln>
          <a:effectLst>
            <a:outerShdw sx="100000" sy="100000" kx="0" ky="0" algn="bl" rotWithShape="0" blurRad="127000" dist="25400" dir="5400000">
              <a:srgbClr val="000000">
                <a:alpha val="8000"/>
              </a:srgbClr>
            </a:outerShdw>
          </a:effectLst>
        </p:spPr>
      </p:sp>
      <p:sp>
        <p:nvSpPr>
          <p:cNvPr id="9" name="Text 7"/>
          <p:cNvSpPr/>
          <p:nvPr/>
        </p:nvSpPr>
        <p:spPr>
          <a:xfrm>
            <a:off x="6583680" y="1691640"/>
            <a:ext cx="4663440" cy="411480"/>
          </a:xfrm>
          <a:prstGeom prst="rect">
            <a:avLst/>
          </a:prstGeom>
          <a:noFill/>
          <a:ln/>
        </p:spPr>
        <p:txBody>
          <a:bodyPr wrap="square" lIns="0" tIns="0" rIns="0" bIns="0" rtlCol="0" anchor="ctr"/>
          <a:lstStyle/>
          <a:p>
            <a:pPr algn="ctr" indent="0" marL="0">
              <a:buNone/>
            </a:pPr>
            <a:r>
              <a:rPr lang="en-US" sz="1600" b="1" dirty="0">
                <a:solidFill>
                  <a:srgbClr val="0F4C5C"/>
                </a:solidFill>
                <a:latin typeface="Georgia" pitchFamily="34" charset="0"/>
                <a:ea typeface="Georgia" pitchFamily="34" charset="-122"/>
                <a:cs typeface="Georgia" pitchFamily="34" charset="-120"/>
              </a:rPr>
              <a:t>Negative Feedback Loop</a:t>
            </a:r>
            <a:endParaRPr lang="en-US" sz="1600" dirty="0"/>
          </a:p>
        </p:txBody>
      </p:sp>
      <p:sp>
        <p:nvSpPr>
          <p:cNvPr id="10" name="Shape 8"/>
          <p:cNvSpPr/>
          <p:nvPr/>
        </p:nvSpPr>
        <p:spPr>
          <a:xfrm>
            <a:off x="7132320" y="2286000"/>
            <a:ext cx="3566160" cy="777240"/>
          </a:xfrm>
          <a:prstGeom prst="roundRect">
            <a:avLst>
              <a:gd name="adj" fmla="val 11765"/>
            </a:avLst>
          </a:prstGeom>
          <a:solidFill>
            <a:srgbClr val="FFFFFF"/>
          </a:solidFill>
          <a:ln w="12700">
            <a:solidFill>
              <a:srgbClr val="0F4C5C"/>
            </a:solidFill>
            <a:prstDash val="solid"/>
          </a:ln>
        </p:spPr>
      </p:sp>
      <p:sp>
        <p:nvSpPr>
          <p:cNvPr id="11" name="Text 9"/>
          <p:cNvSpPr/>
          <p:nvPr/>
        </p:nvSpPr>
        <p:spPr>
          <a:xfrm>
            <a:off x="7132320" y="2377440"/>
            <a:ext cx="3566160" cy="320040"/>
          </a:xfrm>
          <a:prstGeom prst="rect">
            <a:avLst/>
          </a:prstGeom>
          <a:noFill/>
          <a:ln/>
        </p:spPr>
        <p:txBody>
          <a:bodyPr wrap="square" lIns="0" tIns="0" rIns="0" bIns="0" rtlCol="0" anchor="ctr"/>
          <a:lstStyle/>
          <a:p>
            <a:pPr algn="ctr" indent="0" marL="0">
              <a:buNone/>
            </a:pPr>
            <a:r>
              <a:rPr lang="en-US" sz="1200" b="1" dirty="0">
                <a:solidFill>
                  <a:srgbClr val="0F4C5C"/>
                </a:solidFill>
                <a:latin typeface="Georgia" pitchFamily="34" charset="0"/>
                <a:ea typeface="Georgia" pitchFamily="34" charset="-122"/>
                <a:cs typeface="Georgia" pitchFamily="34" charset="-120"/>
              </a:rPr>
              <a:t>HYPOTHALAMUS</a:t>
            </a:r>
            <a:endParaRPr lang="en-US" sz="1200" dirty="0"/>
          </a:p>
        </p:txBody>
      </p:sp>
      <p:sp>
        <p:nvSpPr>
          <p:cNvPr id="12" name="Text 10"/>
          <p:cNvSpPr/>
          <p:nvPr/>
        </p:nvSpPr>
        <p:spPr>
          <a:xfrm>
            <a:off x="7132320" y="2697480"/>
            <a:ext cx="35661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releases TRH</a:t>
            </a:r>
            <a:endParaRPr lang="en-US" sz="1000" dirty="0"/>
          </a:p>
        </p:txBody>
      </p:sp>
      <p:sp>
        <p:nvSpPr>
          <p:cNvPr id="13" name="Shape 11"/>
          <p:cNvSpPr/>
          <p:nvPr/>
        </p:nvSpPr>
        <p:spPr>
          <a:xfrm>
            <a:off x="7132320" y="3246120"/>
            <a:ext cx="3566160" cy="777240"/>
          </a:xfrm>
          <a:prstGeom prst="roundRect">
            <a:avLst>
              <a:gd name="adj" fmla="val 11765"/>
            </a:avLst>
          </a:prstGeom>
          <a:solidFill>
            <a:srgbClr val="FFFFFF"/>
          </a:solidFill>
          <a:ln w="12700">
            <a:solidFill>
              <a:srgbClr val="0F4C5C"/>
            </a:solidFill>
            <a:prstDash val="solid"/>
          </a:ln>
        </p:spPr>
      </p:sp>
      <p:sp>
        <p:nvSpPr>
          <p:cNvPr id="14" name="Text 12"/>
          <p:cNvSpPr/>
          <p:nvPr/>
        </p:nvSpPr>
        <p:spPr>
          <a:xfrm>
            <a:off x="7132320" y="3337560"/>
            <a:ext cx="3566160" cy="320040"/>
          </a:xfrm>
          <a:prstGeom prst="rect">
            <a:avLst/>
          </a:prstGeom>
          <a:noFill/>
          <a:ln/>
        </p:spPr>
        <p:txBody>
          <a:bodyPr wrap="square" lIns="0" tIns="0" rIns="0" bIns="0" rtlCol="0" anchor="ctr"/>
          <a:lstStyle/>
          <a:p>
            <a:pPr algn="ctr" indent="0" marL="0">
              <a:buNone/>
            </a:pPr>
            <a:r>
              <a:rPr lang="en-US" sz="1200" b="1" dirty="0">
                <a:solidFill>
                  <a:srgbClr val="0F4C5C"/>
                </a:solidFill>
                <a:latin typeface="Georgia" pitchFamily="34" charset="0"/>
                <a:ea typeface="Georgia" pitchFamily="34" charset="-122"/>
                <a:cs typeface="Georgia" pitchFamily="34" charset="-120"/>
              </a:rPr>
              <a:t>ANTERIOR PITUITARY</a:t>
            </a:r>
            <a:endParaRPr lang="en-US" sz="1200" dirty="0"/>
          </a:p>
        </p:txBody>
      </p:sp>
      <p:sp>
        <p:nvSpPr>
          <p:cNvPr id="15" name="Text 13"/>
          <p:cNvSpPr/>
          <p:nvPr/>
        </p:nvSpPr>
        <p:spPr>
          <a:xfrm>
            <a:off x="7132320" y="3657600"/>
            <a:ext cx="35661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releases TSH</a:t>
            </a:r>
            <a:endParaRPr lang="en-US" sz="1000" dirty="0"/>
          </a:p>
        </p:txBody>
      </p:sp>
      <p:sp>
        <p:nvSpPr>
          <p:cNvPr id="16" name="Shape 14"/>
          <p:cNvSpPr/>
          <p:nvPr/>
        </p:nvSpPr>
        <p:spPr>
          <a:xfrm>
            <a:off x="7132320" y="4206240"/>
            <a:ext cx="3566160" cy="777240"/>
          </a:xfrm>
          <a:prstGeom prst="roundRect">
            <a:avLst>
              <a:gd name="adj" fmla="val 11765"/>
            </a:avLst>
          </a:prstGeom>
          <a:solidFill>
            <a:srgbClr val="FFFFFF"/>
          </a:solidFill>
          <a:ln w="12700">
            <a:solidFill>
              <a:srgbClr val="0F4C5C"/>
            </a:solidFill>
            <a:prstDash val="solid"/>
          </a:ln>
        </p:spPr>
      </p:sp>
      <p:sp>
        <p:nvSpPr>
          <p:cNvPr id="17" name="Text 15"/>
          <p:cNvSpPr/>
          <p:nvPr/>
        </p:nvSpPr>
        <p:spPr>
          <a:xfrm>
            <a:off x="7132320" y="4297680"/>
            <a:ext cx="3566160" cy="320040"/>
          </a:xfrm>
          <a:prstGeom prst="rect">
            <a:avLst/>
          </a:prstGeom>
          <a:noFill/>
          <a:ln/>
        </p:spPr>
        <p:txBody>
          <a:bodyPr wrap="square" lIns="0" tIns="0" rIns="0" bIns="0" rtlCol="0" anchor="ctr"/>
          <a:lstStyle/>
          <a:p>
            <a:pPr algn="ctr" indent="0" marL="0">
              <a:buNone/>
            </a:pPr>
            <a:r>
              <a:rPr lang="en-US" sz="1200" b="1" dirty="0">
                <a:solidFill>
                  <a:srgbClr val="0F4C5C"/>
                </a:solidFill>
                <a:latin typeface="Georgia" pitchFamily="34" charset="0"/>
                <a:ea typeface="Georgia" pitchFamily="34" charset="-122"/>
                <a:cs typeface="Georgia" pitchFamily="34" charset="-120"/>
              </a:rPr>
              <a:t>THYROID GLAND</a:t>
            </a:r>
            <a:endParaRPr lang="en-US" sz="1200" dirty="0"/>
          </a:p>
        </p:txBody>
      </p:sp>
      <p:sp>
        <p:nvSpPr>
          <p:cNvPr id="18" name="Text 16"/>
          <p:cNvSpPr/>
          <p:nvPr/>
        </p:nvSpPr>
        <p:spPr>
          <a:xfrm>
            <a:off x="7132320" y="4617720"/>
            <a:ext cx="35661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releases T3 &amp; T4</a:t>
            </a:r>
            <a:endParaRPr lang="en-US" sz="1000" dirty="0"/>
          </a:p>
        </p:txBody>
      </p:sp>
      <p:sp>
        <p:nvSpPr>
          <p:cNvPr id="19" name="Shape 17"/>
          <p:cNvSpPr/>
          <p:nvPr/>
        </p:nvSpPr>
        <p:spPr>
          <a:xfrm>
            <a:off x="7132320" y="5166360"/>
            <a:ext cx="3566160" cy="777240"/>
          </a:xfrm>
          <a:prstGeom prst="roundRect">
            <a:avLst>
              <a:gd name="adj" fmla="val 11765"/>
            </a:avLst>
          </a:prstGeom>
          <a:solidFill>
            <a:srgbClr val="FFFFFF"/>
          </a:solidFill>
          <a:ln w="12700">
            <a:solidFill>
              <a:srgbClr val="0F4C5C"/>
            </a:solidFill>
            <a:prstDash val="solid"/>
          </a:ln>
        </p:spPr>
      </p:sp>
      <p:sp>
        <p:nvSpPr>
          <p:cNvPr id="20" name="Text 18"/>
          <p:cNvSpPr/>
          <p:nvPr/>
        </p:nvSpPr>
        <p:spPr>
          <a:xfrm>
            <a:off x="7132320" y="5257800"/>
            <a:ext cx="3566160" cy="320040"/>
          </a:xfrm>
          <a:prstGeom prst="rect">
            <a:avLst/>
          </a:prstGeom>
          <a:noFill/>
          <a:ln/>
        </p:spPr>
        <p:txBody>
          <a:bodyPr wrap="square" lIns="0" tIns="0" rIns="0" bIns="0" rtlCol="0" anchor="ctr"/>
          <a:lstStyle/>
          <a:p>
            <a:pPr algn="ctr" indent="0" marL="0">
              <a:buNone/>
            </a:pPr>
            <a:r>
              <a:rPr lang="en-US" sz="1200" b="1" dirty="0">
                <a:solidFill>
                  <a:srgbClr val="0F4C5C"/>
                </a:solidFill>
                <a:latin typeface="Georgia" pitchFamily="34" charset="0"/>
                <a:ea typeface="Georgia" pitchFamily="34" charset="-122"/>
                <a:cs typeface="Georgia" pitchFamily="34" charset="-120"/>
              </a:rPr>
              <a:t>TARGET CELLS</a:t>
            </a:r>
            <a:endParaRPr lang="en-US" sz="1200" dirty="0"/>
          </a:p>
        </p:txBody>
      </p:sp>
      <p:sp>
        <p:nvSpPr>
          <p:cNvPr id="21" name="Text 19"/>
          <p:cNvSpPr/>
          <p:nvPr/>
        </p:nvSpPr>
        <p:spPr>
          <a:xfrm>
            <a:off x="7132320" y="5577840"/>
            <a:ext cx="3566160" cy="320040"/>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 metabolism, energy</a:t>
            </a:r>
            <a:endParaRPr lang="en-US" sz="1000" dirty="0"/>
          </a:p>
        </p:txBody>
      </p:sp>
      <p:sp>
        <p:nvSpPr>
          <p:cNvPr id="22" name="Shape 20"/>
          <p:cNvSpPr/>
          <p:nvPr/>
        </p:nvSpPr>
        <p:spPr>
          <a:xfrm>
            <a:off x="8686800" y="3063240"/>
            <a:ext cx="457200" cy="182880"/>
          </a:xfrm>
          <a:prstGeom prst="downArrow">
            <a:avLst/>
          </a:prstGeom>
          <a:solidFill>
            <a:srgbClr val="E36414"/>
          </a:solidFill>
          <a:ln w="12700">
            <a:solidFill>
              <a:srgbClr val="E36414"/>
            </a:solidFill>
            <a:prstDash val="solid"/>
          </a:ln>
        </p:spPr>
      </p:sp>
      <p:sp>
        <p:nvSpPr>
          <p:cNvPr id="23" name="Shape 21"/>
          <p:cNvSpPr/>
          <p:nvPr/>
        </p:nvSpPr>
        <p:spPr>
          <a:xfrm>
            <a:off x="8686800" y="4023360"/>
            <a:ext cx="457200" cy="182880"/>
          </a:xfrm>
          <a:prstGeom prst="downArrow">
            <a:avLst/>
          </a:prstGeom>
          <a:solidFill>
            <a:srgbClr val="E36414"/>
          </a:solidFill>
          <a:ln w="12700">
            <a:solidFill>
              <a:srgbClr val="E36414"/>
            </a:solidFill>
            <a:prstDash val="solid"/>
          </a:ln>
        </p:spPr>
      </p:sp>
      <p:sp>
        <p:nvSpPr>
          <p:cNvPr id="24" name="Shape 22"/>
          <p:cNvSpPr/>
          <p:nvPr/>
        </p:nvSpPr>
        <p:spPr>
          <a:xfrm>
            <a:off x="8686800" y="4983480"/>
            <a:ext cx="457200" cy="182880"/>
          </a:xfrm>
          <a:prstGeom prst="downArrow">
            <a:avLst/>
          </a:prstGeom>
          <a:solidFill>
            <a:srgbClr val="E36414"/>
          </a:solidFill>
          <a:ln w="12700">
            <a:solidFill>
              <a:srgbClr val="E36414"/>
            </a:solidFill>
            <a:prstDash val="solid"/>
          </a:ln>
        </p:spPr>
      </p:sp>
      <p:sp>
        <p:nvSpPr>
          <p:cNvPr id="25" name="Text 2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6" name="Text 2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Parathyroid Hormone (PTH)</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The calcium-raising hormone from 4 glands behind the thyroid</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737360"/>
            <a:ext cx="411480" cy="411480"/>
          </a:xfrm>
          <a:prstGeom prst="rect">
            <a:avLst/>
          </a:prstGeom>
        </p:spPr>
      </p:pic>
      <p:sp>
        <p:nvSpPr>
          <p:cNvPr id="7" name="Text 4"/>
          <p:cNvSpPr/>
          <p:nvPr/>
        </p:nvSpPr>
        <p:spPr>
          <a:xfrm>
            <a:off x="1417320" y="1719072"/>
            <a:ext cx="4572000" cy="457200"/>
          </a:xfrm>
          <a:prstGeom prst="rect">
            <a:avLst/>
          </a:prstGeom>
          <a:noFill/>
          <a:ln/>
        </p:spPr>
        <p:txBody>
          <a:bodyPr wrap="square" lIns="0" tIns="0" rIns="0" bIns="0" rtlCol="0" anchor="ctr"/>
          <a:lstStyle/>
          <a:p>
            <a:pPr indent="0" marL="0">
              <a:buNone/>
            </a:pPr>
            <a:r>
              <a:rPr lang="en-US" sz="1800" b="1" dirty="0">
                <a:solidFill>
                  <a:srgbClr val="0F4C5C"/>
                </a:solidFill>
                <a:latin typeface="Georgia" pitchFamily="34" charset="0"/>
                <a:ea typeface="Georgia" pitchFamily="34" charset="-122"/>
                <a:cs typeface="Georgia" pitchFamily="34" charset="-120"/>
              </a:rPr>
              <a:t>PTH — Function</a:t>
            </a:r>
            <a:endParaRPr lang="en-US" sz="1800" dirty="0"/>
          </a:p>
        </p:txBody>
      </p:sp>
      <p:sp>
        <p:nvSpPr>
          <p:cNvPr id="8" name="Text 5"/>
          <p:cNvSpPr/>
          <p:nvPr/>
        </p:nvSpPr>
        <p:spPr>
          <a:xfrm>
            <a:off x="914400" y="2377440"/>
            <a:ext cx="4937760" cy="34747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Secreted by the 4 parathyroid glands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Located posterior to the thyroid gland</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Pulls calcium out of bones → into blood</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Increases serum calcium (↑ Ca²⁺)</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Also ↑ renal reabsorption of calcium</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Activates Vitamin D for gut Ca²⁺ absorption</a:t>
            </a:r>
            <a:endParaRPr lang="en-US" sz="1300" dirty="0"/>
          </a:p>
        </p:txBody>
      </p:sp>
      <p:sp>
        <p:nvSpPr>
          <p:cNvPr id="9" name="Shape 6"/>
          <p:cNvSpPr/>
          <p:nvPr/>
        </p:nvSpPr>
        <p:spPr>
          <a:xfrm>
            <a:off x="6355080" y="1554480"/>
            <a:ext cx="5074920" cy="4572000"/>
          </a:xfrm>
          <a:prstGeom prst="rect">
            <a:avLst/>
          </a:prstGeom>
          <a:solidFill>
            <a:srgbClr val="E0F2FE"/>
          </a:solidFill>
          <a:ln w="12700">
            <a:solidFill>
              <a:srgbClr val="0F4C5C"/>
            </a:solidFill>
            <a:prstDash val="solid"/>
          </a:ln>
          <a:effectLst>
            <a:outerShdw sx="100000" sy="100000" kx="0" ky="0" algn="bl" rotWithShape="0" blurRad="127000" dist="25400" dir="5400000">
              <a:srgbClr val="000000">
                <a:alpha val="8000"/>
              </a:srgbClr>
            </a:outerShdw>
          </a:effectLst>
        </p:spPr>
      </p:sp>
      <p:sp>
        <p:nvSpPr>
          <p:cNvPr id="10" name="Text 7"/>
          <p:cNvSpPr/>
          <p:nvPr/>
        </p:nvSpPr>
        <p:spPr>
          <a:xfrm>
            <a:off x="6492240" y="1691640"/>
            <a:ext cx="4754880" cy="411480"/>
          </a:xfrm>
          <a:prstGeom prst="rect">
            <a:avLst/>
          </a:prstGeom>
          <a:noFill/>
          <a:ln/>
        </p:spPr>
        <p:txBody>
          <a:bodyPr wrap="square" lIns="0" tIns="0" rIns="0" bIns="0" rtlCol="0" anchor="ctr"/>
          <a:lstStyle/>
          <a:p>
            <a:pPr algn="ctr" indent="0" marL="0">
              <a:buNone/>
            </a:pPr>
            <a:r>
              <a:rPr lang="en-US" sz="1500" b="1" dirty="0">
                <a:solidFill>
                  <a:srgbClr val="0F4C5C"/>
                </a:solidFill>
                <a:latin typeface="Georgia" pitchFamily="34" charset="0"/>
                <a:ea typeface="Georgia" pitchFamily="34" charset="-122"/>
                <a:cs typeface="Georgia" pitchFamily="34" charset="-120"/>
              </a:rPr>
              <a:t>Inverse Relationship: Ca²⁺ ↔ Phos</a:t>
            </a:r>
            <a:endParaRPr lang="en-US" sz="1500" dirty="0"/>
          </a:p>
        </p:txBody>
      </p:sp>
      <p:sp>
        <p:nvSpPr>
          <p:cNvPr id="11" name="Shape 8"/>
          <p:cNvSpPr/>
          <p:nvPr/>
        </p:nvSpPr>
        <p:spPr>
          <a:xfrm>
            <a:off x="6583680" y="2560320"/>
            <a:ext cx="2011680" cy="1097280"/>
          </a:xfrm>
          <a:prstGeom prst="roundRect">
            <a:avLst>
              <a:gd name="adj" fmla="val 8333"/>
            </a:avLst>
          </a:prstGeom>
          <a:solidFill>
            <a:srgbClr val="D1FAE5"/>
          </a:solidFill>
          <a:ln w="19050">
            <a:solidFill>
              <a:srgbClr val="059669"/>
            </a:solidFill>
            <a:prstDash val="solid"/>
          </a:ln>
        </p:spPr>
      </p:sp>
      <p:sp>
        <p:nvSpPr>
          <p:cNvPr id="12" name="Text 9"/>
          <p:cNvSpPr/>
          <p:nvPr/>
        </p:nvSpPr>
        <p:spPr>
          <a:xfrm>
            <a:off x="6583680" y="2606040"/>
            <a:ext cx="2011680" cy="457200"/>
          </a:xfrm>
          <a:prstGeom prst="rect">
            <a:avLst/>
          </a:prstGeom>
          <a:noFill/>
          <a:ln/>
        </p:spPr>
        <p:txBody>
          <a:bodyPr wrap="square" lIns="0" tIns="0" rIns="0" bIns="0" rtlCol="0" anchor="ctr"/>
          <a:lstStyle/>
          <a:p>
            <a:pPr algn="ctr" indent="0" marL="0">
              <a:buNone/>
            </a:pPr>
            <a:r>
              <a:rPr lang="en-US" sz="2200" b="1" dirty="0">
                <a:solidFill>
                  <a:srgbClr val="059669"/>
                </a:solidFill>
                <a:latin typeface="Georgia" pitchFamily="34" charset="0"/>
                <a:ea typeface="Georgia" pitchFamily="34" charset="-122"/>
                <a:cs typeface="Georgia" pitchFamily="34" charset="-120"/>
              </a:rPr>
              <a:t>Ca²⁺ ↑</a:t>
            </a:r>
            <a:endParaRPr lang="en-US" sz="2200" dirty="0"/>
          </a:p>
        </p:txBody>
      </p:sp>
      <p:sp>
        <p:nvSpPr>
          <p:cNvPr id="13" name="Text 10"/>
          <p:cNvSpPr/>
          <p:nvPr/>
        </p:nvSpPr>
        <p:spPr>
          <a:xfrm>
            <a:off x="6583680" y="3063240"/>
            <a:ext cx="2011680" cy="457200"/>
          </a:xfrm>
          <a:prstGeom prst="rect">
            <a:avLst/>
          </a:prstGeom>
          <a:noFill/>
          <a:ln/>
        </p:spPr>
        <p:txBody>
          <a:bodyPr wrap="square" lIns="0" tIns="0" rIns="0" bIns="0" rtlCol="0" anchor="ctr"/>
          <a:lstStyle/>
          <a:p>
            <a:pPr algn="ctr" indent="0" marL="0">
              <a:buNone/>
            </a:pPr>
            <a:r>
              <a:rPr lang="en-US" sz="1200" i="1" dirty="0">
                <a:solidFill>
                  <a:srgbClr val="1E293B"/>
                </a:solidFill>
                <a:latin typeface="Calibri" pitchFamily="34" charset="0"/>
                <a:ea typeface="Calibri" pitchFamily="34" charset="-122"/>
                <a:cs typeface="Calibri" pitchFamily="34" charset="-120"/>
              </a:rPr>
              <a:t>Calcium rises</a:t>
            </a:r>
            <a:endParaRPr lang="en-US" sz="1200" dirty="0"/>
          </a:p>
        </p:txBody>
      </p:sp>
      <p:sp>
        <p:nvSpPr>
          <p:cNvPr id="14" name="Shape 11"/>
          <p:cNvSpPr/>
          <p:nvPr/>
        </p:nvSpPr>
        <p:spPr>
          <a:xfrm>
            <a:off x="9144000" y="4206240"/>
            <a:ext cx="2011680" cy="1097280"/>
          </a:xfrm>
          <a:prstGeom prst="roundRect">
            <a:avLst>
              <a:gd name="adj" fmla="val 8333"/>
            </a:avLst>
          </a:prstGeom>
          <a:solidFill>
            <a:srgbClr val="FEE2E2"/>
          </a:solidFill>
          <a:ln w="19050">
            <a:solidFill>
              <a:srgbClr val="DC2626"/>
            </a:solidFill>
            <a:prstDash val="solid"/>
          </a:ln>
        </p:spPr>
      </p:sp>
      <p:sp>
        <p:nvSpPr>
          <p:cNvPr id="15" name="Text 12"/>
          <p:cNvSpPr/>
          <p:nvPr/>
        </p:nvSpPr>
        <p:spPr>
          <a:xfrm>
            <a:off x="9144000" y="4251960"/>
            <a:ext cx="2011680" cy="457200"/>
          </a:xfrm>
          <a:prstGeom prst="rect">
            <a:avLst/>
          </a:prstGeom>
          <a:noFill/>
          <a:ln/>
        </p:spPr>
        <p:txBody>
          <a:bodyPr wrap="square" lIns="0" tIns="0" rIns="0" bIns="0" rtlCol="0" anchor="ctr"/>
          <a:lstStyle/>
          <a:p>
            <a:pPr algn="ctr" indent="0" marL="0">
              <a:buNone/>
            </a:pPr>
            <a:r>
              <a:rPr lang="en-US" sz="2200" b="1" dirty="0">
                <a:solidFill>
                  <a:srgbClr val="DC2626"/>
                </a:solidFill>
                <a:latin typeface="Georgia" pitchFamily="34" charset="0"/>
                <a:ea typeface="Georgia" pitchFamily="34" charset="-122"/>
                <a:cs typeface="Georgia" pitchFamily="34" charset="-120"/>
              </a:rPr>
              <a:t>P ↓</a:t>
            </a:r>
            <a:endParaRPr lang="en-US" sz="2200" dirty="0"/>
          </a:p>
        </p:txBody>
      </p:sp>
      <p:sp>
        <p:nvSpPr>
          <p:cNvPr id="16" name="Text 13"/>
          <p:cNvSpPr/>
          <p:nvPr/>
        </p:nvSpPr>
        <p:spPr>
          <a:xfrm>
            <a:off x="9144000" y="4709160"/>
            <a:ext cx="2011680" cy="457200"/>
          </a:xfrm>
          <a:prstGeom prst="rect">
            <a:avLst/>
          </a:prstGeom>
          <a:noFill/>
          <a:ln/>
        </p:spPr>
        <p:txBody>
          <a:bodyPr wrap="square" lIns="0" tIns="0" rIns="0" bIns="0" rtlCol="0" anchor="ctr"/>
          <a:lstStyle/>
          <a:p>
            <a:pPr algn="ctr" indent="0" marL="0">
              <a:buNone/>
            </a:pPr>
            <a:r>
              <a:rPr lang="en-US" sz="1200" i="1" dirty="0">
                <a:solidFill>
                  <a:srgbClr val="1E293B"/>
                </a:solidFill>
                <a:latin typeface="Calibri" pitchFamily="34" charset="0"/>
                <a:ea typeface="Calibri" pitchFamily="34" charset="-122"/>
                <a:cs typeface="Calibri" pitchFamily="34" charset="-120"/>
              </a:rPr>
              <a:t>Phosphorus falls</a:t>
            </a:r>
            <a:endParaRPr lang="en-US" sz="1200" dirty="0"/>
          </a:p>
        </p:txBody>
      </p:sp>
      <p:sp>
        <p:nvSpPr>
          <p:cNvPr id="17" name="Text 14"/>
          <p:cNvSpPr/>
          <p:nvPr/>
        </p:nvSpPr>
        <p:spPr>
          <a:xfrm>
            <a:off x="6492240" y="5577840"/>
            <a:ext cx="4846320" cy="457200"/>
          </a:xfrm>
          <a:prstGeom prst="rect">
            <a:avLst/>
          </a:prstGeom>
          <a:noFill/>
          <a:ln/>
        </p:spPr>
        <p:txBody>
          <a:bodyPr wrap="square" lIns="0" tIns="0" rIns="0" bIns="0"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Calcium and phosphorus move in</a:t>
            </a:r>
            <a:endParaRPr lang="en-US" sz="1100" dirty="0"/>
          </a:p>
          <a:p>
            <a:pPr algn="ctr" indent="0" marL="0">
              <a:buNone/>
            </a:pPr>
            <a:r>
              <a:rPr lang="en-US" sz="1100" i="1" dirty="0">
                <a:solidFill>
                  <a:srgbClr val="475569"/>
                </a:solidFill>
                <a:latin typeface="Calibri" pitchFamily="34" charset="0"/>
                <a:ea typeface="Calibri" pitchFamily="34" charset="-122"/>
                <a:cs typeface="Calibri" pitchFamily="34" charset="-120"/>
              </a:rPr>
              <a:t>opposite directions — see-saw relationship.</a:t>
            </a:r>
            <a:endParaRPr lang="en-US" sz="1100" dirty="0"/>
          </a:p>
        </p:txBody>
      </p:sp>
      <p:sp>
        <p:nvSpPr>
          <p:cNvPr id="18" name="Text 1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9" name="Text 1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Calcitonin — The Opposite of PTH</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Thyroid hormone that lowers serum calcium</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737360"/>
            <a:ext cx="411480" cy="411480"/>
          </a:xfrm>
          <a:prstGeom prst="rect">
            <a:avLst/>
          </a:prstGeom>
        </p:spPr>
      </p:pic>
      <p:sp>
        <p:nvSpPr>
          <p:cNvPr id="7" name="Text 4"/>
          <p:cNvSpPr/>
          <p:nvPr/>
        </p:nvSpPr>
        <p:spPr>
          <a:xfrm>
            <a:off x="1417320" y="1719072"/>
            <a:ext cx="4572000" cy="457200"/>
          </a:xfrm>
          <a:prstGeom prst="rect">
            <a:avLst/>
          </a:prstGeom>
          <a:noFill/>
          <a:ln/>
        </p:spPr>
        <p:txBody>
          <a:bodyPr wrap="square" lIns="0" tIns="0" rIns="0" bIns="0" rtlCol="0" anchor="ctr"/>
          <a:lstStyle/>
          <a:p>
            <a:pPr indent="0" marL="0">
              <a:buNone/>
            </a:pPr>
            <a:r>
              <a:rPr lang="en-US" sz="1800" b="1" dirty="0">
                <a:solidFill>
                  <a:srgbClr val="0F4C5C"/>
                </a:solidFill>
                <a:latin typeface="Georgia" pitchFamily="34" charset="0"/>
                <a:ea typeface="Georgia" pitchFamily="34" charset="-122"/>
                <a:cs typeface="Georgia" pitchFamily="34" charset="-120"/>
              </a:rPr>
              <a:t>Calcitonin</a:t>
            </a:r>
            <a:endParaRPr lang="en-US" sz="1800" dirty="0"/>
          </a:p>
        </p:txBody>
      </p:sp>
      <p:sp>
        <p:nvSpPr>
          <p:cNvPr id="8" name="Text 5"/>
          <p:cNvSpPr/>
          <p:nvPr/>
        </p:nvSpPr>
        <p:spPr>
          <a:xfrm>
            <a:off x="914400" y="2377440"/>
            <a:ext cx="4937760" cy="34747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Produced by the THYROID gland (parafollicular C cells)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Released when serum calcium is HIGH</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Inhibits osteoclasts → bones stop releasing calcium</a:t>
            </a:r>
            <a:endParaRPr lang="en-US" sz="1300" dirty="0"/>
          </a:p>
          <a:p>
            <a:pPr marL="342900" indent="-342900">
              <a:spcAft>
                <a:spcPts val="600"/>
              </a:spcAft>
              <a:buSzPct val="100000"/>
              <a:buChar char="•"/>
            </a:pPr>
            <a:r>
              <a:rPr lang="en-US" sz="1300" b="1" dirty="0">
                <a:solidFill>
                  <a:srgbClr val="DC2626"/>
                </a:solidFill>
                <a:latin typeface="Calibri" pitchFamily="34" charset="0"/>
                <a:ea typeface="Calibri" pitchFamily="34" charset="-122"/>
                <a:cs typeface="Calibri" pitchFamily="34" charset="-120"/>
              </a:rPr>
              <a:t>LOWERS serum calcium</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Protects the body against hypercalcemia</a:t>
            </a:r>
            <a:endParaRPr lang="en-US" sz="1300" dirty="0"/>
          </a:p>
        </p:txBody>
      </p:sp>
      <p:sp>
        <p:nvSpPr>
          <p:cNvPr id="9" name="Shape 6"/>
          <p:cNvSpPr/>
          <p:nvPr/>
        </p:nvSpPr>
        <p:spPr>
          <a:xfrm>
            <a:off x="6355080" y="1554480"/>
            <a:ext cx="5074920" cy="4572000"/>
          </a:xfrm>
          <a:prstGeom prst="rect">
            <a:avLst/>
          </a:prstGeom>
          <a:solidFill>
            <a:srgbClr val="FEF3C7"/>
          </a:solidFill>
          <a:ln w="12700">
            <a:solidFill>
              <a:srgbClr val="E36414"/>
            </a:solidFill>
            <a:prstDash val="solid"/>
          </a:ln>
          <a:effectLst>
            <a:outerShdw sx="100000" sy="100000" kx="0" ky="0" algn="bl" rotWithShape="0" blurRad="127000" dist="25400" dir="5400000">
              <a:srgbClr val="000000">
                <a:alpha val="8000"/>
              </a:srgbClr>
            </a:outerShdw>
          </a:effectLst>
        </p:spPr>
      </p:sp>
      <p:sp>
        <p:nvSpPr>
          <p:cNvPr id="10" name="Text 7"/>
          <p:cNvSpPr/>
          <p:nvPr/>
        </p:nvSpPr>
        <p:spPr>
          <a:xfrm>
            <a:off x="6492240" y="1737360"/>
            <a:ext cx="4754880" cy="411480"/>
          </a:xfrm>
          <a:prstGeom prst="rect">
            <a:avLst/>
          </a:prstGeom>
          <a:noFill/>
          <a:ln/>
        </p:spPr>
        <p:txBody>
          <a:bodyPr wrap="square" lIns="0" tIns="0" rIns="0" bIns="0" rtlCol="0" anchor="ctr"/>
          <a:lstStyle/>
          <a:p>
            <a:pPr algn="ctr" indent="0" marL="0">
              <a:buNone/>
            </a:pPr>
            <a:r>
              <a:rPr lang="en-US" sz="1500" b="1" dirty="0">
                <a:solidFill>
                  <a:srgbClr val="E36414"/>
                </a:solidFill>
                <a:latin typeface="Georgia" pitchFamily="34" charset="0"/>
                <a:ea typeface="Georgia" pitchFamily="34" charset="-122"/>
                <a:cs typeface="Georgia" pitchFamily="34" charset="-120"/>
              </a:rPr>
              <a:t>Quick Compare: PTH vs. Calcitonin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92240" y="2286000"/>
          <a:ext cx="4754880" cy="914400"/>
        </p:xfrm>
        <a:graphic>
          <a:graphicData uri="http://schemas.openxmlformats.org/drawingml/2006/table">
            <a:tbl>
              <a:tblPr/>
              <a:tblGrid>
                <a:gridCol w="1554480"/>
                <a:gridCol w="1600200"/>
                <a:gridCol w="160020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3641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PTH</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3641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Calcitonin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36414"/>
                    </a:solidFill>
                  </a:tcPr>
                </a:tc>
              </a:tr>
              <a:tr h="45720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Parathyroid</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Thyroid</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Serum Ca²⁺</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b="1" dirty="0">
                          <a:solidFill>
                            <a:srgbClr val="059669"/>
                          </a:solidFill>
                          <a:latin typeface="Calibri" pitchFamily="34" charset="0"/>
                          <a:ea typeface="Calibri" pitchFamily="34" charset="-122"/>
                          <a:cs typeface="Calibri" pitchFamily="34" charset="-120"/>
                        </a:rPr>
                        <a:t>↑ RAISES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b="1" dirty="0">
                          <a:solidFill>
                            <a:srgbClr val="DC2626"/>
                          </a:solidFill>
                          <a:latin typeface="Calibri" pitchFamily="34" charset="0"/>
                          <a:ea typeface="Calibri" pitchFamily="34" charset="-122"/>
                          <a:cs typeface="Calibri" pitchFamily="34" charset="-120"/>
                        </a:rPr>
                        <a:t>↓ LOWERS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Bones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Break down</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Protect</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Trigger</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Low Ca²⁺</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High Ca²⁺</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2" name="Text 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3" name="Text 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Insulin</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The 'key' that unlocks cells for glucose</a:t>
            </a:r>
            <a:endParaRPr lang="en-US" sz="1400" dirty="0"/>
          </a:p>
        </p:txBody>
      </p:sp>
      <p:sp>
        <p:nvSpPr>
          <p:cNvPr id="5" name="Shape 3"/>
          <p:cNvSpPr/>
          <p:nvPr/>
        </p:nvSpPr>
        <p:spPr>
          <a:xfrm>
            <a:off x="731520" y="1554480"/>
            <a:ext cx="548640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737360"/>
            <a:ext cx="411480" cy="411480"/>
          </a:xfrm>
          <a:prstGeom prst="rect">
            <a:avLst/>
          </a:prstGeom>
        </p:spPr>
      </p:pic>
      <p:sp>
        <p:nvSpPr>
          <p:cNvPr id="7" name="Text 4"/>
          <p:cNvSpPr/>
          <p:nvPr/>
        </p:nvSpPr>
        <p:spPr>
          <a:xfrm>
            <a:off x="1417320" y="1719072"/>
            <a:ext cx="4572000" cy="457200"/>
          </a:xfrm>
          <a:prstGeom prst="rect">
            <a:avLst/>
          </a:prstGeom>
          <a:noFill/>
          <a:ln/>
        </p:spPr>
        <p:txBody>
          <a:bodyPr wrap="square" lIns="0" tIns="0" rIns="0" bIns="0" rtlCol="0" anchor="ctr"/>
          <a:lstStyle/>
          <a:p>
            <a:pPr indent="0" marL="0">
              <a:buNone/>
            </a:pPr>
            <a:r>
              <a:rPr lang="en-US" sz="1800" b="1" dirty="0">
                <a:solidFill>
                  <a:srgbClr val="0F4C5C"/>
                </a:solidFill>
                <a:latin typeface="Georgia" pitchFamily="34" charset="0"/>
                <a:ea typeface="Georgia" pitchFamily="34" charset="-122"/>
                <a:cs typeface="Georgia" pitchFamily="34" charset="-120"/>
              </a:rPr>
              <a:t>Insulin — Physiology</a:t>
            </a:r>
            <a:endParaRPr lang="en-US" sz="1800" dirty="0"/>
          </a:p>
        </p:txBody>
      </p:sp>
      <p:sp>
        <p:nvSpPr>
          <p:cNvPr id="8" name="Text 5"/>
          <p:cNvSpPr/>
          <p:nvPr/>
        </p:nvSpPr>
        <p:spPr>
          <a:xfrm>
            <a:off x="914400" y="2377440"/>
            <a:ext cx="5029200" cy="356616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Produced by β-cells (islets of Langerhans) in the pancreas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Anabolic hormone — storage &amp; building</a:t>
            </a:r>
            <a:endParaRPr lang="en-US" sz="1300" dirty="0"/>
          </a:p>
          <a:p>
            <a:pPr marL="342900" indent="-342900">
              <a:spcAft>
                <a:spcPts val="600"/>
              </a:spcAft>
              <a:buSzPct val="100000"/>
              <a:buChar char="•"/>
            </a:pPr>
            <a:r>
              <a:rPr lang="en-US" sz="1300" b="1" dirty="0">
                <a:solidFill>
                  <a:srgbClr val="E36414"/>
                </a:solidFill>
                <a:latin typeface="Calibri" pitchFamily="34" charset="0"/>
                <a:ea typeface="Calibri" pitchFamily="34" charset="-122"/>
                <a:cs typeface="Calibri" pitchFamily="34" charset="-120"/>
              </a:rPr>
              <a:t>Acts as the 'KEY' that unlocks the cell</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Moves glucose from blood → cells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Allows cells to use glucose for fuel</a:t>
            </a:r>
            <a:endParaRPr lang="en-US" sz="1300" dirty="0"/>
          </a:p>
          <a:p>
            <a:pPr marL="342900" indent="-342900">
              <a:spcAft>
                <a:spcPts val="600"/>
              </a:spcAft>
              <a:buSzPct val="100000"/>
              <a:buChar char="•"/>
            </a:pPr>
            <a:r>
              <a:rPr lang="en-US" sz="1300" b="1" dirty="0">
                <a:solidFill>
                  <a:srgbClr val="0F4C5C"/>
                </a:solidFill>
                <a:latin typeface="Calibri" pitchFamily="34" charset="0"/>
                <a:ea typeface="Calibri" pitchFamily="34" charset="-122"/>
                <a:cs typeface="Calibri" pitchFamily="34" charset="-120"/>
              </a:rPr>
              <a:t>Normal fasting blood glucose: 70–110 mg/dL</a:t>
            </a:r>
            <a:endParaRPr lang="en-US" sz="1300" dirty="0"/>
          </a:p>
        </p:txBody>
      </p:sp>
      <p:sp>
        <p:nvSpPr>
          <p:cNvPr id="9" name="Shape 6"/>
          <p:cNvSpPr/>
          <p:nvPr/>
        </p:nvSpPr>
        <p:spPr>
          <a:xfrm>
            <a:off x="6400800" y="1554480"/>
            <a:ext cx="5029200" cy="4572000"/>
          </a:xfrm>
          <a:prstGeom prst="rect">
            <a:avLst/>
          </a:prstGeom>
          <a:solidFill>
            <a:srgbClr val="E0F2FE"/>
          </a:solidFill>
          <a:ln w="12700">
            <a:solidFill>
              <a:srgbClr val="0F4C5C"/>
            </a:solidFill>
            <a:prstDash val="solid"/>
          </a:ln>
          <a:effectLst>
            <a:outerShdw sx="100000" sy="100000" kx="0" ky="0" algn="bl" rotWithShape="0" blurRad="127000" dist="25400" dir="5400000">
              <a:srgbClr val="000000">
                <a:alpha val="8000"/>
              </a:srgbClr>
            </a:outerShdw>
          </a:effectLst>
        </p:spPr>
      </p:sp>
      <p:sp>
        <p:nvSpPr>
          <p:cNvPr id="10" name="Text 7"/>
          <p:cNvSpPr/>
          <p:nvPr/>
        </p:nvSpPr>
        <p:spPr>
          <a:xfrm>
            <a:off x="6492240" y="1691640"/>
            <a:ext cx="4846320" cy="411480"/>
          </a:xfrm>
          <a:prstGeom prst="rect">
            <a:avLst/>
          </a:prstGeom>
          <a:noFill/>
          <a:ln/>
        </p:spPr>
        <p:txBody>
          <a:bodyPr wrap="square" lIns="0" tIns="0" rIns="0" bIns="0" rtlCol="0" anchor="ctr"/>
          <a:lstStyle/>
          <a:p>
            <a:pPr algn="ctr" indent="0" marL="0">
              <a:buNone/>
            </a:pPr>
            <a:r>
              <a:rPr lang="en-US" sz="1500" b="1" dirty="0">
                <a:solidFill>
                  <a:srgbClr val="0F4C5C"/>
                </a:solidFill>
                <a:latin typeface="Georgia" pitchFamily="34" charset="0"/>
                <a:ea typeface="Georgia" pitchFamily="34" charset="-122"/>
                <a:cs typeface="Georgia" pitchFamily="34" charset="-120"/>
              </a:rPr>
              <a:t>The Lock &amp; Key Model</a:t>
            </a:r>
            <a:endParaRPr lang="en-US" sz="1500" dirty="0"/>
          </a:p>
        </p:txBody>
      </p:sp>
      <p:sp>
        <p:nvSpPr>
          <p:cNvPr id="11" name="Shape 8"/>
          <p:cNvSpPr/>
          <p:nvPr/>
        </p:nvSpPr>
        <p:spPr>
          <a:xfrm>
            <a:off x="7498080" y="3200400"/>
            <a:ext cx="2834640" cy="2834640"/>
          </a:xfrm>
          <a:prstGeom prst="ellipse">
            <a:avLst/>
          </a:prstGeom>
          <a:solidFill>
            <a:srgbClr val="FFFFFF"/>
          </a:solidFill>
          <a:ln w="25400">
            <a:solidFill>
              <a:srgbClr val="0F4C5C"/>
            </a:solidFill>
            <a:prstDash val="solid"/>
          </a:ln>
        </p:spPr>
      </p:sp>
      <p:sp>
        <p:nvSpPr>
          <p:cNvPr id="12" name="Text 9"/>
          <p:cNvSpPr/>
          <p:nvPr/>
        </p:nvSpPr>
        <p:spPr>
          <a:xfrm>
            <a:off x="7498080" y="4297680"/>
            <a:ext cx="2834640" cy="548640"/>
          </a:xfrm>
          <a:prstGeom prst="rect">
            <a:avLst/>
          </a:prstGeom>
          <a:noFill/>
          <a:ln/>
        </p:spPr>
        <p:txBody>
          <a:bodyPr wrap="square" lIns="0" tIns="0" rIns="0" bIns="0" rtlCol="0" anchor="ctr"/>
          <a:lstStyle/>
          <a:p>
            <a:pPr algn="ctr" indent="0" marL="0">
              <a:buNone/>
            </a:pPr>
            <a:r>
              <a:rPr lang="en-US" sz="2000" b="1" dirty="0">
                <a:solidFill>
                  <a:srgbClr val="0F4C5C"/>
                </a:solidFill>
                <a:latin typeface="Georgia" pitchFamily="34" charset="0"/>
                <a:ea typeface="Georgia" pitchFamily="34" charset="-122"/>
                <a:cs typeface="Georgia" pitchFamily="34" charset="-120"/>
              </a:rPr>
              <a:t>CELL</a:t>
            </a:r>
            <a:endParaRPr lang="en-US" sz="2000" dirty="0"/>
          </a:p>
        </p:txBody>
      </p:sp>
      <p:sp>
        <p:nvSpPr>
          <p:cNvPr id="13" name="Shape 10"/>
          <p:cNvSpPr/>
          <p:nvPr/>
        </p:nvSpPr>
        <p:spPr>
          <a:xfrm>
            <a:off x="7223760" y="4206240"/>
            <a:ext cx="640080" cy="640080"/>
          </a:xfrm>
          <a:prstGeom prst="ellipse">
            <a:avLst/>
          </a:prstGeom>
          <a:solidFill>
            <a:srgbClr val="DC2626"/>
          </a:solidFill>
          <a:ln w="12700">
            <a:solidFill>
              <a:srgbClr val="DC2626"/>
            </a:solidFill>
            <a:prstDash val="solid"/>
          </a:ln>
        </p:spPr>
      </p:sp>
      <p:pic>
        <p:nvPicPr>
          <p:cNvPr id="14" name="Image 1" descr="preencoded.png">    </p:cNvPr>
          <p:cNvPicPr>
            <a:picLocks noChangeAspect="1"/>
          </p:cNvPicPr>
          <p:nvPr/>
        </p:nvPicPr>
        <p:blipFill>
          <a:blip r:embed="rId2"/>
          <a:stretch>
            <a:fillRect/>
          </a:stretch>
        </p:blipFill>
        <p:spPr>
          <a:xfrm>
            <a:off x="7360920" y="4343400"/>
            <a:ext cx="365760" cy="365760"/>
          </a:xfrm>
          <a:prstGeom prst="rect">
            <a:avLst/>
          </a:prstGeom>
        </p:spPr>
      </p:pic>
      <p:sp>
        <p:nvSpPr>
          <p:cNvPr id="15" name="Shape 11"/>
          <p:cNvSpPr/>
          <p:nvPr/>
        </p:nvSpPr>
        <p:spPr>
          <a:xfrm>
            <a:off x="9966960" y="4206240"/>
            <a:ext cx="640080" cy="640080"/>
          </a:xfrm>
          <a:prstGeom prst="ellipse">
            <a:avLst/>
          </a:prstGeom>
          <a:solidFill>
            <a:srgbClr val="155E75"/>
          </a:solidFill>
          <a:ln w="12700">
            <a:solidFill>
              <a:srgbClr val="155E75"/>
            </a:solidFill>
            <a:prstDash val="solid"/>
          </a:ln>
        </p:spPr>
      </p:sp>
      <p:pic>
        <p:nvPicPr>
          <p:cNvPr id="16" name="Image 2" descr="preencoded.png">    </p:cNvPr>
          <p:cNvPicPr>
            <a:picLocks noChangeAspect="1"/>
          </p:cNvPicPr>
          <p:nvPr/>
        </p:nvPicPr>
        <p:blipFill>
          <a:blip r:embed="rId3"/>
          <a:stretch>
            <a:fillRect/>
          </a:stretch>
        </p:blipFill>
        <p:spPr>
          <a:xfrm>
            <a:off x="10104120" y="4343400"/>
            <a:ext cx="365760" cy="365760"/>
          </a:xfrm>
          <a:prstGeom prst="rect">
            <a:avLst/>
          </a:prstGeom>
        </p:spPr>
      </p:pic>
      <p:sp>
        <p:nvSpPr>
          <p:cNvPr id="17" name="Text 12"/>
          <p:cNvSpPr/>
          <p:nvPr/>
        </p:nvSpPr>
        <p:spPr>
          <a:xfrm>
            <a:off x="6492240" y="2560320"/>
            <a:ext cx="1828800" cy="548640"/>
          </a:xfrm>
          <a:prstGeom prst="rect">
            <a:avLst/>
          </a:prstGeom>
          <a:noFill/>
          <a:ln/>
        </p:spPr>
        <p:txBody>
          <a:bodyPr wrap="square" lIns="0" tIns="0" rIns="0" bIns="0" rtlCol="0" anchor="ctr"/>
          <a:lstStyle/>
          <a:p>
            <a:pPr algn="ctr" indent="0" marL="0">
              <a:buNone/>
            </a:pPr>
            <a:r>
              <a:rPr lang="en-US" sz="1100" b="1" dirty="0">
                <a:solidFill>
                  <a:srgbClr val="DC2626"/>
                </a:solidFill>
                <a:latin typeface="Calibri" pitchFamily="34" charset="0"/>
                <a:ea typeface="Calibri" pitchFamily="34" charset="-122"/>
                <a:cs typeface="Calibri" pitchFamily="34" charset="-120"/>
              </a:rPr>
              <a:t>Insulin Receptor</a:t>
            </a:r>
            <a:endParaRPr lang="en-US" sz="1100" dirty="0"/>
          </a:p>
          <a:p>
            <a:pPr algn="ctr" indent="0" marL="0">
              <a:buNone/>
            </a:pPr>
            <a:r>
              <a:rPr lang="en-US" sz="1100" b="1" dirty="0">
                <a:solidFill>
                  <a:srgbClr val="DC2626"/>
                </a:solidFill>
                <a:latin typeface="Calibri" pitchFamily="34" charset="0"/>
                <a:ea typeface="Calibri" pitchFamily="34" charset="-122"/>
                <a:cs typeface="Calibri" pitchFamily="34" charset="-120"/>
              </a:rPr>
              <a:t>(lock)</a:t>
            </a:r>
            <a:endParaRPr lang="en-US" sz="1100" dirty="0"/>
          </a:p>
        </p:txBody>
      </p:sp>
      <p:sp>
        <p:nvSpPr>
          <p:cNvPr id="18" name="Text 13"/>
          <p:cNvSpPr/>
          <p:nvPr/>
        </p:nvSpPr>
        <p:spPr>
          <a:xfrm>
            <a:off x="9509760" y="2560320"/>
            <a:ext cx="1828800" cy="548640"/>
          </a:xfrm>
          <a:prstGeom prst="rect">
            <a:avLst/>
          </a:prstGeom>
          <a:noFill/>
          <a:ln/>
        </p:spPr>
        <p:txBody>
          <a:bodyPr wrap="square" lIns="0" tIns="0" rIns="0" bIns="0" rtlCol="0" anchor="ctr"/>
          <a:lstStyle/>
          <a:p>
            <a:pPr algn="ctr" indent="0" marL="0">
              <a:buNone/>
            </a:pPr>
            <a:r>
              <a:rPr lang="en-US" sz="1100" b="1" dirty="0">
                <a:solidFill>
                  <a:srgbClr val="0F4C5C"/>
                </a:solidFill>
                <a:latin typeface="Calibri" pitchFamily="34" charset="0"/>
                <a:ea typeface="Calibri" pitchFamily="34" charset="-122"/>
                <a:cs typeface="Calibri" pitchFamily="34" charset="-120"/>
              </a:rPr>
              <a:t>Glucose Channel</a:t>
            </a:r>
            <a:endParaRPr lang="en-US" sz="1100" dirty="0"/>
          </a:p>
          <a:p>
            <a:pPr algn="ctr" indent="0" marL="0">
              <a:buNone/>
            </a:pPr>
            <a:r>
              <a:rPr lang="en-US" sz="1100" b="1" dirty="0">
                <a:solidFill>
                  <a:srgbClr val="0F4C5C"/>
                </a:solidFill>
                <a:latin typeface="Calibri" pitchFamily="34" charset="0"/>
                <a:ea typeface="Calibri" pitchFamily="34" charset="-122"/>
                <a:cs typeface="Calibri" pitchFamily="34" charset="-120"/>
              </a:rPr>
              <a:t>(door)</a:t>
            </a:r>
            <a:endParaRPr lang="en-US" sz="1100" dirty="0"/>
          </a:p>
        </p:txBody>
      </p:sp>
      <p:sp>
        <p:nvSpPr>
          <p:cNvPr id="19" name="Text 14"/>
          <p:cNvSpPr/>
          <p:nvPr/>
        </p:nvSpPr>
        <p:spPr>
          <a:xfrm>
            <a:off x="6492240" y="5943600"/>
            <a:ext cx="4846320" cy="320040"/>
          </a:xfrm>
          <a:prstGeom prst="rect">
            <a:avLst/>
          </a:prstGeom>
          <a:noFill/>
          <a:ln/>
        </p:spPr>
        <p:txBody>
          <a:bodyPr wrap="square" lIns="0" tIns="0" rIns="0" bIns="0" rtlCol="0" anchor="ctr"/>
          <a:lstStyle/>
          <a:p>
            <a:pPr algn="ctr" indent="0" marL="0">
              <a:buNone/>
            </a:pPr>
            <a:r>
              <a:rPr lang="en-US" sz="1300" b="1" i="1" dirty="0">
                <a:solidFill>
                  <a:srgbClr val="E36414"/>
                </a:solidFill>
                <a:latin typeface="Calibri" pitchFamily="34" charset="0"/>
                <a:ea typeface="Calibri" pitchFamily="34" charset="-122"/>
                <a:cs typeface="Calibri" pitchFamily="34" charset="-120"/>
              </a:rPr>
              <a:t>Insulin = the key  🔑</a:t>
            </a:r>
            <a:endParaRPr lang="en-US" sz="1300" dirty="0"/>
          </a:p>
        </p:txBody>
      </p:sp>
      <p:sp>
        <p:nvSpPr>
          <p:cNvPr id="20" name="Text 1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1" name="Text 1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Glucagon</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Insulin's counter-regulatory partner — raises blood glucose</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737360"/>
            <a:ext cx="411480" cy="411480"/>
          </a:xfrm>
          <a:prstGeom prst="rect">
            <a:avLst/>
          </a:prstGeom>
        </p:spPr>
      </p:pic>
      <p:sp>
        <p:nvSpPr>
          <p:cNvPr id="7" name="Text 4"/>
          <p:cNvSpPr/>
          <p:nvPr/>
        </p:nvSpPr>
        <p:spPr>
          <a:xfrm>
            <a:off x="1417320" y="1719072"/>
            <a:ext cx="4572000" cy="457200"/>
          </a:xfrm>
          <a:prstGeom prst="rect">
            <a:avLst/>
          </a:prstGeom>
          <a:noFill/>
          <a:ln/>
        </p:spPr>
        <p:txBody>
          <a:bodyPr wrap="square" lIns="0" tIns="0" rIns="0" bIns="0" rtlCol="0" anchor="ctr"/>
          <a:lstStyle/>
          <a:p>
            <a:pPr indent="0" marL="0">
              <a:buNone/>
            </a:pPr>
            <a:r>
              <a:rPr lang="en-US" sz="1800" b="1" dirty="0">
                <a:solidFill>
                  <a:srgbClr val="E36414"/>
                </a:solidFill>
                <a:latin typeface="Georgia" pitchFamily="34" charset="0"/>
                <a:ea typeface="Georgia" pitchFamily="34" charset="-122"/>
                <a:cs typeface="Georgia" pitchFamily="34" charset="-120"/>
              </a:rPr>
              <a:t>Glucagon — Physiology</a:t>
            </a:r>
            <a:endParaRPr lang="en-US" sz="1800" dirty="0"/>
          </a:p>
        </p:txBody>
      </p:sp>
      <p:sp>
        <p:nvSpPr>
          <p:cNvPr id="8" name="Text 5"/>
          <p:cNvSpPr/>
          <p:nvPr/>
        </p:nvSpPr>
        <p:spPr>
          <a:xfrm>
            <a:off x="914400" y="2377440"/>
            <a:ext cx="4937760" cy="356616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Produced by α-cells of the pancreas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Catabolic hormone — breaks down stored nutrients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Triggers glycogenolysis in the liver</a:t>
            </a:r>
            <a:endParaRPr lang="en-US" sz="1300" dirty="0"/>
          </a:p>
          <a:p>
            <a:pPr lvl="1" marL="6858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Stored glycogen → glucose</a:t>
            </a:r>
            <a:endParaRPr lang="en-US" sz="1300" dirty="0"/>
          </a:p>
          <a:p>
            <a:pPr lvl="1" marL="6858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Glucose is released into the blood</a:t>
            </a:r>
            <a:endParaRPr lang="en-US" sz="1300" dirty="0"/>
          </a:p>
          <a:p>
            <a:pPr marL="342900" indent="-342900">
              <a:spcAft>
                <a:spcPts val="600"/>
              </a:spcAft>
              <a:buSzPct val="100000"/>
              <a:buChar char="•"/>
            </a:pPr>
            <a:r>
              <a:rPr lang="en-US" sz="1300" b="1" dirty="0">
                <a:solidFill>
                  <a:srgbClr val="DC2626"/>
                </a:solidFill>
                <a:latin typeface="Calibri" pitchFamily="34" charset="0"/>
                <a:ea typeface="Calibri" pitchFamily="34" charset="-122"/>
                <a:cs typeface="Calibri" pitchFamily="34" charset="-120"/>
              </a:rPr>
              <a:t>Released when blood glucose is LOW</a:t>
            </a:r>
            <a:endParaRPr lang="en-US" sz="1300" dirty="0"/>
          </a:p>
        </p:txBody>
      </p:sp>
      <p:sp>
        <p:nvSpPr>
          <p:cNvPr id="9" name="Shape 6"/>
          <p:cNvSpPr/>
          <p:nvPr/>
        </p:nvSpPr>
        <p:spPr>
          <a:xfrm>
            <a:off x="6355080" y="1554480"/>
            <a:ext cx="5074920" cy="4572000"/>
          </a:xfrm>
          <a:prstGeom prst="rect">
            <a:avLst/>
          </a:prstGeom>
          <a:solidFill>
            <a:srgbClr val="FEF3C7"/>
          </a:solidFill>
          <a:ln w="12700">
            <a:solidFill>
              <a:srgbClr val="E36414"/>
            </a:solidFill>
            <a:prstDash val="solid"/>
          </a:ln>
          <a:effectLst>
            <a:outerShdw sx="100000" sy="100000" kx="0" ky="0" algn="bl" rotWithShape="0" blurRad="127000" dist="25400" dir="5400000">
              <a:srgbClr val="000000">
                <a:alpha val="8000"/>
              </a:srgbClr>
            </a:outerShdw>
          </a:effectLst>
        </p:spPr>
      </p:sp>
      <p:sp>
        <p:nvSpPr>
          <p:cNvPr id="10" name="Text 7"/>
          <p:cNvSpPr/>
          <p:nvPr/>
        </p:nvSpPr>
        <p:spPr>
          <a:xfrm>
            <a:off x="6492240" y="1737360"/>
            <a:ext cx="4754880" cy="411480"/>
          </a:xfrm>
          <a:prstGeom prst="rect">
            <a:avLst/>
          </a:prstGeom>
          <a:noFill/>
          <a:ln/>
        </p:spPr>
        <p:txBody>
          <a:bodyPr wrap="square" lIns="0" tIns="0" rIns="0" bIns="0" rtlCol="0" anchor="ctr"/>
          <a:lstStyle/>
          <a:p>
            <a:pPr algn="ctr" indent="0" marL="0">
              <a:buNone/>
            </a:pPr>
            <a:r>
              <a:rPr lang="en-US" sz="1600" b="1" dirty="0">
                <a:solidFill>
                  <a:srgbClr val="E36414"/>
                </a:solidFill>
                <a:latin typeface="Georgia" pitchFamily="34" charset="0"/>
                <a:ea typeface="Georgia" pitchFamily="34" charset="-122"/>
                <a:cs typeface="Georgia" pitchFamily="34" charset="-120"/>
              </a:rPr>
              <a:t>Insulin vs. Glucagon</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92240" y="2286000"/>
          <a:ext cx="4754880" cy="914400"/>
        </p:xfrm>
        <a:graphic>
          <a:graphicData uri="http://schemas.openxmlformats.org/drawingml/2006/table">
            <a:tbl>
              <a:tblPr/>
              <a:tblGrid>
                <a:gridCol w="1645920"/>
                <a:gridCol w="1554480"/>
                <a:gridCol w="1554480"/>
              </a:tblGrid>
              <a:tr h="502920">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Insulin</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Glucagon</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36414"/>
                    </a:solidFill>
                  </a:tcPr>
                </a:tc>
              </a:tr>
              <a:tr h="5029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Cell</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β-cell</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α-cell</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Anabolic</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Catabolic</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Blood Glucose</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b="1" dirty="0">
                          <a:solidFill>
                            <a:srgbClr val="DC2626"/>
                          </a:solidFill>
                          <a:latin typeface="Calibri" pitchFamily="34" charset="0"/>
                          <a:ea typeface="Calibri" pitchFamily="34" charset="-122"/>
                          <a:cs typeface="Calibri" pitchFamily="34" charset="-120"/>
                        </a:rPr>
                        <a:t>↓ LOWERS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b="1" dirty="0">
                          <a:solidFill>
                            <a:srgbClr val="059669"/>
                          </a:solidFill>
                          <a:latin typeface="Calibri" pitchFamily="34" charset="0"/>
                          <a:ea typeface="Calibri" pitchFamily="34" charset="-122"/>
                          <a:cs typeface="Calibri" pitchFamily="34" charset="-120"/>
                        </a:rPr>
                        <a:t>↑ RAISES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Trigger</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High BG</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Low BG</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2" name="Text 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3" name="Text 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619695" y="0"/>
            <a:ext cx="4572000" cy="6858000"/>
          </a:xfrm>
          <a:prstGeom prst="rect">
            <a:avLst/>
          </a:prstGeom>
          <a:solidFill>
            <a:srgbClr val="0F4C5C"/>
          </a:solidFill>
          <a:ln w="12700">
            <a:solidFill>
              <a:srgbClr val="0F4C5C"/>
            </a:solidFill>
            <a:prstDash val="solid"/>
          </a:ln>
        </p:spPr>
      </p:sp>
      <p:sp>
        <p:nvSpPr>
          <p:cNvPr id="3" name="Text 1"/>
          <p:cNvSpPr/>
          <p:nvPr/>
        </p:nvSpPr>
        <p:spPr>
          <a:xfrm>
            <a:off x="731520" y="2560320"/>
            <a:ext cx="6400800" cy="457200"/>
          </a:xfrm>
          <a:prstGeom prst="rect">
            <a:avLst/>
          </a:prstGeom>
          <a:noFill/>
          <a:ln/>
        </p:spPr>
        <p:txBody>
          <a:bodyPr wrap="square" lIns="0" tIns="0" rIns="0" bIns="0" rtlCol="0" anchor="ctr"/>
          <a:lstStyle/>
          <a:p>
            <a:pPr indent="0" marL="0">
              <a:buNone/>
            </a:pPr>
            <a:r>
              <a:rPr lang="en-US" sz="1800" b="1" spc="1000" kern="0" dirty="0">
                <a:solidFill>
                  <a:srgbClr val="E36414"/>
                </a:solidFill>
                <a:latin typeface="Calibri" pitchFamily="34" charset="0"/>
                <a:ea typeface="Calibri" pitchFamily="34" charset="-122"/>
                <a:cs typeface="Calibri" pitchFamily="34" charset="-120"/>
              </a:rPr>
              <a:t>PART II</a:t>
            </a:r>
            <a:endParaRPr lang="en-US" sz="1800" dirty="0"/>
          </a:p>
        </p:txBody>
      </p:sp>
      <p:sp>
        <p:nvSpPr>
          <p:cNvPr id="4" name="Shape 2"/>
          <p:cNvSpPr/>
          <p:nvPr/>
        </p:nvSpPr>
        <p:spPr>
          <a:xfrm>
            <a:off x="731520" y="2971800"/>
            <a:ext cx="731520" cy="45720"/>
          </a:xfrm>
          <a:prstGeom prst="rect">
            <a:avLst/>
          </a:prstGeom>
          <a:solidFill>
            <a:srgbClr val="E36414"/>
          </a:solidFill>
          <a:ln w="12700">
            <a:solidFill>
              <a:srgbClr val="E36414"/>
            </a:solidFill>
            <a:prstDash val="solid"/>
          </a:ln>
        </p:spPr>
      </p:sp>
      <p:sp>
        <p:nvSpPr>
          <p:cNvPr id="5" name="Text 3"/>
          <p:cNvSpPr/>
          <p:nvPr/>
        </p:nvSpPr>
        <p:spPr>
          <a:xfrm>
            <a:off x="731520" y="3108960"/>
            <a:ext cx="6858000" cy="822960"/>
          </a:xfrm>
          <a:prstGeom prst="rect">
            <a:avLst/>
          </a:prstGeom>
          <a:noFill/>
          <a:ln/>
        </p:spPr>
        <p:txBody>
          <a:bodyPr wrap="square" lIns="0" tIns="0" rIns="0" bIns="0" rtlCol="0" anchor="ctr"/>
          <a:lstStyle/>
          <a:p>
            <a:pPr indent="0" marL="0">
              <a:buNone/>
            </a:pPr>
            <a:r>
              <a:rPr lang="en-US" sz="5200" b="1" dirty="0">
                <a:solidFill>
                  <a:srgbClr val="0F4C5C"/>
                </a:solidFill>
                <a:latin typeface="Georgia" pitchFamily="34" charset="0"/>
                <a:ea typeface="Georgia" pitchFamily="34" charset="-122"/>
                <a:cs typeface="Georgia" pitchFamily="34" charset="-120"/>
              </a:rPr>
              <a:t>Endocrine</a:t>
            </a:r>
            <a:endParaRPr lang="en-US" sz="5200" dirty="0"/>
          </a:p>
        </p:txBody>
      </p:sp>
      <p:sp>
        <p:nvSpPr>
          <p:cNvPr id="6" name="Text 4"/>
          <p:cNvSpPr/>
          <p:nvPr/>
        </p:nvSpPr>
        <p:spPr>
          <a:xfrm>
            <a:off x="731520" y="3931920"/>
            <a:ext cx="7315200" cy="822960"/>
          </a:xfrm>
          <a:prstGeom prst="rect">
            <a:avLst/>
          </a:prstGeom>
          <a:noFill/>
          <a:ln/>
        </p:spPr>
        <p:txBody>
          <a:bodyPr wrap="square" lIns="0" tIns="0" rIns="0" bIns="0" rtlCol="0" anchor="ctr"/>
          <a:lstStyle/>
          <a:p>
            <a:pPr indent="0" marL="0">
              <a:buNone/>
            </a:pPr>
            <a:r>
              <a:rPr lang="en-US" sz="4200" b="1" i="1" dirty="0">
                <a:solidFill>
                  <a:srgbClr val="1E293B"/>
                </a:solidFill>
                <a:latin typeface="Georgia" pitchFamily="34" charset="0"/>
                <a:ea typeface="Georgia" pitchFamily="34" charset="-122"/>
                <a:cs typeface="Georgia" pitchFamily="34" charset="-120"/>
              </a:rPr>
              <a:t>Disorders &amp; Medications</a:t>
            </a:r>
            <a:endParaRPr lang="en-US" sz="4200" dirty="0"/>
          </a:p>
        </p:txBody>
      </p:sp>
      <p:sp>
        <p:nvSpPr>
          <p:cNvPr id="7" name="Text 5"/>
          <p:cNvSpPr/>
          <p:nvPr/>
        </p:nvSpPr>
        <p:spPr>
          <a:xfrm>
            <a:off x="731520" y="4937760"/>
            <a:ext cx="6858000" cy="73152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Each disorder paired with its NCLEX-relevant pharmacology</a:t>
            </a:r>
            <a:endParaRPr lang="en-US" sz="1400" dirty="0"/>
          </a:p>
          <a:p>
            <a:pPr indent="0" marL="0">
              <a:buNone/>
            </a:pPr>
            <a:r>
              <a:rPr lang="en-US" sz="1400" i="1" dirty="0">
                <a:solidFill>
                  <a:srgbClr val="475569"/>
                </a:solidFill>
                <a:latin typeface="Calibri" pitchFamily="34" charset="0"/>
                <a:ea typeface="Calibri" pitchFamily="34" charset="-122"/>
                <a:cs typeface="Calibri" pitchFamily="34" charset="-120"/>
              </a:rPr>
              <a:t>— reference: Saunders Comprehensive Review for NCLEX-RN®</a:t>
            </a:r>
            <a:endParaRPr lang="en-US" sz="1400" dirty="0"/>
          </a:p>
        </p:txBody>
      </p:sp>
      <p:sp>
        <p:nvSpPr>
          <p:cNvPr id="8" name="Shape 6"/>
          <p:cNvSpPr/>
          <p:nvPr/>
        </p:nvSpPr>
        <p:spPr>
          <a:xfrm>
            <a:off x="8534095" y="1097280"/>
            <a:ext cx="1188720" cy="1188720"/>
          </a:xfrm>
          <a:prstGeom prst="ellipse">
            <a:avLst/>
          </a:prstGeom>
          <a:solidFill>
            <a:srgbClr val="FFFFFF"/>
          </a:solidFill>
          <a:ln w="25400">
            <a:solidFill>
              <a:srgbClr val="E36414"/>
            </a:solidFill>
            <a:prstDash val="solid"/>
          </a:ln>
        </p:spPr>
      </p:sp>
      <p:pic>
        <p:nvPicPr>
          <p:cNvPr id="9" name="Image 0" descr="preencoded.png">    </p:cNvPr>
          <p:cNvPicPr>
            <a:picLocks noChangeAspect="1"/>
          </p:cNvPicPr>
          <p:nvPr/>
        </p:nvPicPr>
        <p:blipFill>
          <a:blip r:embed="rId1"/>
          <a:stretch>
            <a:fillRect/>
          </a:stretch>
        </p:blipFill>
        <p:spPr>
          <a:xfrm>
            <a:off x="8808415" y="1371600"/>
            <a:ext cx="640080" cy="640080"/>
          </a:xfrm>
          <a:prstGeom prst="rect">
            <a:avLst/>
          </a:prstGeom>
        </p:spPr>
      </p:pic>
      <p:sp>
        <p:nvSpPr>
          <p:cNvPr id="10" name="Shape 7"/>
          <p:cNvSpPr/>
          <p:nvPr/>
        </p:nvSpPr>
        <p:spPr>
          <a:xfrm>
            <a:off x="10362895" y="2011680"/>
            <a:ext cx="1188720" cy="1188720"/>
          </a:xfrm>
          <a:prstGeom prst="ellipse">
            <a:avLst/>
          </a:prstGeom>
          <a:solidFill>
            <a:srgbClr val="FFFFFF"/>
          </a:solidFill>
          <a:ln w="25400">
            <a:solidFill>
              <a:srgbClr val="E36414"/>
            </a:solidFill>
            <a:prstDash val="solid"/>
          </a:ln>
        </p:spPr>
      </p:sp>
      <p:pic>
        <p:nvPicPr>
          <p:cNvPr id="11" name="Image 1" descr="preencoded.png">    </p:cNvPr>
          <p:cNvPicPr>
            <a:picLocks noChangeAspect="1"/>
          </p:cNvPicPr>
          <p:nvPr/>
        </p:nvPicPr>
        <p:blipFill>
          <a:blip r:embed="rId2"/>
          <a:stretch>
            <a:fillRect/>
          </a:stretch>
        </p:blipFill>
        <p:spPr>
          <a:xfrm>
            <a:off x="10637215" y="2286000"/>
            <a:ext cx="640080" cy="640080"/>
          </a:xfrm>
          <a:prstGeom prst="rect">
            <a:avLst/>
          </a:prstGeom>
        </p:spPr>
      </p:pic>
      <p:sp>
        <p:nvSpPr>
          <p:cNvPr id="12" name="Shape 8"/>
          <p:cNvSpPr/>
          <p:nvPr/>
        </p:nvSpPr>
        <p:spPr>
          <a:xfrm>
            <a:off x="8991295" y="3474720"/>
            <a:ext cx="1188720" cy="1188720"/>
          </a:xfrm>
          <a:prstGeom prst="ellipse">
            <a:avLst/>
          </a:prstGeom>
          <a:solidFill>
            <a:srgbClr val="FFFFFF"/>
          </a:solidFill>
          <a:ln w="25400">
            <a:solidFill>
              <a:srgbClr val="E36414"/>
            </a:solidFill>
            <a:prstDash val="solid"/>
          </a:ln>
        </p:spPr>
      </p:sp>
      <p:pic>
        <p:nvPicPr>
          <p:cNvPr id="13" name="Image 2" descr="preencoded.png">    </p:cNvPr>
          <p:cNvPicPr>
            <a:picLocks noChangeAspect="1"/>
          </p:cNvPicPr>
          <p:nvPr/>
        </p:nvPicPr>
        <p:blipFill>
          <a:blip r:embed="rId3"/>
          <a:stretch>
            <a:fillRect/>
          </a:stretch>
        </p:blipFill>
        <p:spPr>
          <a:xfrm>
            <a:off x="9265615" y="3749040"/>
            <a:ext cx="640080" cy="640080"/>
          </a:xfrm>
          <a:prstGeom prst="rect">
            <a:avLst/>
          </a:prstGeom>
        </p:spPr>
      </p:pic>
      <p:sp>
        <p:nvSpPr>
          <p:cNvPr id="14" name="Shape 9"/>
          <p:cNvSpPr/>
          <p:nvPr/>
        </p:nvSpPr>
        <p:spPr>
          <a:xfrm>
            <a:off x="10728655" y="4206240"/>
            <a:ext cx="1188720" cy="1188720"/>
          </a:xfrm>
          <a:prstGeom prst="ellipse">
            <a:avLst/>
          </a:prstGeom>
          <a:solidFill>
            <a:srgbClr val="FFFFFF"/>
          </a:solidFill>
          <a:ln w="25400">
            <a:solidFill>
              <a:srgbClr val="E36414"/>
            </a:solidFill>
            <a:prstDash val="solid"/>
          </a:ln>
        </p:spPr>
      </p:sp>
      <p:pic>
        <p:nvPicPr>
          <p:cNvPr id="15" name="Image 3" descr="preencoded.png">    </p:cNvPr>
          <p:cNvPicPr>
            <a:picLocks noChangeAspect="1"/>
          </p:cNvPicPr>
          <p:nvPr/>
        </p:nvPicPr>
        <p:blipFill>
          <a:blip r:embed="rId4"/>
          <a:stretch>
            <a:fillRect/>
          </a:stretch>
        </p:blipFill>
        <p:spPr>
          <a:xfrm>
            <a:off x="11002975" y="4480560"/>
            <a:ext cx="640080" cy="640080"/>
          </a:xfrm>
          <a:prstGeom prst="rect">
            <a:avLst/>
          </a:prstGeom>
        </p:spPr>
      </p:pic>
      <p:sp>
        <p:nvSpPr>
          <p:cNvPr id="16" name="Shape 10"/>
          <p:cNvSpPr/>
          <p:nvPr/>
        </p:nvSpPr>
        <p:spPr>
          <a:xfrm>
            <a:off x="8351215" y="5029200"/>
            <a:ext cx="1188720" cy="1188720"/>
          </a:xfrm>
          <a:prstGeom prst="ellipse">
            <a:avLst/>
          </a:prstGeom>
          <a:solidFill>
            <a:srgbClr val="FFFFFF"/>
          </a:solidFill>
          <a:ln w="25400">
            <a:solidFill>
              <a:srgbClr val="E36414"/>
            </a:solidFill>
            <a:prstDash val="solid"/>
          </a:ln>
        </p:spPr>
      </p:sp>
      <p:pic>
        <p:nvPicPr>
          <p:cNvPr id="17" name="Image 4" descr="preencoded.png">    </p:cNvPr>
          <p:cNvPicPr>
            <a:picLocks noChangeAspect="1"/>
          </p:cNvPicPr>
          <p:nvPr/>
        </p:nvPicPr>
        <p:blipFill>
          <a:blip r:embed="rId5"/>
          <a:stretch>
            <a:fillRect/>
          </a:stretch>
        </p:blipFill>
        <p:spPr>
          <a:xfrm>
            <a:off x="8625535" y="5303520"/>
            <a:ext cx="640080" cy="640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Hormone Imbalances at a Glance</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Too little vs. too much — a framework for every endocrine disease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3566160"/>
                <a:gridCol w="3566160"/>
                <a:gridCol w="3566160"/>
              </a:tblGrid>
              <a:tr h="5943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Hormone System</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Not Enough (Deficit)</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Too Much (Excess)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r>
              <a:tr h="59436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Adrenal Steroids</a:t>
                      </a:r>
                      <a:endParaRPr lang="en-US" sz="1200" dirty="0">
                        <a:latin typeface="Calibri" charset="0"/>
                        <a:ea typeface="Calibri" charset="0"/>
                        <a:cs typeface="Calibri" charset="0"/>
                      </a:endParaRPr>
                    </a:p>
                    <a:p>
                      <a:pPr algn="ctr" indent="0" marL="0">
                        <a:buNone/>
                      </a:pPr>
                      <a:r>
                        <a:rPr lang="en-US" sz="1200" b="1" dirty="0">
                          <a:solidFill>
                            <a:srgbClr val="1E293B"/>
                          </a:solidFill>
                          <a:latin typeface="Calibri" pitchFamily="34" charset="0"/>
                          <a:ea typeface="Calibri" pitchFamily="34" charset="-122"/>
                          <a:cs typeface="Calibri" pitchFamily="34" charset="-120"/>
                        </a:rPr>
                        <a:t>(cortisol + aldosterone)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Addison's Disease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Cushing's Disease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9436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Aldosterone (alone)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i="1" dirty="0">
                          <a:solidFill>
                            <a:srgbClr val="475569"/>
                          </a:solidFill>
                          <a:latin typeface="Calibri" pitchFamily="34" charset="0"/>
                          <a:ea typeface="Calibri" pitchFamily="34" charset="-122"/>
                          <a:cs typeface="Calibri" pitchFamily="34" charset="-120"/>
                        </a:rPr>
                        <a:t>(part of Addison's)</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Conn's Syndrome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9436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Catecholamines</a:t>
                      </a:r>
                      <a:endParaRPr lang="en-US" sz="1200" dirty="0">
                        <a:latin typeface="Calibri" charset="0"/>
                        <a:ea typeface="Calibri" charset="0"/>
                        <a:cs typeface="Calibri" charset="0"/>
                      </a:endParaRPr>
                    </a:p>
                    <a:p>
                      <a:pPr algn="ctr" indent="0" marL="0">
                        <a:buNone/>
                      </a:pPr>
                      <a:r>
                        <a:rPr lang="en-US" sz="1200" b="1" dirty="0">
                          <a:solidFill>
                            <a:srgbClr val="1E293B"/>
                          </a:solidFill>
                          <a:latin typeface="Calibri" pitchFamily="34" charset="0"/>
                          <a:ea typeface="Calibri" pitchFamily="34" charset="-122"/>
                          <a:cs typeface="Calibri" pitchFamily="34" charset="-120"/>
                        </a:rPr>
                        <a:t>(epi + norepi)</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47556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Pheochromocytoma</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9436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ADH (Vasopressin)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Diabetes Insipidus (DI)</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SIADH</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9436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Thyroid Hormone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Hypothyroidism</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Hyperthyroidism</a:t>
                      </a:r>
                      <a:endParaRPr lang="en-US" sz="1200" dirty="0">
                        <a:latin typeface="Calibri" charset="0"/>
                        <a:ea typeface="Calibri" charset="0"/>
                        <a:cs typeface="Calibri" charset="0"/>
                      </a:endParaRPr>
                    </a:p>
                    <a:p>
                      <a:pPr algn="ctr" indent="0" marL="0">
                        <a:buNone/>
                      </a:pPr>
                      <a:r>
                        <a:rPr lang="en-US" sz="1200" b="1" dirty="0">
                          <a:solidFill>
                            <a:srgbClr val="DC2626"/>
                          </a:solidFill>
                          <a:latin typeface="Calibri" pitchFamily="34" charset="0"/>
                          <a:ea typeface="Calibri" pitchFamily="34" charset="-122"/>
                          <a:cs typeface="Calibri" pitchFamily="34" charset="-120"/>
                        </a:rPr>
                        <a:t>(Graves' Disease)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9436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Parathyroid (PTH)</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Hypoparathyroidism</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Hyperparathyroidism</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9436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Insulin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Diabetes Mellitus</a:t>
                      </a:r>
                      <a:endParaRPr lang="en-US" sz="1200" dirty="0">
                        <a:latin typeface="Calibri" charset="0"/>
                        <a:ea typeface="Calibri" charset="0"/>
                        <a:cs typeface="Calibri" charset="0"/>
                      </a:endParaRPr>
                    </a:p>
                    <a:p>
                      <a:pPr algn="ctr" indent="0" marL="0">
                        <a:buNone/>
                      </a:pPr>
                      <a:r>
                        <a:rPr lang="en-US" sz="1200" b="1" dirty="0">
                          <a:solidFill>
                            <a:srgbClr val="DC2626"/>
                          </a:solidFill>
                          <a:latin typeface="Calibri" pitchFamily="34" charset="0"/>
                          <a:ea typeface="Calibri" pitchFamily="34" charset="-122"/>
                          <a:cs typeface="Calibri" pitchFamily="34" charset="-120"/>
                        </a:rPr>
                        <a:t>(Type 1 / Type 2)</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Hypoglycemia</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6" name="Text 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7" name="Text 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Addison's Disease</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Adrenocortical insufficiency — NOT enough steroids</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5349240" cy="73152"/>
          </a:xfrm>
          <a:prstGeom prst="rect">
            <a:avLst/>
          </a:prstGeom>
          <a:solidFill>
            <a:srgbClr val="DC2626"/>
          </a:solidFill>
          <a:ln w="12700">
            <a:solidFill>
              <a:srgbClr val="DC2626"/>
            </a:solidFill>
            <a:prstDash val="solid"/>
          </a:ln>
        </p:spPr>
      </p:sp>
      <p:pic>
        <p:nvPicPr>
          <p:cNvPr id="7" name="Image 0"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8" name="Text 5"/>
          <p:cNvSpPr/>
          <p:nvPr/>
        </p:nvSpPr>
        <p:spPr>
          <a:xfrm>
            <a:off x="1371600" y="1719072"/>
            <a:ext cx="4572000" cy="41148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Pathophysiology</a:t>
            </a:r>
            <a:endParaRPr lang="en-US" sz="1700" dirty="0"/>
          </a:p>
        </p:txBody>
      </p:sp>
      <p:sp>
        <p:nvSpPr>
          <p:cNvPr id="9" name="Text 6"/>
          <p:cNvSpPr/>
          <p:nvPr/>
        </p:nvSpPr>
        <p:spPr>
          <a:xfrm>
            <a:off x="914400" y="2286000"/>
            <a:ext cx="5029200" cy="365760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Adrenal cortex does NOT produce enough steroid hormones</a:t>
            </a:r>
            <a:endParaRPr lang="en-US" sz="1200" dirty="0"/>
          </a:p>
          <a:p>
            <a:pPr marL="342900" indent="-342900">
              <a:spcAft>
                <a:spcPts val="400"/>
              </a:spcAft>
              <a:buSzPct val="100000"/>
              <a:buChar char="•"/>
            </a:pPr>
            <a:r>
              <a:rPr lang="en-US" sz="1200" b="1" dirty="0">
                <a:solidFill>
                  <a:srgbClr val="1E293B"/>
                </a:solidFill>
                <a:latin typeface="Calibri" pitchFamily="34" charset="0"/>
                <a:ea typeface="Calibri" pitchFamily="34" charset="-122"/>
                <a:cs typeface="Calibri" pitchFamily="34" charset="-120"/>
              </a:rPr>
              <a:t>↓ Glucocorticoids (cortisol):</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Fatigue, weight loss, hypoglycemia, confusion</a:t>
            </a:r>
            <a:endParaRPr lang="en-US" sz="1200" dirty="0"/>
          </a:p>
          <a:p>
            <a:pPr marL="342900" indent="-342900">
              <a:spcAft>
                <a:spcPts val="400"/>
              </a:spcAft>
              <a:buSzPct val="100000"/>
              <a:buChar char="•"/>
            </a:pPr>
            <a:r>
              <a:rPr lang="en-US" sz="1200" b="1" dirty="0">
                <a:solidFill>
                  <a:srgbClr val="1E293B"/>
                </a:solidFill>
                <a:latin typeface="Calibri" pitchFamily="34" charset="0"/>
                <a:ea typeface="Calibri" pitchFamily="34" charset="-122"/>
                <a:cs typeface="Calibri" pitchFamily="34" charset="-120"/>
              </a:rPr>
              <a:t>↓ Mineralocorticoids (aldosterone):</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Loss of Na⁺ &amp; water → hyponatremia, FVD</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Retention of K⁺ → hyperkalemia</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Hypotension</a:t>
            </a:r>
            <a:endParaRPr lang="en-US" sz="1200" dirty="0"/>
          </a:p>
        </p:txBody>
      </p:sp>
      <p:sp>
        <p:nvSpPr>
          <p:cNvPr id="10" name="Shape 7"/>
          <p:cNvSpPr/>
          <p:nvPr/>
        </p:nvSpPr>
        <p:spPr>
          <a:xfrm>
            <a:off x="6355080" y="1554480"/>
            <a:ext cx="5074920" cy="4572000"/>
          </a:xfrm>
          <a:prstGeom prst="rect">
            <a:avLst/>
          </a:prstGeom>
          <a:solidFill>
            <a:srgbClr val="FEE2E2"/>
          </a:solidFill>
          <a:ln w="12700">
            <a:solidFill>
              <a:srgbClr val="DC2626"/>
            </a:solidFill>
            <a:prstDash val="solid"/>
          </a:ln>
          <a:effectLst>
            <a:outerShdw sx="100000" sy="100000" kx="0" ky="0" algn="bl" rotWithShape="0" blurRad="127000" dist="25400" dir="5400000">
              <a:srgbClr val="000000">
                <a:alpha val="8000"/>
              </a:srgbClr>
            </a:outerShdw>
          </a:effectLst>
        </p:spPr>
      </p:sp>
      <p:sp>
        <p:nvSpPr>
          <p:cNvPr id="11" name="Text 8"/>
          <p:cNvSpPr/>
          <p:nvPr/>
        </p:nvSpPr>
        <p:spPr>
          <a:xfrm>
            <a:off x="6492240" y="1737360"/>
            <a:ext cx="4754880" cy="411480"/>
          </a:xfrm>
          <a:prstGeom prst="rect">
            <a:avLst/>
          </a:prstGeom>
          <a:noFill/>
          <a:ln/>
        </p:spPr>
        <p:txBody>
          <a:bodyPr wrap="square" lIns="0" tIns="0" rIns="0" bIns="0" rtlCol="0" anchor="ctr"/>
          <a:lstStyle/>
          <a:p>
            <a:pPr indent="0" marL="0">
              <a:buNone/>
            </a:pPr>
            <a:r>
              <a:rPr lang="en-US" sz="1600" b="1" dirty="0">
                <a:solidFill>
                  <a:srgbClr val="DC2626"/>
                </a:solidFill>
                <a:latin typeface="Georgia" pitchFamily="34" charset="0"/>
                <a:ea typeface="Georgia" pitchFamily="34" charset="-122"/>
                <a:cs typeface="Georgia" pitchFamily="34" charset="-120"/>
              </a:rPr>
              <a:t>Classic Signs &amp; Symptoms</a:t>
            </a:r>
            <a:endParaRPr lang="en-US" sz="1600" dirty="0"/>
          </a:p>
        </p:txBody>
      </p:sp>
      <p:sp>
        <p:nvSpPr>
          <p:cNvPr id="12" name="Text 9"/>
          <p:cNvSpPr/>
          <p:nvPr/>
        </p:nvSpPr>
        <p:spPr>
          <a:xfrm>
            <a:off x="6537960" y="2286000"/>
            <a:ext cx="4754880" cy="3657600"/>
          </a:xfrm>
          <a:prstGeom prst="rect">
            <a:avLst/>
          </a:prstGeom>
          <a:noFill/>
          <a:ln/>
        </p:spPr>
        <p:txBody>
          <a:bodyPr wrap="square" rtlCol="0" anchor="ctr"/>
          <a:lstStyle/>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Bronze hyperpigmentation of skin</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Postural (orthostatic) hypotension</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Weakness, extreme fatigue</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Weight loss, anorexia</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GI disturbances (N/V, abdominal pain)</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Hypoglycemia</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Hair loss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Salt craving</a:t>
            </a:r>
            <a:endParaRPr lang="en-US" sz="1300" dirty="0"/>
          </a:p>
        </p:txBody>
      </p:sp>
      <p:sp>
        <p:nvSpPr>
          <p:cNvPr id="13" name="Text 10"/>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4" name="Text 11"/>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Addisonian Crisis &amp; Treatment</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Life-threatening steroid deficiency — think SHOCK</a:t>
            </a:r>
            <a:endParaRPr lang="en-US" sz="1400" dirty="0"/>
          </a:p>
        </p:txBody>
      </p:sp>
      <p:sp>
        <p:nvSpPr>
          <p:cNvPr id="5" name="Shape 3"/>
          <p:cNvSpPr/>
          <p:nvPr/>
        </p:nvSpPr>
        <p:spPr>
          <a:xfrm>
            <a:off x="731520" y="1417320"/>
            <a:ext cx="10698480" cy="2194560"/>
          </a:xfrm>
          <a:prstGeom prst="rect">
            <a:avLst/>
          </a:prstGeom>
          <a:solidFill>
            <a:srgbClr val="FEE2E2"/>
          </a:solidFill>
          <a:ln w="12700">
            <a:solidFill>
              <a:srgbClr val="DC2626"/>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554480"/>
            <a:ext cx="457200" cy="457200"/>
          </a:xfrm>
          <a:prstGeom prst="rect">
            <a:avLst/>
          </a:prstGeom>
        </p:spPr>
      </p:pic>
      <p:sp>
        <p:nvSpPr>
          <p:cNvPr id="7" name="Text 4"/>
          <p:cNvSpPr/>
          <p:nvPr/>
        </p:nvSpPr>
        <p:spPr>
          <a:xfrm>
            <a:off x="1508760" y="1554480"/>
            <a:ext cx="9601200" cy="457200"/>
          </a:xfrm>
          <a:prstGeom prst="rect">
            <a:avLst/>
          </a:prstGeom>
          <a:noFill/>
          <a:ln/>
        </p:spPr>
        <p:txBody>
          <a:bodyPr wrap="square" lIns="0" tIns="0" rIns="0" bIns="0" rtlCol="0" anchor="ctr"/>
          <a:lstStyle/>
          <a:p>
            <a:pPr indent="0" marL="0">
              <a:buNone/>
            </a:pPr>
            <a:r>
              <a:rPr lang="en-US" sz="1900" b="1" dirty="0">
                <a:solidFill>
                  <a:srgbClr val="DC2626"/>
                </a:solidFill>
                <a:latin typeface="Georgia" pitchFamily="34" charset="0"/>
                <a:ea typeface="Georgia" pitchFamily="34" charset="-122"/>
                <a:cs typeface="Georgia" pitchFamily="34" charset="-120"/>
              </a:rPr>
              <a:t>ADRENAL (ADDISONIAN) CRISIS</a:t>
            </a:r>
            <a:endParaRPr lang="en-US" sz="1900" dirty="0"/>
          </a:p>
        </p:txBody>
      </p:sp>
      <p:sp>
        <p:nvSpPr>
          <p:cNvPr id="8" name="Shape 5"/>
          <p:cNvSpPr/>
          <p:nvPr/>
        </p:nvSpPr>
        <p:spPr>
          <a:xfrm>
            <a:off x="914400" y="2103120"/>
            <a:ext cx="1737360" cy="1280160"/>
          </a:xfrm>
          <a:prstGeom prst="roundRect">
            <a:avLst>
              <a:gd name="adj" fmla="val 5714"/>
            </a:avLst>
          </a:prstGeom>
          <a:solidFill>
            <a:srgbClr val="FFFFFF"/>
          </a:solidFill>
          <a:ln w="12700">
            <a:solidFill>
              <a:srgbClr val="DC2626"/>
            </a:solidFill>
            <a:prstDash val="solid"/>
          </a:ln>
        </p:spPr>
      </p:sp>
      <p:sp>
        <p:nvSpPr>
          <p:cNvPr id="9" name="Text 6"/>
          <p:cNvSpPr/>
          <p:nvPr/>
        </p:nvSpPr>
        <p:spPr>
          <a:xfrm>
            <a:off x="914400" y="2194560"/>
            <a:ext cx="1737360" cy="109728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Extreme fatigue</a:t>
            </a:r>
            <a:endParaRPr lang="en-US" sz="1200" dirty="0"/>
          </a:p>
        </p:txBody>
      </p:sp>
      <p:sp>
        <p:nvSpPr>
          <p:cNvPr id="10" name="Shape 7"/>
          <p:cNvSpPr/>
          <p:nvPr/>
        </p:nvSpPr>
        <p:spPr>
          <a:xfrm>
            <a:off x="2743200" y="2103120"/>
            <a:ext cx="1737360" cy="1280160"/>
          </a:xfrm>
          <a:prstGeom prst="roundRect">
            <a:avLst>
              <a:gd name="adj" fmla="val 5714"/>
            </a:avLst>
          </a:prstGeom>
          <a:solidFill>
            <a:srgbClr val="FFFFFF"/>
          </a:solidFill>
          <a:ln w="12700">
            <a:solidFill>
              <a:srgbClr val="DC2626"/>
            </a:solidFill>
            <a:prstDash val="solid"/>
          </a:ln>
        </p:spPr>
      </p:sp>
      <p:sp>
        <p:nvSpPr>
          <p:cNvPr id="11" name="Text 8"/>
          <p:cNvSpPr/>
          <p:nvPr/>
        </p:nvSpPr>
        <p:spPr>
          <a:xfrm>
            <a:off x="2743200" y="2194560"/>
            <a:ext cx="1737360" cy="109728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Dehydration</a:t>
            </a:r>
            <a:endParaRPr lang="en-US" sz="1200" dirty="0"/>
          </a:p>
        </p:txBody>
      </p:sp>
      <p:sp>
        <p:nvSpPr>
          <p:cNvPr id="12" name="Shape 9"/>
          <p:cNvSpPr/>
          <p:nvPr/>
        </p:nvSpPr>
        <p:spPr>
          <a:xfrm>
            <a:off x="4572000" y="2103120"/>
            <a:ext cx="1737360" cy="1280160"/>
          </a:xfrm>
          <a:prstGeom prst="roundRect">
            <a:avLst>
              <a:gd name="adj" fmla="val 5714"/>
            </a:avLst>
          </a:prstGeom>
          <a:solidFill>
            <a:srgbClr val="FFFFFF"/>
          </a:solidFill>
          <a:ln w="12700">
            <a:solidFill>
              <a:srgbClr val="DC2626"/>
            </a:solidFill>
            <a:prstDash val="solid"/>
          </a:ln>
        </p:spPr>
      </p:sp>
      <p:sp>
        <p:nvSpPr>
          <p:cNvPr id="13" name="Text 10"/>
          <p:cNvSpPr/>
          <p:nvPr/>
        </p:nvSpPr>
        <p:spPr>
          <a:xfrm>
            <a:off x="4572000" y="2194560"/>
            <a:ext cx="1737360" cy="109728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Fever</a:t>
            </a:r>
            <a:endParaRPr lang="en-US" sz="1200" dirty="0"/>
          </a:p>
        </p:txBody>
      </p:sp>
      <p:sp>
        <p:nvSpPr>
          <p:cNvPr id="14" name="Shape 11"/>
          <p:cNvSpPr/>
          <p:nvPr/>
        </p:nvSpPr>
        <p:spPr>
          <a:xfrm>
            <a:off x="6400800" y="2103120"/>
            <a:ext cx="1737360" cy="1280160"/>
          </a:xfrm>
          <a:prstGeom prst="roundRect">
            <a:avLst>
              <a:gd name="adj" fmla="val 5714"/>
            </a:avLst>
          </a:prstGeom>
          <a:solidFill>
            <a:srgbClr val="FFFFFF"/>
          </a:solidFill>
          <a:ln w="12700">
            <a:solidFill>
              <a:srgbClr val="DC2626"/>
            </a:solidFill>
            <a:prstDash val="solid"/>
          </a:ln>
        </p:spPr>
      </p:sp>
      <p:sp>
        <p:nvSpPr>
          <p:cNvPr id="15" name="Text 12"/>
          <p:cNvSpPr/>
          <p:nvPr/>
        </p:nvSpPr>
        <p:spPr>
          <a:xfrm>
            <a:off x="6400800" y="2194560"/>
            <a:ext cx="1737360" cy="109728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Hypotension</a:t>
            </a:r>
            <a:endParaRPr lang="en-US" sz="1200" dirty="0"/>
          </a:p>
        </p:txBody>
      </p:sp>
      <p:sp>
        <p:nvSpPr>
          <p:cNvPr id="16" name="Shape 13"/>
          <p:cNvSpPr/>
          <p:nvPr/>
        </p:nvSpPr>
        <p:spPr>
          <a:xfrm>
            <a:off x="8229600" y="2103120"/>
            <a:ext cx="1737360" cy="1280160"/>
          </a:xfrm>
          <a:prstGeom prst="roundRect">
            <a:avLst>
              <a:gd name="adj" fmla="val 5714"/>
            </a:avLst>
          </a:prstGeom>
          <a:solidFill>
            <a:srgbClr val="FFFFFF"/>
          </a:solidFill>
          <a:ln w="12700">
            <a:solidFill>
              <a:srgbClr val="DC2626"/>
            </a:solidFill>
            <a:prstDash val="solid"/>
          </a:ln>
        </p:spPr>
      </p:sp>
      <p:sp>
        <p:nvSpPr>
          <p:cNvPr id="17" name="Text 14"/>
          <p:cNvSpPr/>
          <p:nvPr/>
        </p:nvSpPr>
        <p:spPr>
          <a:xfrm>
            <a:off x="8229600" y="2194560"/>
            <a:ext cx="1737360" cy="109728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Renal shutdown</a:t>
            </a:r>
            <a:endParaRPr lang="en-US" sz="1200" dirty="0"/>
          </a:p>
        </p:txBody>
      </p:sp>
      <p:sp>
        <p:nvSpPr>
          <p:cNvPr id="18" name="Shape 15"/>
          <p:cNvSpPr/>
          <p:nvPr/>
        </p:nvSpPr>
        <p:spPr>
          <a:xfrm>
            <a:off x="10058400" y="2103120"/>
            <a:ext cx="1737360" cy="1280160"/>
          </a:xfrm>
          <a:prstGeom prst="roundRect">
            <a:avLst>
              <a:gd name="adj" fmla="val 5714"/>
            </a:avLst>
          </a:prstGeom>
          <a:solidFill>
            <a:srgbClr val="FFFFFF"/>
          </a:solidFill>
          <a:ln w="12700">
            <a:solidFill>
              <a:srgbClr val="DC2626"/>
            </a:solidFill>
            <a:prstDash val="solid"/>
          </a:ln>
        </p:spPr>
      </p:sp>
      <p:sp>
        <p:nvSpPr>
          <p:cNvPr id="19" name="Text 16"/>
          <p:cNvSpPr/>
          <p:nvPr/>
        </p:nvSpPr>
        <p:spPr>
          <a:xfrm>
            <a:off x="10058400" y="2194560"/>
            <a:ext cx="1737360" cy="109728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↑K⁺  ↓Na⁺</a:t>
            </a:r>
            <a:endParaRPr lang="en-US" sz="1200" dirty="0"/>
          </a:p>
        </p:txBody>
      </p:sp>
      <p:sp>
        <p:nvSpPr>
          <p:cNvPr id="20" name="Shape 17"/>
          <p:cNvSpPr/>
          <p:nvPr/>
        </p:nvSpPr>
        <p:spPr>
          <a:xfrm>
            <a:off x="731520" y="3794760"/>
            <a:ext cx="10698480" cy="2606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1" name="Shape 18"/>
          <p:cNvSpPr/>
          <p:nvPr/>
        </p:nvSpPr>
        <p:spPr>
          <a:xfrm>
            <a:off x="731520" y="3794760"/>
            <a:ext cx="10698480" cy="457200"/>
          </a:xfrm>
          <a:prstGeom prst="rect">
            <a:avLst/>
          </a:prstGeom>
          <a:solidFill>
            <a:srgbClr val="059669"/>
          </a:solidFill>
          <a:ln w="12700">
            <a:solidFill>
              <a:srgbClr val="059669"/>
            </a:solidFill>
            <a:prstDash val="solid"/>
          </a:ln>
        </p:spPr>
      </p:sp>
      <p:pic>
        <p:nvPicPr>
          <p:cNvPr id="22" name="Image 1" descr="preencoded.png">    </p:cNvPr>
          <p:cNvPicPr>
            <a:picLocks noChangeAspect="1"/>
          </p:cNvPicPr>
          <p:nvPr/>
        </p:nvPicPr>
        <p:blipFill>
          <a:blip r:embed="rId2"/>
          <a:stretch>
            <a:fillRect/>
          </a:stretch>
        </p:blipFill>
        <p:spPr>
          <a:xfrm>
            <a:off x="914400" y="3858768"/>
            <a:ext cx="329184" cy="329184"/>
          </a:xfrm>
          <a:prstGeom prst="rect">
            <a:avLst/>
          </a:prstGeom>
        </p:spPr>
      </p:pic>
      <p:sp>
        <p:nvSpPr>
          <p:cNvPr id="23" name="Text 19"/>
          <p:cNvSpPr/>
          <p:nvPr/>
        </p:nvSpPr>
        <p:spPr>
          <a:xfrm>
            <a:off x="1371600" y="3794760"/>
            <a:ext cx="914400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TREATMENT — Think SHOCK</a:t>
            </a:r>
            <a:endParaRPr lang="en-US" sz="1600" dirty="0"/>
          </a:p>
        </p:txBody>
      </p:sp>
      <p:sp>
        <p:nvSpPr>
          <p:cNvPr id="24" name="Text 20"/>
          <p:cNvSpPr/>
          <p:nvPr/>
        </p:nvSpPr>
        <p:spPr>
          <a:xfrm>
            <a:off x="914400" y="4343400"/>
            <a:ext cx="3291840" cy="36576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Fluids &amp; Sodium</a:t>
            </a:r>
            <a:endParaRPr lang="en-US" sz="1400" dirty="0"/>
          </a:p>
        </p:txBody>
      </p:sp>
      <p:sp>
        <p:nvSpPr>
          <p:cNvPr id="25" name="Text 21"/>
          <p:cNvSpPr/>
          <p:nvPr/>
        </p:nvSpPr>
        <p:spPr>
          <a:xfrm>
            <a:off x="914400" y="4709160"/>
            <a:ext cx="3383280" cy="155448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IV fluids — Normal Saline (0.9%)</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Replace sodium aggressively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Restore circulating volume</a:t>
            </a:r>
            <a:endParaRPr lang="en-US" sz="1200" dirty="0"/>
          </a:p>
        </p:txBody>
      </p:sp>
      <p:sp>
        <p:nvSpPr>
          <p:cNvPr id="26" name="Text 22"/>
          <p:cNvSpPr/>
          <p:nvPr/>
        </p:nvSpPr>
        <p:spPr>
          <a:xfrm>
            <a:off x="4434840" y="4343400"/>
            <a:ext cx="3291840" cy="36576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Replace Steroids</a:t>
            </a:r>
            <a:endParaRPr lang="en-US" sz="1400" dirty="0"/>
          </a:p>
        </p:txBody>
      </p:sp>
      <p:sp>
        <p:nvSpPr>
          <p:cNvPr id="27" name="Text 23"/>
          <p:cNvSpPr/>
          <p:nvPr/>
        </p:nvSpPr>
        <p:spPr>
          <a:xfrm>
            <a:off x="4434840" y="4709160"/>
            <a:ext cx="3383280" cy="155448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IV Hydrocortisone (acute)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Prednisolone / Fludrocortisone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Lifelong maintenance dosing</a:t>
            </a:r>
            <a:endParaRPr lang="en-US" sz="1200" dirty="0"/>
          </a:p>
        </p:txBody>
      </p:sp>
      <p:sp>
        <p:nvSpPr>
          <p:cNvPr id="28" name="Text 24"/>
          <p:cNvSpPr/>
          <p:nvPr/>
        </p:nvSpPr>
        <p:spPr>
          <a:xfrm>
            <a:off x="7955280" y="4343400"/>
            <a:ext cx="3291840" cy="36576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Monitoring</a:t>
            </a:r>
            <a:endParaRPr lang="en-US" sz="1400" dirty="0"/>
          </a:p>
        </p:txBody>
      </p:sp>
      <p:sp>
        <p:nvSpPr>
          <p:cNvPr id="29" name="Text 25"/>
          <p:cNvSpPr/>
          <p:nvPr/>
        </p:nvSpPr>
        <p:spPr>
          <a:xfrm>
            <a:off x="7955280" y="4709160"/>
            <a:ext cx="3383280" cy="155448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Strict I&amp;O</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Daily weight</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BP, HR, electrolytes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Blood glucose</a:t>
            </a:r>
            <a:endParaRPr lang="en-US" sz="1200" dirty="0"/>
          </a:p>
        </p:txBody>
      </p:sp>
      <p:sp>
        <p:nvSpPr>
          <p:cNvPr id="30" name="Text 26"/>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1" name="Text 27"/>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NCLEX-Style Question</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Addisonian crisis — IV fluid of choice</a:t>
            </a:r>
            <a:endParaRPr lang="en-US" sz="1400" dirty="0"/>
          </a:p>
        </p:txBody>
      </p:sp>
      <p:sp>
        <p:nvSpPr>
          <p:cNvPr id="5" name="Shape 3"/>
          <p:cNvSpPr/>
          <p:nvPr/>
        </p:nvSpPr>
        <p:spPr>
          <a:xfrm>
            <a:off x="731520" y="1463040"/>
            <a:ext cx="10698480" cy="2011680"/>
          </a:xfrm>
          <a:prstGeom prst="rect">
            <a:avLst/>
          </a:prstGeom>
          <a:solidFill>
            <a:srgbClr val="E0F2FE"/>
          </a:solidFill>
          <a:ln w="12700">
            <a:solidFill>
              <a:srgbClr val="0F4C5C"/>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645920"/>
            <a:ext cx="365760" cy="365760"/>
          </a:xfrm>
          <a:prstGeom prst="rect">
            <a:avLst/>
          </a:prstGeom>
        </p:spPr>
      </p:pic>
      <p:sp>
        <p:nvSpPr>
          <p:cNvPr id="7" name="Text 4"/>
          <p:cNvSpPr/>
          <p:nvPr/>
        </p:nvSpPr>
        <p:spPr>
          <a:xfrm>
            <a:off x="1371600" y="1600200"/>
            <a:ext cx="9144000" cy="411480"/>
          </a:xfrm>
          <a:prstGeom prst="rect">
            <a:avLst/>
          </a:prstGeom>
          <a:noFill/>
          <a:ln/>
        </p:spPr>
        <p:txBody>
          <a:bodyPr wrap="square" lIns="0" tIns="0" rIns="0" bIns="0" rtlCol="0" anchor="ctr"/>
          <a:lstStyle/>
          <a:p>
            <a:pPr indent="0" marL="0">
              <a:buNone/>
            </a:pPr>
            <a:r>
              <a:rPr lang="en-US" sz="1600" b="1" dirty="0">
                <a:solidFill>
                  <a:srgbClr val="0F4C5C"/>
                </a:solidFill>
                <a:latin typeface="Georgia" pitchFamily="34" charset="0"/>
                <a:ea typeface="Georgia" pitchFamily="34" charset="-122"/>
                <a:cs typeface="Georgia" pitchFamily="34" charset="-120"/>
              </a:rPr>
              <a:t>Question</a:t>
            </a:r>
            <a:endParaRPr lang="en-US" sz="1600" dirty="0"/>
          </a:p>
        </p:txBody>
      </p:sp>
      <p:sp>
        <p:nvSpPr>
          <p:cNvPr id="8" name="Text 5"/>
          <p:cNvSpPr/>
          <p:nvPr/>
        </p:nvSpPr>
        <p:spPr>
          <a:xfrm>
            <a:off x="1005840" y="2057400"/>
            <a:ext cx="10241280" cy="1097280"/>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In the event of an Addisonian crisis, which IV solution is most appropriate to administer?</a:t>
            </a:r>
            <a:endParaRPr lang="en-US" sz="1500" dirty="0"/>
          </a:p>
        </p:txBody>
      </p:sp>
      <p:sp>
        <p:nvSpPr>
          <p:cNvPr id="9" name="Shape 6"/>
          <p:cNvSpPr/>
          <p:nvPr/>
        </p:nvSpPr>
        <p:spPr>
          <a:xfrm>
            <a:off x="731520" y="3657600"/>
            <a:ext cx="6400800" cy="502920"/>
          </a:xfrm>
          <a:prstGeom prst="roundRect">
            <a:avLst>
              <a:gd name="adj" fmla="val 14545"/>
            </a:avLst>
          </a:prstGeom>
          <a:solidFill>
            <a:srgbClr val="FFFFFF"/>
          </a:solidFill>
          <a:ln w="6350">
            <a:solidFill>
              <a:srgbClr val="CBD5E1"/>
            </a:solidFill>
            <a:prstDash val="solid"/>
          </a:ln>
        </p:spPr>
      </p:sp>
      <p:sp>
        <p:nvSpPr>
          <p:cNvPr id="10" name="Text 7"/>
          <p:cNvSpPr/>
          <p:nvPr/>
        </p:nvSpPr>
        <p:spPr>
          <a:xfrm>
            <a:off x="914400" y="3657600"/>
            <a:ext cx="603504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  Insulin</a:t>
            </a:r>
            <a:endParaRPr lang="en-US" sz="1300" dirty="0"/>
          </a:p>
        </p:txBody>
      </p:sp>
      <p:sp>
        <p:nvSpPr>
          <p:cNvPr id="11" name="Shape 8"/>
          <p:cNvSpPr/>
          <p:nvPr/>
        </p:nvSpPr>
        <p:spPr>
          <a:xfrm>
            <a:off x="731520" y="4251960"/>
            <a:ext cx="6400800" cy="502920"/>
          </a:xfrm>
          <a:prstGeom prst="roundRect">
            <a:avLst>
              <a:gd name="adj" fmla="val 14545"/>
            </a:avLst>
          </a:prstGeom>
          <a:solidFill>
            <a:srgbClr val="D1FAE5"/>
          </a:solidFill>
          <a:ln w="19050">
            <a:solidFill>
              <a:srgbClr val="059669"/>
            </a:solidFill>
            <a:prstDash val="solid"/>
          </a:ln>
        </p:spPr>
      </p:sp>
      <p:sp>
        <p:nvSpPr>
          <p:cNvPr id="12" name="Text 9"/>
          <p:cNvSpPr/>
          <p:nvPr/>
        </p:nvSpPr>
        <p:spPr>
          <a:xfrm>
            <a:off x="914400" y="4251960"/>
            <a:ext cx="6035040" cy="50292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B.  Normal saline (0.9%)</a:t>
            </a:r>
            <a:endParaRPr lang="en-US" sz="1300" dirty="0"/>
          </a:p>
        </p:txBody>
      </p:sp>
      <p:sp>
        <p:nvSpPr>
          <p:cNvPr id="13" name="Text 10"/>
          <p:cNvSpPr/>
          <p:nvPr/>
        </p:nvSpPr>
        <p:spPr>
          <a:xfrm>
            <a:off x="5943600" y="4251960"/>
            <a:ext cx="1097280" cy="502920"/>
          </a:xfrm>
          <a:prstGeom prst="rect">
            <a:avLst/>
          </a:prstGeom>
          <a:noFill/>
          <a:ln/>
        </p:spPr>
        <p:txBody>
          <a:bodyPr wrap="square" lIns="0" tIns="0" rIns="0" bIns="0" rtlCol="0" anchor="ctr"/>
          <a:lstStyle/>
          <a:p>
            <a:pPr algn="r" indent="0" marL="0">
              <a:buNone/>
            </a:pPr>
            <a:r>
              <a:rPr lang="en-US" sz="1100" b="1" i="1" dirty="0">
                <a:solidFill>
                  <a:srgbClr val="059669"/>
                </a:solidFill>
                <a:latin typeface="Calibri" pitchFamily="34" charset="0"/>
                <a:ea typeface="Calibri" pitchFamily="34" charset="-122"/>
                <a:cs typeface="Calibri" pitchFamily="34" charset="-120"/>
              </a:rPr>
              <a:t>✓ Correct</a:t>
            </a:r>
            <a:endParaRPr lang="en-US" sz="1100" dirty="0"/>
          </a:p>
        </p:txBody>
      </p:sp>
      <p:sp>
        <p:nvSpPr>
          <p:cNvPr id="14" name="Shape 11"/>
          <p:cNvSpPr/>
          <p:nvPr/>
        </p:nvSpPr>
        <p:spPr>
          <a:xfrm>
            <a:off x="731520" y="4846320"/>
            <a:ext cx="6400800" cy="502920"/>
          </a:xfrm>
          <a:prstGeom prst="roundRect">
            <a:avLst>
              <a:gd name="adj" fmla="val 14545"/>
            </a:avLst>
          </a:prstGeom>
          <a:solidFill>
            <a:srgbClr val="FFFFFF"/>
          </a:solidFill>
          <a:ln w="6350">
            <a:solidFill>
              <a:srgbClr val="CBD5E1"/>
            </a:solidFill>
            <a:prstDash val="solid"/>
          </a:ln>
        </p:spPr>
      </p:sp>
      <p:sp>
        <p:nvSpPr>
          <p:cNvPr id="15" name="Text 12"/>
          <p:cNvSpPr/>
          <p:nvPr/>
        </p:nvSpPr>
        <p:spPr>
          <a:xfrm>
            <a:off x="914400" y="4846320"/>
            <a:ext cx="603504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  Dextrose 5% in water (D5W)</a:t>
            </a:r>
            <a:endParaRPr lang="en-US" sz="1300" dirty="0"/>
          </a:p>
        </p:txBody>
      </p:sp>
      <p:sp>
        <p:nvSpPr>
          <p:cNvPr id="16" name="Shape 13"/>
          <p:cNvSpPr/>
          <p:nvPr/>
        </p:nvSpPr>
        <p:spPr>
          <a:xfrm>
            <a:off x="731520" y="5440680"/>
            <a:ext cx="6400800" cy="502920"/>
          </a:xfrm>
          <a:prstGeom prst="roundRect">
            <a:avLst>
              <a:gd name="adj" fmla="val 14545"/>
            </a:avLst>
          </a:prstGeom>
          <a:solidFill>
            <a:srgbClr val="FFFFFF"/>
          </a:solidFill>
          <a:ln w="6350">
            <a:solidFill>
              <a:srgbClr val="CBD5E1"/>
            </a:solidFill>
            <a:prstDash val="solid"/>
          </a:ln>
        </p:spPr>
      </p:sp>
      <p:sp>
        <p:nvSpPr>
          <p:cNvPr id="17" name="Text 14"/>
          <p:cNvSpPr/>
          <p:nvPr/>
        </p:nvSpPr>
        <p:spPr>
          <a:xfrm>
            <a:off x="914400" y="5440680"/>
            <a:ext cx="603504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  Dextrose 5% in half-normal saline</a:t>
            </a:r>
            <a:endParaRPr lang="en-US" sz="1300" dirty="0"/>
          </a:p>
        </p:txBody>
      </p:sp>
      <p:sp>
        <p:nvSpPr>
          <p:cNvPr id="18" name="Shape 15"/>
          <p:cNvSpPr/>
          <p:nvPr/>
        </p:nvSpPr>
        <p:spPr>
          <a:xfrm>
            <a:off x="7498080" y="3657600"/>
            <a:ext cx="3931920" cy="2651760"/>
          </a:xfrm>
          <a:prstGeom prst="rect">
            <a:avLst/>
          </a:prstGeom>
          <a:solidFill>
            <a:srgbClr val="FFFFFF"/>
          </a:solidFill>
          <a:ln w="12700">
            <a:solidFill>
              <a:srgbClr val="059669"/>
            </a:solidFill>
            <a:prstDash val="solid"/>
          </a:ln>
          <a:effectLst>
            <a:outerShdw sx="100000" sy="100000" kx="0" ky="0" algn="bl" rotWithShape="0" blurRad="127000" dist="25400" dir="5400000">
              <a:srgbClr val="000000">
                <a:alpha val="8000"/>
              </a:srgbClr>
            </a:outerShdw>
          </a:effectLst>
        </p:spPr>
      </p:sp>
      <p:sp>
        <p:nvSpPr>
          <p:cNvPr id="19" name="Text 16"/>
          <p:cNvSpPr/>
          <p:nvPr/>
        </p:nvSpPr>
        <p:spPr>
          <a:xfrm>
            <a:off x="7635240" y="3749040"/>
            <a:ext cx="3657600" cy="365760"/>
          </a:xfrm>
          <a:prstGeom prst="rect">
            <a:avLst/>
          </a:prstGeom>
          <a:noFill/>
          <a:ln/>
        </p:spPr>
        <p:txBody>
          <a:bodyPr wrap="square" lIns="0" tIns="0" rIns="0" bIns="0" rtlCol="0" anchor="ctr"/>
          <a:lstStyle/>
          <a:p>
            <a:pPr indent="0" marL="0">
              <a:buNone/>
            </a:pPr>
            <a:r>
              <a:rPr lang="en-US" sz="1400" b="1" dirty="0">
                <a:solidFill>
                  <a:srgbClr val="059669"/>
                </a:solidFill>
                <a:latin typeface="Georgia" pitchFamily="34" charset="0"/>
                <a:ea typeface="Georgia" pitchFamily="34" charset="-122"/>
                <a:cs typeface="Georgia" pitchFamily="34" charset="-120"/>
              </a:rPr>
              <a:t>Rationale</a:t>
            </a:r>
            <a:endParaRPr lang="en-US" sz="1400" dirty="0"/>
          </a:p>
        </p:txBody>
      </p:sp>
      <p:sp>
        <p:nvSpPr>
          <p:cNvPr id="20" name="Text 17"/>
          <p:cNvSpPr/>
          <p:nvPr/>
        </p:nvSpPr>
        <p:spPr>
          <a:xfrm>
            <a:off x="7635240" y="4114800"/>
            <a:ext cx="3657600" cy="21031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Hyponatremia is a hallmark of Addisonian crisis. Normal saline (0.9% NaCl) replaces the sodium and volume lost from mineralocorticoid deficiency. Glucose, vasopressors, and hydrocortisone are added; D5W alone does not correct the sodium deficit.</a:t>
            </a:r>
            <a:endParaRPr lang="en-US" sz="1200" dirty="0"/>
          </a:p>
        </p:txBody>
      </p:sp>
      <p:sp>
        <p:nvSpPr>
          <p:cNvPr id="21" name="Text 1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2" name="Text 1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Cushing's Disease / Syndrome</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Excess of steroids — opposite of Addison's</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5349240" cy="73152"/>
          </a:xfrm>
          <a:prstGeom prst="rect">
            <a:avLst/>
          </a:prstGeom>
          <a:solidFill>
            <a:srgbClr val="E36414"/>
          </a:solidFill>
          <a:ln w="12700">
            <a:solidFill>
              <a:srgbClr val="E36414"/>
            </a:solidFill>
            <a:prstDash val="solid"/>
          </a:ln>
        </p:spPr>
      </p:sp>
      <p:pic>
        <p:nvPicPr>
          <p:cNvPr id="7" name="Image 0"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8" name="Text 5"/>
          <p:cNvSpPr/>
          <p:nvPr/>
        </p:nvSpPr>
        <p:spPr>
          <a:xfrm>
            <a:off x="1371600" y="1719072"/>
            <a:ext cx="4572000" cy="41148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Pathophysiology</a:t>
            </a:r>
            <a:endParaRPr lang="en-US" sz="1700" dirty="0"/>
          </a:p>
        </p:txBody>
      </p:sp>
      <p:sp>
        <p:nvSpPr>
          <p:cNvPr id="9" name="Text 6"/>
          <p:cNvSpPr/>
          <p:nvPr/>
        </p:nvSpPr>
        <p:spPr>
          <a:xfrm>
            <a:off x="914400" y="2286000"/>
            <a:ext cx="5029200" cy="365760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Excess steroid hormones — exogenous or endogenous</a:t>
            </a:r>
            <a:endParaRPr lang="en-US" sz="1200" dirty="0"/>
          </a:p>
          <a:p>
            <a:pPr marL="342900" indent="-342900">
              <a:spcAft>
                <a:spcPts val="400"/>
              </a:spcAft>
              <a:buSzPct val="100000"/>
              <a:buChar char="•"/>
            </a:pPr>
            <a:r>
              <a:rPr lang="en-US" sz="1200" b="1" dirty="0">
                <a:solidFill>
                  <a:srgbClr val="1E293B"/>
                </a:solidFill>
                <a:latin typeface="Calibri" pitchFamily="34" charset="0"/>
                <a:ea typeface="Calibri" pitchFamily="34" charset="-122"/>
                <a:cs typeface="Calibri" pitchFamily="34" charset="-120"/>
              </a:rPr>
              <a:t>↑ Glucocorticoids:</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Immunosuppression, hyperglycemia, mood changes</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Fat redistribution: lipolysis of limbs, lipogenesis of trunk</a:t>
            </a:r>
            <a:endParaRPr lang="en-US" sz="1200" dirty="0"/>
          </a:p>
          <a:p>
            <a:pPr marL="342900" indent="-342900">
              <a:spcAft>
                <a:spcPts val="400"/>
              </a:spcAft>
              <a:buSzPct val="100000"/>
              <a:buChar char="•"/>
            </a:pPr>
            <a:r>
              <a:rPr lang="en-US" sz="1200" b="1" dirty="0">
                <a:solidFill>
                  <a:srgbClr val="1E293B"/>
                </a:solidFill>
                <a:latin typeface="Calibri" pitchFamily="34" charset="0"/>
                <a:ea typeface="Calibri" pitchFamily="34" charset="-122"/>
                <a:cs typeface="Calibri" pitchFamily="34" charset="-120"/>
              </a:rPr>
              <a:t>↑ Mineralocorticoids:</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Fluid &amp; sodium retention, K⁺ excretion, ↑ BP</a:t>
            </a:r>
            <a:endParaRPr lang="en-US" sz="1200" dirty="0"/>
          </a:p>
          <a:p>
            <a:pPr marL="342900" indent="-342900">
              <a:spcAft>
                <a:spcPts val="400"/>
              </a:spcAft>
              <a:buSzPct val="100000"/>
              <a:buChar char="•"/>
            </a:pPr>
            <a:r>
              <a:rPr lang="en-US" sz="1200" b="1" dirty="0">
                <a:solidFill>
                  <a:srgbClr val="1E293B"/>
                </a:solidFill>
                <a:latin typeface="Calibri" pitchFamily="34" charset="0"/>
                <a:ea typeface="Calibri" pitchFamily="34" charset="-122"/>
                <a:cs typeface="Calibri" pitchFamily="34" charset="-120"/>
              </a:rPr>
              <a:t>↑ Sex hormones: oily skin, acne, hirsutism</a:t>
            </a:r>
            <a:endParaRPr lang="en-US" sz="1200" dirty="0"/>
          </a:p>
        </p:txBody>
      </p:sp>
      <p:sp>
        <p:nvSpPr>
          <p:cNvPr id="10" name="Shape 7"/>
          <p:cNvSpPr/>
          <p:nvPr/>
        </p:nvSpPr>
        <p:spPr>
          <a:xfrm>
            <a:off x="6355080" y="1554480"/>
            <a:ext cx="5074920" cy="4572000"/>
          </a:xfrm>
          <a:prstGeom prst="rect">
            <a:avLst/>
          </a:prstGeom>
          <a:solidFill>
            <a:srgbClr val="FEF3C7"/>
          </a:solidFill>
          <a:ln w="12700">
            <a:solidFill>
              <a:srgbClr val="E36414"/>
            </a:solidFill>
            <a:prstDash val="solid"/>
          </a:ln>
          <a:effectLst>
            <a:outerShdw sx="100000" sy="100000" kx="0" ky="0" algn="bl" rotWithShape="0" blurRad="127000" dist="25400" dir="5400000">
              <a:srgbClr val="000000">
                <a:alpha val="8000"/>
              </a:srgbClr>
            </a:outerShdw>
          </a:effectLst>
        </p:spPr>
      </p:sp>
      <p:sp>
        <p:nvSpPr>
          <p:cNvPr id="11" name="Text 8"/>
          <p:cNvSpPr/>
          <p:nvPr/>
        </p:nvSpPr>
        <p:spPr>
          <a:xfrm>
            <a:off x="6492240" y="1737360"/>
            <a:ext cx="4754880" cy="411480"/>
          </a:xfrm>
          <a:prstGeom prst="rect">
            <a:avLst/>
          </a:prstGeom>
          <a:noFill/>
          <a:ln/>
        </p:spPr>
        <p:txBody>
          <a:bodyPr wrap="square" lIns="0" tIns="0" rIns="0" bIns="0" rtlCol="0" anchor="ctr"/>
          <a:lstStyle/>
          <a:p>
            <a:pPr indent="0" marL="0">
              <a:buNone/>
            </a:pPr>
            <a:r>
              <a:rPr lang="en-US" sz="1600" b="1" dirty="0">
                <a:solidFill>
                  <a:srgbClr val="E36414"/>
                </a:solidFill>
                <a:latin typeface="Georgia" pitchFamily="34" charset="0"/>
                <a:ea typeface="Georgia" pitchFamily="34" charset="-122"/>
                <a:cs typeface="Georgia" pitchFamily="34" charset="-120"/>
              </a:rPr>
              <a:t>Classic Cushing's Signs</a:t>
            </a:r>
            <a:endParaRPr lang="en-US" sz="1600" dirty="0"/>
          </a:p>
        </p:txBody>
      </p:sp>
      <p:sp>
        <p:nvSpPr>
          <p:cNvPr id="12" name="Text 9"/>
          <p:cNvSpPr/>
          <p:nvPr/>
        </p:nvSpPr>
        <p:spPr>
          <a:xfrm>
            <a:off x="6537960" y="2286000"/>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Moon face</a:t>
            </a:r>
            <a:endParaRPr lang="en-US" sz="1200" dirty="0"/>
          </a:p>
        </p:txBody>
      </p:sp>
      <p:sp>
        <p:nvSpPr>
          <p:cNvPr id="13" name="Text 10"/>
          <p:cNvSpPr/>
          <p:nvPr/>
        </p:nvSpPr>
        <p:spPr>
          <a:xfrm>
            <a:off x="9052560" y="2286000"/>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Buffalo hump</a:t>
            </a:r>
            <a:endParaRPr lang="en-US" sz="1200" dirty="0"/>
          </a:p>
        </p:txBody>
      </p:sp>
      <p:sp>
        <p:nvSpPr>
          <p:cNvPr id="14" name="Text 11"/>
          <p:cNvSpPr/>
          <p:nvPr/>
        </p:nvSpPr>
        <p:spPr>
          <a:xfrm>
            <a:off x="6537960" y="2816352"/>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Central obesity</a:t>
            </a:r>
            <a:endParaRPr lang="en-US" sz="1200" dirty="0"/>
          </a:p>
        </p:txBody>
      </p:sp>
      <p:sp>
        <p:nvSpPr>
          <p:cNvPr id="15" name="Text 12"/>
          <p:cNvSpPr/>
          <p:nvPr/>
        </p:nvSpPr>
        <p:spPr>
          <a:xfrm>
            <a:off x="9052560" y="2816352"/>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Thin extremities</a:t>
            </a:r>
            <a:endParaRPr lang="en-US" sz="1200" dirty="0"/>
          </a:p>
        </p:txBody>
      </p:sp>
      <p:sp>
        <p:nvSpPr>
          <p:cNvPr id="16" name="Text 13"/>
          <p:cNvSpPr/>
          <p:nvPr/>
        </p:nvSpPr>
        <p:spPr>
          <a:xfrm>
            <a:off x="6537960" y="3346704"/>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Pendulous abdomen</a:t>
            </a:r>
            <a:endParaRPr lang="en-US" sz="1200" dirty="0"/>
          </a:p>
        </p:txBody>
      </p:sp>
      <p:sp>
        <p:nvSpPr>
          <p:cNvPr id="17" name="Text 14"/>
          <p:cNvSpPr/>
          <p:nvPr/>
        </p:nvSpPr>
        <p:spPr>
          <a:xfrm>
            <a:off x="9052560" y="3346704"/>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Stretch marks (striae)</a:t>
            </a:r>
            <a:endParaRPr lang="en-US" sz="1200" dirty="0"/>
          </a:p>
        </p:txBody>
      </p:sp>
      <p:sp>
        <p:nvSpPr>
          <p:cNvPr id="18" name="Text 15"/>
          <p:cNvSpPr/>
          <p:nvPr/>
        </p:nvSpPr>
        <p:spPr>
          <a:xfrm>
            <a:off x="6537960" y="3877056"/>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Thin skin, easy bruising</a:t>
            </a:r>
            <a:endParaRPr lang="en-US" sz="1200" dirty="0"/>
          </a:p>
        </p:txBody>
      </p:sp>
      <p:sp>
        <p:nvSpPr>
          <p:cNvPr id="19" name="Text 16"/>
          <p:cNvSpPr/>
          <p:nvPr/>
        </p:nvSpPr>
        <p:spPr>
          <a:xfrm>
            <a:off x="9052560" y="3877056"/>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Hyperglycemia</a:t>
            </a:r>
            <a:endParaRPr lang="en-US" sz="1200" dirty="0"/>
          </a:p>
        </p:txBody>
      </p:sp>
      <p:sp>
        <p:nvSpPr>
          <p:cNvPr id="20" name="Text 17"/>
          <p:cNvSpPr/>
          <p:nvPr/>
        </p:nvSpPr>
        <p:spPr>
          <a:xfrm>
            <a:off x="6537960" y="4407408"/>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Hypertension</a:t>
            </a:r>
            <a:endParaRPr lang="en-US" sz="1200" dirty="0"/>
          </a:p>
        </p:txBody>
      </p:sp>
      <p:sp>
        <p:nvSpPr>
          <p:cNvPr id="21" name="Text 18"/>
          <p:cNvSpPr/>
          <p:nvPr/>
        </p:nvSpPr>
        <p:spPr>
          <a:xfrm>
            <a:off x="9052560" y="4407408"/>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Osteoporosis</a:t>
            </a:r>
            <a:endParaRPr lang="en-US" sz="1200" dirty="0"/>
          </a:p>
        </p:txBody>
      </p:sp>
      <p:sp>
        <p:nvSpPr>
          <p:cNvPr id="22" name="Text 19"/>
          <p:cNvSpPr/>
          <p:nvPr/>
        </p:nvSpPr>
        <p:spPr>
          <a:xfrm>
            <a:off x="6537960" y="4937760"/>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Poor wound healing</a:t>
            </a:r>
            <a:endParaRPr lang="en-US" sz="1200" dirty="0"/>
          </a:p>
        </p:txBody>
      </p:sp>
      <p:sp>
        <p:nvSpPr>
          <p:cNvPr id="23" name="Text 20"/>
          <p:cNvSpPr/>
          <p:nvPr/>
        </p:nvSpPr>
        <p:spPr>
          <a:xfrm>
            <a:off x="9052560" y="4937760"/>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Mood changes / irritability</a:t>
            </a:r>
            <a:endParaRPr lang="en-US" sz="1200" dirty="0"/>
          </a:p>
        </p:txBody>
      </p:sp>
      <p:sp>
        <p:nvSpPr>
          <p:cNvPr id="24" name="Text 21"/>
          <p:cNvSpPr/>
          <p:nvPr/>
        </p:nvSpPr>
        <p:spPr>
          <a:xfrm>
            <a:off x="6537960" y="5468112"/>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Hirsutism / acne</a:t>
            </a:r>
            <a:endParaRPr lang="en-US" sz="1200" dirty="0"/>
          </a:p>
        </p:txBody>
      </p:sp>
      <p:sp>
        <p:nvSpPr>
          <p:cNvPr id="25" name="Text 22"/>
          <p:cNvSpPr/>
          <p:nvPr/>
        </p:nvSpPr>
        <p:spPr>
          <a:xfrm>
            <a:off x="9052560" y="5468112"/>
            <a:ext cx="237744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Immunosuppression</a:t>
            </a:r>
            <a:endParaRPr lang="en-US" sz="1200" dirty="0"/>
          </a:p>
        </p:txBody>
      </p:sp>
      <p:sp>
        <p:nvSpPr>
          <p:cNvPr id="26" name="Text 2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7" name="Text 2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Cushing's — Treatment &amp; Nursing Care</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Address the source; protect against infection</a:t>
            </a:r>
            <a:endParaRPr lang="en-US" sz="1400" dirty="0"/>
          </a:p>
        </p:txBody>
      </p:sp>
      <p:sp>
        <p:nvSpPr>
          <p:cNvPr id="5" name="Shape 3"/>
          <p:cNvSpPr/>
          <p:nvPr/>
        </p:nvSpPr>
        <p:spPr>
          <a:xfrm>
            <a:off x="731520" y="1508760"/>
            <a:ext cx="10698480" cy="1463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08760"/>
            <a:ext cx="137160" cy="1463040"/>
          </a:xfrm>
          <a:prstGeom prst="rect">
            <a:avLst/>
          </a:prstGeom>
          <a:solidFill>
            <a:srgbClr val="0F4C5C"/>
          </a:solidFill>
          <a:ln w="12700">
            <a:solidFill>
              <a:srgbClr val="0F4C5C"/>
            </a:solidFill>
            <a:prstDash val="solid"/>
          </a:ln>
        </p:spPr>
      </p:sp>
      <p:sp>
        <p:nvSpPr>
          <p:cNvPr id="7" name="Shape 5"/>
          <p:cNvSpPr/>
          <p:nvPr/>
        </p:nvSpPr>
        <p:spPr>
          <a:xfrm>
            <a:off x="1097280" y="1874520"/>
            <a:ext cx="731520" cy="731520"/>
          </a:xfrm>
          <a:prstGeom prst="ellipse">
            <a:avLst/>
          </a:prstGeom>
          <a:solidFill>
            <a:srgbClr val="E0F2FE"/>
          </a:solidFill>
          <a:ln w="12700">
            <a:solidFill>
              <a:srgbClr val="0F4C5C"/>
            </a:solidFill>
            <a:prstDash val="solid"/>
          </a:ln>
        </p:spPr>
      </p:sp>
      <p:pic>
        <p:nvPicPr>
          <p:cNvPr id="8" name="Image 0" descr="preencoded.png">    </p:cNvPr>
          <p:cNvPicPr>
            <a:picLocks noChangeAspect="1"/>
          </p:cNvPicPr>
          <p:nvPr/>
        </p:nvPicPr>
        <p:blipFill>
          <a:blip r:embed="rId1"/>
          <a:stretch>
            <a:fillRect/>
          </a:stretch>
        </p:blipFill>
        <p:spPr>
          <a:xfrm>
            <a:off x="1234440" y="2011680"/>
            <a:ext cx="457200" cy="457200"/>
          </a:xfrm>
          <a:prstGeom prst="rect">
            <a:avLst/>
          </a:prstGeom>
        </p:spPr>
      </p:pic>
      <p:sp>
        <p:nvSpPr>
          <p:cNvPr id="9" name="Text 6"/>
          <p:cNvSpPr/>
          <p:nvPr/>
        </p:nvSpPr>
        <p:spPr>
          <a:xfrm>
            <a:off x="2011680" y="1645920"/>
            <a:ext cx="9144000" cy="36576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Surgical</a:t>
            </a:r>
            <a:endParaRPr lang="en-US" sz="1700" dirty="0"/>
          </a:p>
        </p:txBody>
      </p:sp>
      <p:sp>
        <p:nvSpPr>
          <p:cNvPr id="10" name="Text 7"/>
          <p:cNvSpPr/>
          <p:nvPr/>
        </p:nvSpPr>
        <p:spPr>
          <a:xfrm>
            <a:off x="2011680" y="2011680"/>
            <a:ext cx="9235440" cy="914400"/>
          </a:xfrm>
          <a:prstGeom prst="rect">
            <a:avLst/>
          </a:prstGeom>
          <a:noFill/>
          <a:ln/>
        </p:spPr>
        <p:txBody>
          <a:bodyPr wrap="square" rtlCol="0" anchor="ctr"/>
          <a:lstStyle/>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Adrenalectomy — remove the gland(s) producing excess hormones</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Unilateral or bilateral depending on source</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Transsphenoidal pituitary surgery if pituitary adenoma</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Post-op: lifelong steroid replacement if bilateral</a:t>
            </a:r>
            <a:endParaRPr lang="en-US" sz="1150" dirty="0"/>
          </a:p>
        </p:txBody>
      </p:sp>
      <p:sp>
        <p:nvSpPr>
          <p:cNvPr id="11" name="Shape 8"/>
          <p:cNvSpPr/>
          <p:nvPr/>
        </p:nvSpPr>
        <p:spPr>
          <a:xfrm>
            <a:off x="731520" y="3108960"/>
            <a:ext cx="10698480" cy="1463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2" name="Shape 9"/>
          <p:cNvSpPr/>
          <p:nvPr/>
        </p:nvSpPr>
        <p:spPr>
          <a:xfrm>
            <a:off x="731520" y="3108960"/>
            <a:ext cx="137160" cy="1463040"/>
          </a:xfrm>
          <a:prstGeom prst="rect">
            <a:avLst/>
          </a:prstGeom>
          <a:solidFill>
            <a:srgbClr val="0F4C5C"/>
          </a:solidFill>
          <a:ln w="12700">
            <a:solidFill>
              <a:srgbClr val="0F4C5C"/>
            </a:solidFill>
            <a:prstDash val="solid"/>
          </a:ln>
        </p:spPr>
      </p:sp>
      <p:sp>
        <p:nvSpPr>
          <p:cNvPr id="13" name="Shape 10"/>
          <p:cNvSpPr/>
          <p:nvPr/>
        </p:nvSpPr>
        <p:spPr>
          <a:xfrm>
            <a:off x="1097280" y="3474720"/>
            <a:ext cx="731520" cy="731520"/>
          </a:xfrm>
          <a:prstGeom prst="ellipse">
            <a:avLst/>
          </a:prstGeom>
          <a:solidFill>
            <a:srgbClr val="E0F2FE"/>
          </a:solidFill>
          <a:ln w="12700">
            <a:solidFill>
              <a:srgbClr val="0F4C5C"/>
            </a:solidFill>
            <a:prstDash val="solid"/>
          </a:ln>
        </p:spPr>
      </p:sp>
      <p:pic>
        <p:nvPicPr>
          <p:cNvPr id="14" name="Image 1" descr="preencoded.png">    </p:cNvPr>
          <p:cNvPicPr>
            <a:picLocks noChangeAspect="1"/>
          </p:cNvPicPr>
          <p:nvPr/>
        </p:nvPicPr>
        <p:blipFill>
          <a:blip r:embed="rId2"/>
          <a:stretch>
            <a:fillRect/>
          </a:stretch>
        </p:blipFill>
        <p:spPr>
          <a:xfrm>
            <a:off x="1234440" y="3611880"/>
            <a:ext cx="457200" cy="457200"/>
          </a:xfrm>
          <a:prstGeom prst="rect">
            <a:avLst/>
          </a:prstGeom>
        </p:spPr>
      </p:pic>
      <p:sp>
        <p:nvSpPr>
          <p:cNvPr id="15" name="Text 11"/>
          <p:cNvSpPr/>
          <p:nvPr/>
        </p:nvSpPr>
        <p:spPr>
          <a:xfrm>
            <a:off x="2011680" y="3246120"/>
            <a:ext cx="9144000" cy="36576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Medical</a:t>
            </a:r>
            <a:endParaRPr lang="en-US" sz="1700" dirty="0"/>
          </a:p>
        </p:txBody>
      </p:sp>
      <p:sp>
        <p:nvSpPr>
          <p:cNvPr id="16" name="Text 12"/>
          <p:cNvSpPr/>
          <p:nvPr/>
        </p:nvSpPr>
        <p:spPr>
          <a:xfrm>
            <a:off x="2011680" y="3611880"/>
            <a:ext cx="9235440" cy="914400"/>
          </a:xfrm>
          <a:prstGeom prst="rect">
            <a:avLst/>
          </a:prstGeom>
          <a:noFill/>
          <a:ln/>
        </p:spPr>
        <p:txBody>
          <a:bodyPr wrap="square" rtlCol="0" anchor="ctr"/>
          <a:lstStyle/>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Taper exogenous steroids if that is the cause (never stop abruptly)</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Ketoconazole, metyrapone — suppress cortisol synthesis</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Low-sodium, high-protein, high-potassium diet</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Control hyperglycemia and hypertension</a:t>
            </a:r>
            <a:endParaRPr lang="en-US" sz="1150" dirty="0"/>
          </a:p>
        </p:txBody>
      </p:sp>
      <p:sp>
        <p:nvSpPr>
          <p:cNvPr id="17" name="Shape 13"/>
          <p:cNvSpPr/>
          <p:nvPr/>
        </p:nvSpPr>
        <p:spPr>
          <a:xfrm>
            <a:off x="731520" y="4709160"/>
            <a:ext cx="10698480" cy="1463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8" name="Shape 14"/>
          <p:cNvSpPr/>
          <p:nvPr/>
        </p:nvSpPr>
        <p:spPr>
          <a:xfrm>
            <a:off x="731520" y="4709160"/>
            <a:ext cx="137160" cy="1463040"/>
          </a:xfrm>
          <a:prstGeom prst="rect">
            <a:avLst/>
          </a:prstGeom>
          <a:solidFill>
            <a:srgbClr val="0F4C5C"/>
          </a:solidFill>
          <a:ln w="12700">
            <a:solidFill>
              <a:srgbClr val="0F4C5C"/>
            </a:solidFill>
            <a:prstDash val="solid"/>
          </a:ln>
        </p:spPr>
      </p:sp>
      <p:sp>
        <p:nvSpPr>
          <p:cNvPr id="19" name="Shape 15"/>
          <p:cNvSpPr/>
          <p:nvPr/>
        </p:nvSpPr>
        <p:spPr>
          <a:xfrm>
            <a:off x="1097280" y="5074920"/>
            <a:ext cx="731520" cy="731520"/>
          </a:xfrm>
          <a:prstGeom prst="ellipse">
            <a:avLst/>
          </a:prstGeom>
          <a:solidFill>
            <a:srgbClr val="E0F2FE"/>
          </a:solidFill>
          <a:ln w="12700">
            <a:solidFill>
              <a:srgbClr val="0F4C5C"/>
            </a:solidFill>
            <a:prstDash val="solid"/>
          </a:ln>
        </p:spPr>
      </p:sp>
      <p:pic>
        <p:nvPicPr>
          <p:cNvPr id="20" name="Image 2" descr="preencoded.png">    </p:cNvPr>
          <p:cNvPicPr>
            <a:picLocks noChangeAspect="1"/>
          </p:cNvPicPr>
          <p:nvPr/>
        </p:nvPicPr>
        <p:blipFill>
          <a:blip r:embed="rId3"/>
          <a:stretch>
            <a:fillRect/>
          </a:stretch>
        </p:blipFill>
        <p:spPr>
          <a:xfrm>
            <a:off x="1234440" y="5212080"/>
            <a:ext cx="457200" cy="457200"/>
          </a:xfrm>
          <a:prstGeom prst="rect">
            <a:avLst/>
          </a:prstGeom>
        </p:spPr>
      </p:pic>
      <p:sp>
        <p:nvSpPr>
          <p:cNvPr id="21" name="Text 16"/>
          <p:cNvSpPr/>
          <p:nvPr/>
        </p:nvSpPr>
        <p:spPr>
          <a:xfrm>
            <a:off x="2011680" y="4846320"/>
            <a:ext cx="9144000" cy="36576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Nursing Priorities</a:t>
            </a:r>
            <a:endParaRPr lang="en-US" sz="1700" dirty="0"/>
          </a:p>
        </p:txBody>
      </p:sp>
      <p:sp>
        <p:nvSpPr>
          <p:cNvPr id="22" name="Text 17"/>
          <p:cNvSpPr/>
          <p:nvPr/>
        </p:nvSpPr>
        <p:spPr>
          <a:xfrm>
            <a:off x="2011680" y="5212080"/>
            <a:ext cx="9235440" cy="914400"/>
          </a:xfrm>
          <a:prstGeom prst="rect">
            <a:avLst/>
          </a:prstGeom>
          <a:noFill/>
          <a:ln/>
        </p:spPr>
        <p:txBody>
          <a:bodyPr wrap="square" rtlCol="0" anchor="ctr"/>
          <a:lstStyle/>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INFECTION PRECAUTIONS — client is immunosuppressed</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Strict hand hygiene; limit visitors if ill</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Daily weight, I&amp;O, BP, glucose</a:t>
            </a:r>
            <a:endParaRPr lang="en-US" sz="1150" dirty="0"/>
          </a:p>
          <a:p>
            <a:pPr marL="342900" indent="-3429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Skin &amp; fall precautions (fragile skin, osteoporosis)</a:t>
            </a:r>
            <a:endParaRPr lang="en-US" sz="1150" dirty="0"/>
          </a:p>
        </p:txBody>
      </p:sp>
      <p:sp>
        <p:nvSpPr>
          <p:cNvPr id="23" name="Text 1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4" name="Text 1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Corticosteroid Medications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Pharmacology used to replace or modulate steroid effect — Saunders NCLEX</a:t>
            </a:r>
            <a:endParaRPr lang="en-US" sz="1400" dirty="0"/>
          </a:p>
        </p:txBody>
      </p:sp>
      <p:sp>
        <p:nvSpPr>
          <p:cNvPr id="5" name="Shape 3"/>
          <p:cNvSpPr/>
          <p:nvPr/>
        </p:nvSpPr>
        <p:spPr>
          <a:xfrm>
            <a:off x="731520" y="1417320"/>
            <a:ext cx="10698480" cy="19202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Text 4"/>
          <p:cNvSpPr/>
          <p:nvPr/>
        </p:nvSpPr>
        <p:spPr>
          <a:xfrm>
            <a:off x="914400" y="1508760"/>
            <a:ext cx="1005840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Duration of Action — Common Glucocorticoids</a:t>
            </a:r>
            <a:endParaRPr lang="en-US" sz="1500" dirty="0"/>
          </a:p>
        </p:txBody>
      </p:sp>
      <p:sp>
        <p:nvSpPr>
          <p:cNvPr id="7" name="Shape 5"/>
          <p:cNvSpPr/>
          <p:nvPr/>
        </p:nvSpPr>
        <p:spPr>
          <a:xfrm>
            <a:off x="914400" y="1965960"/>
            <a:ext cx="3291840" cy="1280160"/>
          </a:xfrm>
          <a:prstGeom prst="roundRect">
            <a:avLst>
              <a:gd name="adj" fmla="val 5714"/>
            </a:avLst>
          </a:prstGeom>
          <a:solidFill>
            <a:srgbClr val="F8FAFC"/>
          </a:solidFill>
          <a:ln w="19050">
            <a:solidFill>
              <a:srgbClr val="059669"/>
            </a:solidFill>
            <a:prstDash val="solid"/>
          </a:ln>
        </p:spPr>
      </p:sp>
      <p:sp>
        <p:nvSpPr>
          <p:cNvPr id="8" name="Shape 6"/>
          <p:cNvSpPr/>
          <p:nvPr/>
        </p:nvSpPr>
        <p:spPr>
          <a:xfrm>
            <a:off x="914400" y="1965960"/>
            <a:ext cx="3291840" cy="320040"/>
          </a:xfrm>
          <a:prstGeom prst="rect">
            <a:avLst/>
          </a:prstGeom>
          <a:solidFill>
            <a:srgbClr val="059669"/>
          </a:solidFill>
          <a:ln w="12700">
            <a:solidFill>
              <a:srgbClr val="059669"/>
            </a:solidFill>
            <a:prstDash val="solid"/>
          </a:ln>
        </p:spPr>
      </p:sp>
      <p:sp>
        <p:nvSpPr>
          <p:cNvPr id="9" name="Text 7"/>
          <p:cNvSpPr/>
          <p:nvPr/>
        </p:nvSpPr>
        <p:spPr>
          <a:xfrm>
            <a:off x="914400" y="1965960"/>
            <a:ext cx="32918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Short-Acting</a:t>
            </a:r>
            <a:endParaRPr lang="en-US" sz="1200" dirty="0"/>
          </a:p>
        </p:txBody>
      </p:sp>
      <p:sp>
        <p:nvSpPr>
          <p:cNvPr id="10" name="Text 8"/>
          <p:cNvSpPr/>
          <p:nvPr/>
        </p:nvSpPr>
        <p:spPr>
          <a:xfrm>
            <a:off x="1143000" y="2331720"/>
            <a:ext cx="3017520" cy="914400"/>
          </a:xfrm>
          <a:prstGeom prst="rect">
            <a:avLst/>
          </a:prstGeom>
          <a:noFill/>
          <a:ln/>
        </p:spPr>
        <p:txBody>
          <a:bodyPr wrap="square" rtlCol="0" anchor="ctr"/>
          <a:lstStyle/>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Cortisone</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Hydrocortisone</a:t>
            </a:r>
            <a:endParaRPr lang="en-US" sz="1200" dirty="0"/>
          </a:p>
        </p:txBody>
      </p:sp>
      <p:sp>
        <p:nvSpPr>
          <p:cNvPr id="11" name="Shape 9"/>
          <p:cNvSpPr/>
          <p:nvPr/>
        </p:nvSpPr>
        <p:spPr>
          <a:xfrm>
            <a:off x="4434840" y="1965960"/>
            <a:ext cx="3291840" cy="1280160"/>
          </a:xfrm>
          <a:prstGeom prst="roundRect">
            <a:avLst>
              <a:gd name="adj" fmla="val 5714"/>
            </a:avLst>
          </a:prstGeom>
          <a:solidFill>
            <a:srgbClr val="F8FAFC"/>
          </a:solidFill>
          <a:ln w="19050">
            <a:solidFill>
              <a:srgbClr val="155E75"/>
            </a:solidFill>
            <a:prstDash val="solid"/>
          </a:ln>
        </p:spPr>
      </p:sp>
      <p:sp>
        <p:nvSpPr>
          <p:cNvPr id="12" name="Shape 10"/>
          <p:cNvSpPr/>
          <p:nvPr/>
        </p:nvSpPr>
        <p:spPr>
          <a:xfrm>
            <a:off x="4434840" y="1965960"/>
            <a:ext cx="3291840" cy="320040"/>
          </a:xfrm>
          <a:prstGeom prst="rect">
            <a:avLst/>
          </a:prstGeom>
          <a:solidFill>
            <a:srgbClr val="155E75"/>
          </a:solidFill>
          <a:ln w="12700">
            <a:solidFill>
              <a:srgbClr val="155E75"/>
            </a:solidFill>
            <a:prstDash val="solid"/>
          </a:ln>
        </p:spPr>
      </p:sp>
      <p:sp>
        <p:nvSpPr>
          <p:cNvPr id="13" name="Text 11"/>
          <p:cNvSpPr/>
          <p:nvPr/>
        </p:nvSpPr>
        <p:spPr>
          <a:xfrm>
            <a:off x="4434840" y="1965960"/>
            <a:ext cx="32918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Intermediate</a:t>
            </a:r>
            <a:endParaRPr lang="en-US" sz="1200" dirty="0"/>
          </a:p>
        </p:txBody>
      </p:sp>
      <p:sp>
        <p:nvSpPr>
          <p:cNvPr id="14" name="Text 12"/>
          <p:cNvSpPr/>
          <p:nvPr/>
        </p:nvSpPr>
        <p:spPr>
          <a:xfrm>
            <a:off x="4663440" y="2331720"/>
            <a:ext cx="3017520" cy="914400"/>
          </a:xfrm>
          <a:prstGeom prst="rect">
            <a:avLst/>
          </a:prstGeom>
          <a:noFill/>
          <a:ln/>
        </p:spPr>
        <p:txBody>
          <a:bodyPr wrap="square" rtlCol="0" anchor="ctr"/>
          <a:lstStyle/>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Methylprednisolone</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Prednisone</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Triamcinolone</a:t>
            </a:r>
            <a:endParaRPr lang="en-US" sz="1200" dirty="0"/>
          </a:p>
        </p:txBody>
      </p:sp>
      <p:sp>
        <p:nvSpPr>
          <p:cNvPr id="15" name="Shape 13"/>
          <p:cNvSpPr/>
          <p:nvPr/>
        </p:nvSpPr>
        <p:spPr>
          <a:xfrm>
            <a:off x="7955280" y="1965960"/>
            <a:ext cx="3291840" cy="1280160"/>
          </a:xfrm>
          <a:prstGeom prst="roundRect">
            <a:avLst>
              <a:gd name="adj" fmla="val 5714"/>
            </a:avLst>
          </a:prstGeom>
          <a:solidFill>
            <a:srgbClr val="F8FAFC"/>
          </a:solidFill>
          <a:ln w="19050">
            <a:solidFill>
              <a:srgbClr val="DC2626"/>
            </a:solidFill>
            <a:prstDash val="solid"/>
          </a:ln>
        </p:spPr>
      </p:sp>
      <p:sp>
        <p:nvSpPr>
          <p:cNvPr id="16" name="Shape 14"/>
          <p:cNvSpPr/>
          <p:nvPr/>
        </p:nvSpPr>
        <p:spPr>
          <a:xfrm>
            <a:off x="7955280" y="1965960"/>
            <a:ext cx="3291840" cy="320040"/>
          </a:xfrm>
          <a:prstGeom prst="rect">
            <a:avLst/>
          </a:prstGeom>
          <a:solidFill>
            <a:srgbClr val="DC2626"/>
          </a:solidFill>
          <a:ln w="12700">
            <a:solidFill>
              <a:srgbClr val="DC2626"/>
            </a:solidFill>
            <a:prstDash val="solid"/>
          </a:ln>
        </p:spPr>
      </p:sp>
      <p:sp>
        <p:nvSpPr>
          <p:cNvPr id="17" name="Text 15"/>
          <p:cNvSpPr/>
          <p:nvPr/>
        </p:nvSpPr>
        <p:spPr>
          <a:xfrm>
            <a:off x="7955280" y="1965960"/>
            <a:ext cx="32918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Long-Acting</a:t>
            </a:r>
            <a:endParaRPr lang="en-US" sz="1200" dirty="0"/>
          </a:p>
        </p:txBody>
      </p:sp>
      <p:sp>
        <p:nvSpPr>
          <p:cNvPr id="18" name="Text 16"/>
          <p:cNvSpPr/>
          <p:nvPr/>
        </p:nvSpPr>
        <p:spPr>
          <a:xfrm>
            <a:off x="8183880" y="2331720"/>
            <a:ext cx="3017520" cy="914400"/>
          </a:xfrm>
          <a:prstGeom prst="rect">
            <a:avLst/>
          </a:prstGeom>
          <a:noFill/>
          <a:ln/>
        </p:spPr>
        <p:txBody>
          <a:bodyPr wrap="square" rtlCol="0" anchor="ctr"/>
          <a:lstStyle/>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Betamethasone</a:t>
            </a:r>
            <a:endParaRPr lang="en-US" sz="1200" dirty="0"/>
          </a:p>
          <a:p>
            <a:pPr marL="342900" indent="-342900">
              <a:spcAft>
                <a:spcPts val="200"/>
              </a:spcAft>
              <a:buSzPct val="100000"/>
              <a:buChar char="•"/>
            </a:pPr>
            <a:r>
              <a:rPr lang="en-US" sz="1200" dirty="0">
                <a:solidFill>
                  <a:srgbClr val="1E293B"/>
                </a:solidFill>
                <a:latin typeface="Calibri" pitchFamily="34" charset="0"/>
                <a:ea typeface="Calibri" pitchFamily="34" charset="-122"/>
                <a:cs typeface="Calibri" pitchFamily="34" charset="-120"/>
              </a:rPr>
              <a:t>Dexamethasone</a:t>
            </a:r>
            <a:endParaRPr lang="en-US" sz="1200" dirty="0"/>
          </a:p>
        </p:txBody>
      </p:sp>
      <p:sp>
        <p:nvSpPr>
          <p:cNvPr id="19" name="Shape 17"/>
          <p:cNvSpPr/>
          <p:nvPr/>
        </p:nvSpPr>
        <p:spPr>
          <a:xfrm>
            <a:off x="731520" y="3520440"/>
            <a:ext cx="10698480" cy="288036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0" name="Shape 18"/>
          <p:cNvSpPr/>
          <p:nvPr/>
        </p:nvSpPr>
        <p:spPr>
          <a:xfrm>
            <a:off x="731520" y="3520440"/>
            <a:ext cx="10698480" cy="457200"/>
          </a:xfrm>
          <a:prstGeom prst="rect">
            <a:avLst/>
          </a:prstGeom>
          <a:solidFill>
            <a:srgbClr val="0F4C5C"/>
          </a:solidFill>
          <a:ln w="12700">
            <a:solidFill>
              <a:srgbClr val="0F4C5C"/>
            </a:solidFill>
            <a:prstDash val="solid"/>
          </a:ln>
        </p:spPr>
      </p:sp>
      <p:pic>
        <p:nvPicPr>
          <p:cNvPr id="21" name="Image 0" descr="preencoded.png">    </p:cNvPr>
          <p:cNvPicPr>
            <a:picLocks noChangeAspect="1"/>
          </p:cNvPicPr>
          <p:nvPr/>
        </p:nvPicPr>
        <p:blipFill>
          <a:blip r:embed="rId1"/>
          <a:stretch>
            <a:fillRect/>
          </a:stretch>
        </p:blipFill>
        <p:spPr>
          <a:xfrm>
            <a:off x="914400" y="3584448"/>
            <a:ext cx="320040" cy="320040"/>
          </a:xfrm>
          <a:prstGeom prst="rect">
            <a:avLst/>
          </a:prstGeom>
        </p:spPr>
      </p:pic>
      <p:sp>
        <p:nvSpPr>
          <p:cNvPr id="22" name="Text 19"/>
          <p:cNvSpPr/>
          <p:nvPr/>
        </p:nvSpPr>
        <p:spPr>
          <a:xfrm>
            <a:off x="1371600" y="3520440"/>
            <a:ext cx="9144000" cy="45720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Drug Spotlight: Prednisone / Methylprednisolone</a:t>
            </a:r>
            <a:endParaRPr lang="en-US" sz="1500" dirty="0"/>
          </a:p>
        </p:txBody>
      </p:sp>
      <p:sp>
        <p:nvSpPr>
          <p:cNvPr id="23" name="Text 20"/>
          <p:cNvSpPr/>
          <p:nvPr/>
        </p:nvSpPr>
        <p:spPr>
          <a:xfrm>
            <a:off x="914400" y="4160520"/>
            <a:ext cx="2560320" cy="320040"/>
          </a:xfrm>
          <a:prstGeom prst="rect">
            <a:avLst/>
          </a:prstGeom>
          <a:noFill/>
          <a:ln/>
        </p:spPr>
        <p:txBody>
          <a:bodyPr wrap="square" lIns="0" tIns="0" rIns="0" bIns="0" rtlCol="0" anchor="ctr"/>
          <a:lstStyle/>
          <a:p>
            <a:pPr indent="0" marL="0">
              <a:buNone/>
            </a:pPr>
            <a:r>
              <a:rPr lang="en-US" sz="1200" b="1" dirty="0">
                <a:solidFill>
                  <a:srgbClr val="0F4C5C"/>
                </a:solidFill>
                <a:latin typeface="Georgia" pitchFamily="34" charset="0"/>
                <a:ea typeface="Georgia" pitchFamily="34" charset="-122"/>
                <a:cs typeface="Georgia" pitchFamily="34" charset="-120"/>
              </a:rPr>
              <a:t>Therapeutic Class</a:t>
            </a:r>
            <a:endParaRPr lang="en-US" sz="1200" dirty="0"/>
          </a:p>
        </p:txBody>
      </p:sp>
      <p:sp>
        <p:nvSpPr>
          <p:cNvPr id="24" name="Text 21"/>
          <p:cNvSpPr/>
          <p:nvPr/>
        </p:nvSpPr>
        <p:spPr>
          <a:xfrm>
            <a:off x="914400" y="4480560"/>
            <a:ext cx="2560320" cy="1645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Corticosteroid</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(glucocorticoid)</a:t>
            </a:r>
            <a:endParaRPr lang="en-US" sz="1100" dirty="0"/>
          </a:p>
        </p:txBody>
      </p:sp>
      <p:sp>
        <p:nvSpPr>
          <p:cNvPr id="25" name="Text 22"/>
          <p:cNvSpPr/>
          <p:nvPr/>
        </p:nvSpPr>
        <p:spPr>
          <a:xfrm>
            <a:off x="3566160" y="4160520"/>
            <a:ext cx="2560320" cy="320040"/>
          </a:xfrm>
          <a:prstGeom prst="rect">
            <a:avLst/>
          </a:prstGeom>
          <a:noFill/>
          <a:ln/>
        </p:spPr>
        <p:txBody>
          <a:bodyPr wrap="square" lIns="0" tIns="0" rIns="0" bIns="0" rtlCol="0" anchor="ctr"/>
          <a:lstStyle/>
          <a:p>
            <a:pPr indent="0" marL="0">
              <a:buNone/>
            </a:pPr>
            <a:r>
              <a:rPr lang="en-US" sz="1200" b="1" dirty="0">
                <a:solidFill>
                  <a:srgbClr val="0F4C5C"/>
                </a:solidFill>
                <a:latin typeface="Georgia" pitchFamily="34" charset="0"/>
                <a:ea typeface="Georgia" pitchFamily="34" charset="-122"/>
                <a:cs typeface="Georgia" pitchFamily="34" charset="-120"/>
              </a:rPr>
              <a:t>Indications</a:t>
            </a:r>
            <a:endParaRPr lang="en-US" sz="1200" dirty="0"/>
          </a:p>
        </p:txBody>
      </p:sp>
      <p:sp>
        <p:nvSpPr>
          <p:cNvPr id="26" name="Text 23"/>
          <p:cNvSpPr/>
          <p:nvPr/>
        </p:nvSpPr>
        <p:spPr>
          <a:xfrm>
            <a:off x="3566160" y="4480560"/>
            <a:ext cx="2560320" cy="1645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Inflammation,</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allergy, autoimmune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disorders, Addison's</a:t>
            </a:r>
            <a:endParaRPr lang="en-US" sz="1100" dirty="0"/>
          </a:p>
        </p:txBody>
      </p:sp>
      <p:sp>
        <p:nvSpPr>
          <p:cNvPr id="27" name="Text 24"/>
          <p:cNvSpPr/>
          <p:nvPr/>
        </p:nvSpPr>
        <p:spPr>
          <a:xfrm>
            <a:off x="6217920" y="4160520"/>
            <a:ext cx="2560320" cy="320040"/>
          </a:xfrm>
          <a:prstGeom prst="rect">
            <a:avLst/>
          </a:prstGeom>
          <a:noFill/>
          <a:ln/>
        </p:spPr>
        <p:txBody>
          <a:bodyPr wrap="square" lIns="0" tIns="0" rIns="0" bIns="0" rtlCol="0" anchor="ctr"/>
          <a:lstStyle/>
          <a:p>
            <a:pPr indent="0" marL="0">
              <a:buNone/>
            </a:pPr>
            <a:r>
              <a:rPr lang="en-US" sz="1200" b="1" dirty="0">
                <a:solidFill>
                  <a:srgbClr val="0F4C5C"/>
                </a:solidFill>
                <a:latin typeface="Georgia" pitchFamily="34" charset="0"/>
                <a:ea typeface="Georgia" pitchFamily="34" charset="-122"/>
                <a:cs typeface="Georgia" pitchFamily="34" charset="-120"/>
              </a:rPr>
              <a:t>Action</a:t>
            </a:r>
            <a:endParaRPr lang="en-US" sz="1200" dirty="0"/>
          </a:p>
        </p:txBody>
      </p:sp>
      <p:sp>
        <p:nvSpPr>
          <p:cNvPr id="28" name="Text 25"/>
          <p:cNvSpPr/>
          <p:nvPr/>
        </p:nvSpPr>
        <p:spPr>
          <a:xfrm>
            <a:off x="6217920" y="4480560"/>
            <a:ext cx="2560320" cy="1645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Suppress inflammation</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&amp; normal immune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response</a:t>
            </a:r>
            <a:endParaRPr lang="en-US" sz="1100" dirty="0"/>
          </a:p>
        </p:txBody>
      </p:sp>
      <p:sp>
        <p:nvSpPr>
          <p:cNvPr id="29" name="Text 26"/>
          <p:cNvSpPr/>
          <p:nvPr/>
        </p:nvSpPr>
        <p:spPr>
          <a:xfrm>
            <a:off x="8869680" y="4160520"/>
            <a:ext cx="2560320" cy="320040"/>
          </a:xfrm>
          <a:prstGeom prst="rect">
            <a:avLst/>
          </a:prstGeom>
          <a:noFill/>
          <a:ln/>
        </p:spPr>
        <p:txBody>
          <a:bodyPr wrap="square" lIns="0" tIns="0" rIns="0" bIns="0" rtlCol="0" anchor="ctr"/>
          <a:lstStyle/>
          <a:p>
            <a:pPr indent="0" marL="0">
              <a:buNone/>
            </a:pPr>
            <a:r>
              <a:rPr lang="en-US" sz="1200" b="1" dirty="0">
                <a:solidFill>
                  <a:srgbClr val="DC2626"/>
                </a:solidFill>
                <a:latin typeface="Georgia" pitchFamily="34" charset="0"/>
                <a:ea typeface="Georgia" pitchFamily="34" charset="-122"/>
                <a:cs typeface="Georgia" pitchFamily="34" charset="-120"/>
              </a:rPr>
              <a:t>Adverse Effects</a:t>
            </a:r>
            <a:endParaRPr lang="en-US" sz="1200" dirty="0"/>
          </a:p>
        </p:txBody>
      </p:sp>
      <p:sp>
        <p:nvSpPr>
          <p:cNvPr id="30" name="Text 27"/>
          <p:cNvSpPr/>
          <p:nvPr/>
        </p:nvSpPr>
        <p:spPr>
          <a:xfrm>
            <a:off x="8869680" y="4480560"/>
            <a:ext cx="2560320" cy="1645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Cushingoid features,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hyperglycemia, ↑infection,</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osteoporosis,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delayed wound healing</a:t>
            </a:r>
            <a:endParaRPr lang="en-US" sz="1100" dirty="0"/>
          </a:p>
        </p:txBody>
      </p:sp>
      <p:sp>
        <p:nvSpPr>
          <p:cNvPr id="31" name="Shape 28"/>
          <p:cNvSpPr/>
          <p:nvPr/>
        </p:nvSpPr>
        <p:spPr>
          <a:xfrm>
            <a:off x="868680" y="5989320"/>
            <a:ext cx="10424160" cy="365760"/>
          </a:xfrm>
          <a:prstGeom prst="roundRect">
            <a:avLst>
              <a:gd name="adj" fmla="val 12500"/>
            </a:avLst>
          </a:prstGeom>
          <a:solidFill>
            <a:srgbClr val="FEF3C7"/>
          </a:solidFill>
          <a:ln w="12700">
            <a:solidFill>
              <a:srgbClr val="E36414"/>
            </a:solidFill>
            <a:prstDash val="solid"/>
          </a:ln>
        </p:spPr>
      </p:sp>
      <p:sp>
        <p:nvSpPr>
          <p:cNvPr id="32" name="Text 29"/>
          <p:cNvSpPr/>
          <p:nvPr/>
        </p:nvSpPr>
        <p:spPr>
          <a:xfrm>
            <a:off x="1005840" y="5989320"/>
            <a:ext cx="10149840" cy="365760"/>
          </a:xfrm>
          <a:prstGeom prst="rect">
            <a:avLst/>
          </a:prstGeom>
          <a:noFill/>
          <a:ln/>
        </p:spPr>
        <p:txBody>
          <a:bodyPr wrap="square" lIns="0" tIns="0" rIns="0" bIns="0" rtlCol="0" anchor="ctr"/>
          <a:lstStyle/>
          <a:p>
            <a:pPr indent="0" marL="0">
              <a:buNone/>
            </a:pPr>
            <a:r>
              <a:rPr lang="en-US" sz="1100" b="1" i="1" dirty="0">
                <a:solidFill>
                  <a:srgbClr val="1E293B"/>
                </a:solidFill>
                <a:latin typeface="Calibri" pitchFamily="34" charset="0"/>
                <a:ea typeface="Calibri" pitchFamily="34" charset="-122"/>
                <a:cs typeface="Calibri" pitchFamily="34" charset="-120"/>
              </a:rPr>
              <a:t>★ Never stop steroids abruptly — taper to prevent adrenal insufficiency. Take with food; monitor glucose &amp; signs of infection.</a:t>
            </a:r>
            <a:endParaRPr lang="en-US" sz="1100" dirty="0"/>
          </a:p>
        </p:txBody>
      </p:sp>
      <p:sp>
        <p:nvSpPr>
          <p:cNvPr id="33" name="Text 30"/>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4" name="Text 31"/>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Conn's Syndrome (Primary Aldosteronism)</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Adrenal tumor → excess aldosterone alone</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7" name="Text 4"/>
          <p:cNvSpPr/>
          <p:nvPr/>
        </p:nvSpPr>
        <p:spPr>
          <a:xfrm>
            <a:off x="1371600" y="1719072"/>
            <a:ext cx="4572000" cy="41148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Overview</a:t>
            </a:r>
            <a:endParaRPr lang="en-US" sz="1700" dirty="0"/>
          </a:p>
        </p:txBody>
      </p:sp>
      <p:sp>
        <p:nvSpPr>
          <p:cNvPr id="8" name="Text 5"/>
          <p:cNvSpPr/>
          <p:nvPr/>
        </p:nvSpPr>
        <p:spPr>
          <a:xfrm>
            <a:off x="914400" y="2331720"/>
            <a:ext cx="5029200" cy="3657600"/>
          </a:xfrm>
          <a:prstGeom prst="rect">
            <a:avLst/>
          </a:prstGeom>
          <a:noFill/>
          <a:ln/>
        </p:spPr>
        <p:txBody>
          <a:bodyPr wrap="square" rtlCol="0" anchor="ctr"/>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Also called 'primary aldosteronism'</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Caused by a tumor of the adrenal cortex</a:t>
            </a:r>
            <a:endParaRPr lang="en-US" sz="1250" dirty="0"/>
          </a:p>
          <a:p>
            <a:pPr marL="342900" indent="-342900">
              <a:spcAft>
                <a:spcPts val="600"/>
              </a:spcAft>
              <a:buSzPct val="100000"/>
              <a:buChar char="•"/>
            </a:pPr>
            <a:r>
              <a:rPr lang="en-US" sz="1250" b="1" dirty="0">
                <a:solidFill>
                  <a:srgbClr val="E36414"/>
                </a:solidFill>
                <a:latin typeface="Calibri" pitchFamily="34" charset="0"/>
                <a:ea typeface="Calibri" pitchFamily="34" charset="-122"/>
                <a:cs typeface="Calibri" pitchFamily="34" charset="-120"/>
              </a:rPr>
              <a:t>Tumor secretes EXCESS aldosterone only</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Remember aldosterone → keeps Na⁺ &amp; H₂O, excretes K⁺</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Treatment: surgical removal of tumor (adrenalectomy)</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Medical: spironolactone (K⁺-sparing diuretic, aldosterone antagonist)</a:t>
            </a:r>
            <a:endParaRPr lang="en-US" sz="1250" dirty="0"/>
          </a:p>
        </p:txBody>
      </p:sp>
      <p:sp>
        <p:nvSpPr>
          <p:cNvPr id="9" name="Shape 6"/>
          <p:cNvSpPr/>
          <p:nvPr/>
        </p:nvSpPr>
        <p:spPr>
          <a:xfrm>
            <a:off x="6355080" y="1600200"/>
            <a:ext cx="5074920" cy="1371600"/>
          </a:xfrm>
          <a:prstGeom prst="roundRect">
            <a:avLst>
              <a:gd name="adj" fmla="val 6667"/>
            </a:avLst>
          </a:prstGeom>
          <a:solidFill>
            <a:srgbClr val="FEE2E2"/>
          </a:solidFill>
          <a:ln w="19050">
            <a:solidFill>
              <a:srgbClr val="DC2626"/>
            </a:solidFill>
            <a:prstDash val="solid"/>
          </a:ln>
        </p:spPr>
      </p:sp>
      <p:sp>
        <p:nvSpPr>
          <p:cNvPr id="10" name="Shape 7"/>
          <p:cNvSpPr/>
          <p:nvPr/>
        </p:nvSpPr>
        <p:spPr>
          <a:xfrm>
            <a:off x="6537960" y="1874520"/>
            <a:ext cx="822960" cy="822960"/>
          </a:xfrm>
          <a:prstGeom prst="ellipse">
            <a:avLst/>
          </a:prstGeom>
          <a:solidFill>
            <a:srgbClr val="FFFFFF"/>
          </a:solidFill>
          <a:ln w="1905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675120" y="2011680"/>
            <a:ext cx="548640" cy="548640"/>
          </a:xfrm>
          <a:prstGeom prst="rect">
            <a:avLst/>
          </a:prstGeom>
        </p:spPr>
      </p:pic>
      <p:sp>
        <p:nvSpPr>
          <p:cNvPr id="12" name="Text 8"/>
          <p:cNvSpPr/>
          <p:nvPr/>
        </p:nvSpPr>
        <p:spPr>
          <a:xfrm>
            <a:off x="7498080" y="1874520"/>
            <a:ext cx="3840480" cy="411480"/>
          </a:xfrm>
          <a:prstGeom prst="rect">
            <a:avLst/>
          </a:prstGeom>
          <a:noFill/>
          <a:ln/>
        </p:spPr>
        <p:txBody>
          <a:bodyPr wrap="square" lIns="0" tIns="0" rIns="0" bIns="0" rtlCol="0" anchor="ctr"/>
          <a:lstStyle/>
          <a:p>
            <a:pPr indent="0" marL="0">
              <a:buNone/>
            </a:pPr>
            <a:r>
              <a:rPr lang="en-US" sz="1900" b="1" dirty="0">
                <a:solidFill>
                  <a:srgbClr val="DC2626"/>
                </a:solidFill>
                <a:latin typeface="Georgia" pitchFamily="34" charset="0"/>
                <a:ea typeface="Georgia" pitchFamily="34" charset="-122"/>
                <a:cs typeface="Georgia" pitchFamily="34" charset="-120"/>
              </a:rPr>
              <a:t>HYPERTENSION</a:t>
            </a:r>
            <a:endParaRPr lang="en-US" sz="1900" dirty="0"/>
          </a:p>
        </p:txBody>
      </p:sp>
      <p:sp>
        <p:nvSpPr>
          <p:cNvPr id="13" name="Text 9"/>
          <p:cNvSpPr/>
          <p:nvPr/>
        </p:nvSpPr>
        <p:spPr>
          <a:xfrm>
            <a:off x="7498080" y="2331720"/>
            <a:ext cx="3840480" cy="45720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 &amp; water retention ↑ BP</a:t>
            </a:r>
            <a:endParaRPr lang="en-US" sz="1200" dirty="0"/>
          </a:p>
        </p:txBody>
      </p:sp>
      <p:sp>
        <p:nvSpPr>
          <p:cNvPr id="14" name="Shape 10"/>
          <p:cNvSpPr/>
          <p:nvPr/>
        </p:nvSpPr>
        <p:spPr>
          <a:xfrm>
            <a:off x="6355080" y="3154680"/>
            <a:ext cx="5074920" cy="1371600"/>
          </a:xfrm>
          <a:prstGeom prst="roundRect">
            <a:avLst>
              <a:gd name="adj" fmla="val 6667"/>
            </a:avLst>
          </a:prstGeom>
          <a:solidFill>
            <a:srgbClr val="FEE2E2"/>
          </a:solidFill>
          <a:ln w="19050">
            <a:solidFill>
              <a:srgbClr val="DC2626"/>
            </a:solidFill>
            <a:prstDash val="solid"/>
          </a:ln>
        </p:spPr>
      </p:sp>
      <p:sp>
        <p:nvSpPr>
          <p:cNvPr id="15" name="Shape 11"/>
          <p:cNvSpPr/>
          <p:nvPr/>
        </p:nvSpPr>
        <p:spPr>
          <a:xfrm>
            <a:off x="6537960" y="3429000"/>
            <a:ext cx="822960" cy="822960"/>
          </a:xfrm>
          <a:prstGeom prst="ellipse">
            <a:avLst/>
          </a:prstGeom>
          <a:solidFill>
            <a:srgbClr val="FFFFFF"/>
          </a:solidFill>
          <a:ln w="19050">
            <a:solidFill>
              <a:srgbClr val="DC2626"/>
            </a:solidFill>
            <a:prstDash val="solid"/>
          </a:ln>
        </p:spPr>
      </p:sp>
      <p:pic>
        <p:nvPicPr>
          <p:cNvPr id="16" name="Image 2" descr="preencoded.png">    </p:cNvPr>
          <p:cNvPicPr>
            <a:picLocks noChangeAspect="1"/>
          </p:cNvPicPr>
          <p:nvPr/>
        </p:nvPicPr>
        <p:blipFill>
          <a:blip r:embed="rId3"/>
          <a:stretch>
            <a:fillRect/>
          </a:stretch>
        </p:blipFill>
        <p:spPr>
          <a:xfrm>
            <a:off x="6675120" y="3566160"/>
            <a:ext cx="548640" cy="548640"/>
          </a:xfrm>
          <a:prstGeom prst="rect">
            <a:avLst/>
          </a:prstGeom>
        </p:spPr>
      </p:pic>
      <p:sp>
        <p:nvSpPr>
          <p:cNvPr id="17" name="Text 12"/>
          <p:cNvSpPr/>
          <p:nvPr/>
        </p:nvSpPr>
        <p:spPr>
          <a:xfrm>
            <a:off x="7498080" y="3429000"/>
            <a:ext cx="3840480" cy="411480"/>
          </a:xfrm>
          <a:prstGeom prst="rect">
            <a:avLst/>
          </a:prstGeom>
          <a:noFill/>
          <a:ln/>
        </p:spPr>
        <p:txBody>
          <a:bodyPr wrap="square" lIns="0" tIns="0" rIns="0" bIns="0" rtlCol="0" anchor="ctr"/>
          <a:lstStyle/>
          <a:p>
            <a:pPr indent="0" marL="0">
              <a:buNone/>
            </a:pPr>
            <a:r>
              <a:rPr lang="en-US" sz="1900" b="1" dirty="0">
                <a:solidFill>
                  <a:srgbClr val="DC2626"/>
                </a:solidFill>
                <a:latin typeface="Georgia" pitchFamily="34" charset="0"/>
                <a:ea typeface="Georgia" pitchFamily="34" charset="-122"/>
                <a:cs typeface="Georgia" pitchFamily="34" charset="-120"/>
              </a:rPr>
              <a:t>HYPOKALEMIA</a:t>
            </a:r>
            <a:endParaRPr lang="en-US" sz="1900" dirty="0"/>
          </a:p>
        </p:txBody>
      </p:sp>
      <p:sp>
        <p:nvSpPr>
          <p:cNvPr id="18" name="Text 13"/>
          <p:cNvSpPr/>
          <p:nvPr/>
        </p:nvSpPr>
        <p:spPr>
          <a:xfrm>
            <a:off x="7498080" y="3886200"/>
            <a:ext cx="3840480" cy="45720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 wasted in urine</a:t>
            </a:r>
            <a:endParaRPr lang="en-US" sz="1200" dirty="0"/>
          </a:p>
        </p:txBody>
      </p:sp>
      <p:sp>
        <p:nvSpPr>
          <p:cNvPr id="19" name="Shape 14"/>
          <p:cNvSpPr/>
          <p:nvPr/>
        </p:nvSpPr>
        <p:spPr>
          <a:xfrm>
            <a:off x="6355080" y="4709160"/>
            <a:ext cx="5074920" cy="1371600"/>
          </a:xfrm>
          <a:prstGeom prst="roundRect">
            <a:avLst>
              <a:gd name="adj" fmla="val 6667"/>
            </a:avLst>
          </a:prstGeom>
          <a:solidFill>
            <a:srgbClr val="FEE2E2"/>
          </a:solidFill>
          <a:ln w="19050">
            <a:solidFill>
              <a:srgbClr val="DC2626"/>
            </a:solidFill>
            <a:prstDash val="solid"/>
          </a:ln>
        </p:spPr>
      </p:sp>
      <p:sp>
        <p:nvSpPr>
          <p:cNvPr id="20" name="Shape 15"/>
          <p:cNvSpPr/>
          <p:nvPr/>
        </p:nvSpPr>
        <p:spPr>
          <a:xfrm>
            <a:off x="6537960" y="4983480"/>
            <a:ext cx="822960" cy="822960"/>
          </a:xfrm>
          <a:prstGeom prst="ellipse">
            <a:avLst/>
          </a:prstGeom>
          <a:solidFill>
            <a:srgbClr val="FFFFFF"/>
          </a:solidFill>
          <a:ln w="19050">
            <a:solidFill>
              <a:srgbClr val="DC2626"/>
            </a:solidFill>
            <a:prstDash val="solid"/>
          </a:ln>
        </p:spPr>
      </p:sp>
      <p:pic>
        <p:nvPicPr>
          <p:cNvPr id="21" name="Image 3" descr="preencoded.png">    </p:cNvPr>
          <p:cNvPicPr>
            <a:picLocks noChangeAspect="1"/>
          </p:cNvPicPr>
          <p:nvPr/>
        </p:nvPicPr>
        <p:blipFill>
          <a:blip r:embed="rId4"/>
          <a:stretch>
            <a:fillRect/>
          </a:stretch>
        </p:blipFill>
        <p:spPr>
          <a:xfrm>
            <a:off x="6675120" y="5120640"/>
            <a:ext cx="548640" cy="548640"/>
          </a:xfrm>
          <a:prstGeom prst="rect">
            <a:avLst/>
          </a:prstGeom>
        </p:spPr>
      </p:pic>
      <p:sp>
        <p:nvSpPr>
          <p:cNvPr id="22" name="Text 16"/>
          <p:cNvSpPr/>
          <p:nvPr/>
        </p:nvSpPr>
        <p:spPr>
          <a:xfrm>
            <a:off x="7498080" y="4983480"/>
            <a:ext cx="3840480" cy="411480"/>
          </a:xfrm>
          <a:prstGeom prst="rect">
            <a:avLst/>
          </a:prstGeom>
          <a:noFill/>
          <a:ln/>
        </p:spPr>
        <p:txBody>
          <a:bodyPr wrap="square" lIns="0" tIns="0" rIns="0" bIns="0" rtlCol="0" anchor="ctr"/>
          <a:lstStyle/>
          <a:p>
            <a:pPr indent="0" marL="0">
              <a:buNone/>
            </a:pPr>
            <a:r>
              <a:rPr lang="en-US" sz="1900" b="1" dirty="0">
                <a:solidFill>
                  <a:srgbClr val="DC2626"/>
                </a:solidFill>
                <a:latin typeface="Georgia" pitchFamily="34" charset="0"/>
                <a:ea typeface="Georgia" pitchFamily="34" charset="-122"/>
                <a:cs typeface="Georgia" pitchFamily="34" charset="-120"/>
              </a:rPr>
              <a:t>HYPERNATREMIA</a:t>
            </a:r>
            <a:endParaRPr lang="en-US" sz="1900" dirty="0"/>
          </a:p>
        </p:txBody>
      </p:sp>
      <p:sp>
        <p:nvSpPr>
          <p:cNvPr id="23" name="Text 17"/>
          <p:cNvSpPr/>
          <p:nvPr/>
        </p:nvSpPr>
        <p:spPr>
          <a:xfrm>
            <a:off x="7498080" y="5440680"/>
            <a:ext cx="3840480" cy="45720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 reabsorbed</a:t>
            </a:r>
            <a:endParaRPr lang="en-US" sz="1200" dirty="0"/>
          </a:p>
        </p:txBody>
      </p:sp>
      <p:sp>
        <p:nvSpPr>
          <p:cNvPr id="24" name="Text 1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5" name="Text 1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Pheochromocytoma</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Tumor of the adrenal medulla → excess catecholamines</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7" name="Text 4"/>
          <p:cNvSpPr/>
          <p:nvPr/>
        </p:nvSpPr>
        <p:spPr>
          <a:xfrm>
            <a:off x="1371600" y="1719072"/>
            <a:ext cx="4572000" cy="41148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Pathophysiology</a:t>
            </a:r>
            <a:endParaRPr lang="en-US" sz="1700" dirty="0"/>
          </a:p>
        </p:txBody>
      </p:sp>
      <p:sp>
        <p:nvSpPr>
          <p:cNvPr id="8" name="Text 5"/>
          <p:cNvSpPr/>
          <p:nvPr/>
        </p:nvSpPr>
        <p:spPr>
          <a:xfrm>
            <a:off x="914400" y="2331720"/>
            <a:ext cx="5029200" cy="3657600"/>
          </a:xfrm>
          <a:prstGeom prst="rect">
            <a:avLst/>
          </a:prstGeom>
          <a:noFill/>
          <a:ln/>
        </p:spPr>
        <p:txBody>
          <a:bodyPr wrap="square" rtlCol="0" anchor="ctr"/>
          <a:lstStyle/>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Tumor on the adrenal MEDULLA</a:t>
            </a:r>
            <a:endParaRPr lang="en-US" sz="1250" dirty="0"/>
          </a:p>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Medulla normally secretes catecholamines</a:t>
            </a:r>
            <a:endParaRPr lang="en-US" sz="1250" dirty="0"/>
          </a:p>
          <a:p>
            <a:pPr marL="342900" indent="-342900">
              <a:spcAft>
                <a:spcPts val="400"/>
              </a:spcAft>
              <a:buSzPct val="100000"/>
              <a:buChar char="•"/>
            </a:pPr>
            <a:r>
              <a:rPr lang="en-US" sz="1250" b="1" dirty="0">
                <a:solidFill>
                  <a:srgbClr val="1E293B"/>
                </a:solidFill>
                <a:latin typeface="Calibri" pitchFamily="34" charset="0"/>
                <a:ea typeface="Calibri" pitchFamily="34" charset="-122"/>
                <a:cs typeface="Calibri" pitchFamily="34" charset="-120"/>
              </a:rPr>
              <a:t>Excess epinephrine &amp; norepinephrine</a:t>
            </a:r>
            <a:endParaRPr lang="en-US" sz="1250" dirty="0"/>
          </a:p>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Causes paroxysmal (episodic) BP spikes</a:t>
            </a:r>
            <a:endParaRPr lang="en-US" sz="1250" dirty="0"/>
          </a:p>
          <a:p>
            <a:pPr indent="0" marL="0">
              <a:spcAft>
                <a:spcPts val="400"/>
              </a:spcAft>
              <a:buNone/>
            </a:pPr>
            <a:endParaRPr lang="en-US" sz="1250" dirty="0"/>
          </a:p>
          <a:p>
            <a:pPr indent="0" marL="0">
              <a:spcAft>
                <a:spcPts val="400"/>
              </a:spcAft>
              <a:buNone/>
            </a:pPr>
            <a:r>
              <a:rPr lang="en-US" sz="1250" b="1" dirty="0">
                <a:solidFill>
                  <a:srgbClr val="DC2626"/>
                </a:solidFill>
                <a:latin typeface="Calibri" pitchFamily="34" charset="0"/>
                <a:ea typeface="Calibri" pitchFamily="34" charset="-122"/>
                <a:cs typeface="Calibri" pitchFamily="34" charset="-120"/>
              </a:rPr>
              <a:t>DO NOT palpate the abdomen</a:t>
            </a:r>
            <a:endParaRPr lang="en-US" sz="1250" dirty="0"/>
          </a:p>
          <a:p>
            <a:pPr indent="0" marL="0">
              <a:spcAft>
                <a:spcPts val="400"/>
              </a:spcAft>
              <a:buNone/>
            </a:pPr>
            <a:r>
              <a:rPr lang="en-US" sz="1250" i="1" dirty="0">
                <a:solidFill>
                  <a:srgbClr val="DC2626"/>
                </a:solidFill>
                <a:latin typeface="Calibri" pitchFamily="34" charset="0"/>
                <a:ea typeface="Calibri" pitchFamily="34" charset="-122"/>
                <a:cs typeface="Calibri" pitchFamily="34" charset="-120"/>
              </a:rPr>
              <a:t>— palpation can trigger a massive catecholamine release and hypertensive crisis</a:t>
            </a:r>
            <a:endParaRPr lang="en-US" sz="1250" dirty="0"/>
          </a:p>
        </p:txBody>
      </p:sp>
      <p:sp>
        <p:nvSpPr>
          <p:cNvPr id="9" name="Shape 6"/>
          <p:cNvSpPr/>
          <p:nvPr/>
        </p:nvSpPr>
        <p:spPr>
          <a:xfrm>
            <a:off x="6355080" y="1554480"/>
            <a:ext cx="5074920" cy="4572000"/>
          </a:xfrm>
          <a:prstGeom prst="rect">
            <a:avLst/>
          </a:prstGeom>
          <a:solidFill>
            <a:srgbClr val="FEE2E2"/>
          </a:solidFill>
          <a:ln w="12700">
            <a:solidFill>
              <a:srgbClr val="DC2626"/>
            </a:solidFill>
            <a:prstDash val="solid"/>
          </a:ln>
          <a:effectLst>
            <a:outerShdw sx="100000" sy="100000" kx="0" ky="0" algn="bl" rotWithShape="0" blurRad="127000" dist="25400" dir="5400000">
              <a:srgbClr val="000000">
                <a:alpha val="8000"/>
              </a:srgbClr>
            </a:outerShdw>
          </a:effectLst>
        </p:spPr>
      </p:sp>
      <p:sp>
        <p:nvSpPr>
          <p:cNvPr id="10" name="Text 7"/>
          <p:cNvSpPr/>
          <p:nvPr/>
        </p:nvSpPr>
        <p:spPr>
          <a:xfrm>
            <a:off x="6492240" y="1737360"/>
            <a:ext cx="4754880" cy="411480"/>
          </a:xfrm>
          <a:prstGeom prst="rect">
            <a:avLst/>
          </a:prstGeom>
          <a:noFill/>
          <a:ln/>
        </p:spPr>
        <p:txBody>
          <a:bodyPr wrap="square" lIns="0" tIns="0" rIns="0" bIns="0" rtlCol="0" anchor="ctr"/>
          <a:lstStyle/>
          <a:p>
            <a:pPr indent="0" marL="0">
              <a:buNone/>
            </a:pPr>
            <a:r>
              <a:rPr lang="en-US" sz="1600" b="1" dirty="0">
                <a:solidFill>
                  <a:srgbClr val="DC2626"/>
                </a:solidFill>
                <a:latin typeface="Georgia" pitchFamily="34" charset="0"/>
                <a:ea typeface="Georgia" pitchFamily="34" charset="-122"/>
                <a:cs typeface="Georgia" pitchFamily="34" charset="-120"/>
              </a:rPr>
              <a:t>The 5 P's &amp; Key Signs</a:t>
            </a:r>
            <a:endParaRPr lang="en-US" sz="1600" dirty="0"/>
          </a:p>
        </p:txBody>
      </p:sp>
      <p:sp>
        <p:nvSpPr>
          <p:cNvPr id="11" name="Shape 8"/>
          <p:cNvSpPr/>
          <p:nvPr/>
        </p:nvSpPr>
        <p:spPr>
          <a:xfrm>
            <a:off x="6537960" y="2286000"/>
            <a:ext cx="4754880" cy="594360"/>
          </a:xfrm>
          <a:prstGeom prst="roundRect">
            <a:avLst>
              <a:gd name="adj" fmla="val 7692"/>
            </a:avLst>
          </a:prstGeom>
          <a:solidFill>
            <a:srgbClr val="FFFFFF"/>
          </a:solidFill>
          <a:ln w="9525">
            <a:solidFill>
              <a:srgbClr val="DC2626"/>
            </a:solidFill>
            <a:prstDash val="solid"/>
          </a:ln>
        </p:spPr>
      </p:sp>
      <p:sp>
        <p:nvSpPr>
          <p:cNvPr id="12" name="Text 9"/>
          <p:cNvSpPr/>
          <p:nvPr/>
        </p:nvSpPr>
        <p:spPr>
          <a:xfrm>
            <a:off x="6675120" y="2286000"/>
            <a:ext cx="4572000" cy="594360"/>
          </a:xfrm>
          <a:prstGeom prst="rect">
            <a:avLst/>
          </a:prstGeom>
          <a:noFill/>
          <a:ln/>
        </p:spPr>
        <p:txBody>
          <a:bodyPr wrap="square" lIns="0" tIns="0" rIns="0" bIns="0" rtlCol="0" anchor="ctr"/>
          <a:lstStyle/>
          <a:p>
            <a:pPr indent="0" marL="0">
              <a:buNone/>
            </a:pPr>
            <a:r>
              <a:rPr lang="en-US" sz="1250" b="1" dirty="0">
                <a:solidFill>
                  <a:srgbClr val="DC2626"/>
                </a:solidFill>
                <a:latin typeface="Calibri" pitchFamily="34" charset="0"/>
                <a:ea typeface="Calibri" pitchFamily="34" charset="-122"/>
                <a:cs typeface="Calibri" pitchFamily="34" charset="-120"/>
              </a:rPr>
              <a:t>Pressure:  </a:t>
            </a:r>
            <a:pPr indent="0" marL="0">
              <a:buNone/>
            </a:pPr>
            <a:r>
              <a:rPr lang="en-US" sz="1250" dirty="0">
                <a:solidFill>
                  <a:srgbClr val="1E293B"/>
                </a:solidFill>
                <a:latin typeface="Calibri" pitchFamily="34" charset="0"/>
                <a:ea typeface="Calibri" pitchFamily="34" charset="-122"/>
                <a:cs typeface="Calibri" pitchFamily="34" charset="-120"/>
              </a:rPr>
              <a:t>severe hypertension (paroxysmal)</a:t>
            </a:r>
            <a:endParaRPr lang="en-US" sz="1250" dirty="0"/>
          </a:p>
        </p:txBody>
      </p:sp>
      <p:sp>
        <p:nvSpPr>
          <p:cNvPr id="13" name="Shape 10"/>
          <p:cNvSpPr/>
          <p:nvPr/>
        </p:nvSpPr>
        <p:spPr>
          <a:xfrm>
            <a:off x="6537960" y="2971800"/>
            <a:ext cx="4754880" cy="594360"/>
          </a:xfrm>
          <a:prstGeom prst="roundRect">
            <a:avLst>
              <a:gd name="adj" fmla="val 7692"/>
            </a:avLst>
          </a:prstGeom>
          <a:solidFill>
            <a:srgbClr val="FFFFFF"/>
          </a:solidFill>
          <a:ln w="9525">
            <a:solidFill>
              <a:srgbClr val="DC2626"/>
            </a:solidFill>
            <a:prstDash val="solid"/>
          </a:ln>
        </p:spPr>
      </p:sp>
      <p:sp>
        <p:nvSpPr>
          <p:cNvPr id="14" name="Text 11"/>
          <p:cNvSpPr/>
          <p:nvPr/>
        </p:nvSpPr>
        <p:spPr>
          <a:xfrm>
            <a:off x="6675120" y="2971800"/>
            <a:ext cx="4572000" cy="594360"/>
          </a:xfrm>
          <a:prstGeom prst="rect">
            <a:avLst/>
          </a:prstGeom>
          <a:noFill/>
          <a:ln/>
        </p:spPr>
        <p:txBody>
          <a:bodyPr wrap="square" lIns="0" tIns="0" rIns="0" bIns="0" rtlCol="0" anchor="ctr"/>
          <a:lstStyle/>
          <a:p>
            <a:pPr indent="0" marL="0">
              <a:buNone/>
            </a:pPr>
            <a:r>
              <a:rPr lang="en-US" sz="1250" b="1" dirty="0">
                <a:solidFill>
                  <a:srgbClr val="DC2626"/>
                </a:solidFill>
                <a:latin typeface="Calibri" pitchFamily="34" charset="0"/>
                <a:ea typeface="Calibri" pitchFamily="34" charset="-122"/>
                <a:cs typeface="Calibri" pitchFamily="34" charset="-120"/>
              </a:rPr>
              <a:t>Pain:  </a:t>
            </a:r>
            <a:pPr indent="0" marL="0">
              <a:buNone/>
            </a:pPr>
            <a:r>
              <a:rPr lang="en-US" sz="1250" dirty="0">
                <a:solidFill>
                  <a:srgbClr val="1E293B"/>
                </a:solidFill>
                <a:latin typeface="Calibri" pitchFamily="34" charset="0"/>
                <a:ea typeface="Calibri" pitchFamily="34" charset="-122"/>
                <a:cs typeface="Calibri" pitchFamily="34" charset="-120"/>
              </a:rPr>
              <a:t>severe headache, chest pain, abdominal pain</a:t>
            </a:r>
            <a:endParaRPr lang="en-US" sz="1250" dirty="0"/>
          </a:p>
        </p:txBody>
      </p:sp>
      <p:sp>
        <p:nvSpPr>
          <p:cNvPr id="15" name="Shape 12"/>
          <p:cNvSpPr/>
          <p:nvPr/>
        </p:nvSpPr>
        <p:spPr>
          <a:xfrm>
            <a:off x="6537960" y="3657600"/>
            <a:ext cx="4754880" cy="594360"/>
          </a:xfrm>
          <a:prstGeom prst="roundRect">
            <a:avLst>
              <a:gd name="adj" fmla="val 7692"/>
            </a:avLst>
          </a:prstGeom>
          <a:solidFill>
            <a:srgbClr val="FFFFFF"/>
          </a:solidFill>
          <a:ln w="9525">
            <a:solidFill>
              <a:srgbClr val="DC2626"/>
            </a:solidFill>
            <a:prstDash val="solid"/>
          </a:ln>
        </p:spPr>
      </p:sp>
      <p:sp>
        <p:nvSpPr>
          <p:cNvPr id="16" name="Text 13"/>
          <p:cNvSpPr/>
          <p:nvPr/>
        </p:nvSpPr>
        <p:spPr>
          <a:xfrm>
            <a:off x="6675120" y="3657600"/>
            <a:ext cx="4572000" cy="594360"/>
          </a:xfrm>
          <a:prstGeom prst="rect">
            <a:avLst/>
          </a:prstGeom>
          <a:noFill/>
          <a:ln/>
        </p:spPr>
        <p:txBody>
          <a:bodyPr wrap="square" lIns="0" tIns="0" rIns="0" bIns="0" rtlCol="0" anchor="ctr"/>
          <a:lstStyle/>
          <a:p>
            <a:pPr indent="0" marL="0">
              <a:buNone/>
            </a:pPr>
            <a:r>
              <a:rPr lang="en-US" sz="1250" b="1" dirty="0">
                <a:solidFill>
                  <a:srgbClr val="DC2626"/>
                </a:solidFill>
                <a:latin typeface="Calibri" pitchFamily="34" charset="0"/>
                <a:ea typeface="Calibri" pitchFamily="34" charset="-122"/>
                <a:cs typeface="Calibri" pitchFamily="34" charset="-120"/>
              </a:rPr>
              <a:t>Palpitations:  </a:t>
            </a:r>
            <a:pPr indent="0" marL="0">
              <a:buNone/>
            </a:pPr>
            <a:r>
              <a:rPr lang="en-US" sz="1250" dirty="0">
                <a:solidFill>
                  <a:srgbClr val="1E293B"/>
                </a:solidFill>
                <a:latin typeface="Calibri" pitchFamily="34" charset="0"/>
                <a:ea typeface="Calibri" pitchFamily="34" charset="-122"/>
                <a:cs typeface="Calibri" pitchFamily="34" charset="-120"/>
              </a:rPr>
              <a:t>tachycardia, arrhythmias</a:t>
            </a:r>
            <a:endParaRPr lang="en-US" sz="1250" dirty="0"/>
          </a:p>
        </p:txBody>
      </p:sp>
      <p:sp>
        <p:nvSpPr>
          <p:cNvPr id="17" name="Shape 14"/>
          <p:cNvSpPr/>
          <p:nvPr/>
        </p:nvSpPr>
        <p:spPr>
          <a:xfrm>
            <a:off x="6537960" y="4343400"/>
            <a:ext cx="4754880" cy="594360"/>
          </a:xfrm>
          <a:prstGeom prst="roundRect">
            <a:avLst>
              <a:gd name="adj" fmla="val 7692"/>
            </a:avLst>
          </a:prstGeom>
          <a:solidFill>
            <a:srgbClr val="FFFFFF"/>
          </a:solidFill>
          <a:ln w="9525">
            <a:solidFill>
              <a:srgbClr val="DC2626"/>
            </a:solidFill>
            <a:prstDash val="solid"/>
          </a:ln>
        </p:spPr>
      </p:sp>
      <p:sp>
        <p:nvSpPr>
          <p:cNvPr id="18" name="Text 15"/>
          <p:cNvSpPr/>
          <p:nvPr/>
        </p:nvSpPr>
        <p:spPr>
          <a:xfrm>
            <a:off x="6675120" y="4343400"/>
            <a:ext cx="4572000" cy="594360"/>
          </a:xfrm>
          <a:prstGeom prst="rect">
            <a:avLst/>
          </a:prstGeom>
          <a:noFill/>
          <a:ln/>
        </p:spPr>
        <p:txBody>
          <a:bodyPr wrap="square" lIns="0" tIns="0" rIns="0" bIns="0" rtlCol="0" anchor="ctr"/>
          <a:lstStyle/>
          <a:p>
            <a:pPr indent="0" marL="0">
              <a:buNone/>
            </a:pPr>
            <a:r>
              <a:rPr lang="en-US" sz="1250" b="1" dirty="0">
                <a:solidFill>
                  <a:srgbClr val="DC2626"/>
                </a:solidFill>
                <a:latin typeface="Calibri" pitchFamily="34" charset="0"/>
                <a:ea typeface="Calibri" pitchFamily="34" charset="-122"/>
                <a:cs typeface="Calibri" pitchFamily="34" charset="-120"/>
              </a:rPr>
              <a:t>Perspiration:  </a:t>
            </a:r>
            <a:pPr indent="0" marL="0">
              <a:buNone/>
            </a:pPr>
            <a:r>
              <a:rPr lang="en-US" sz="1250" dirty="0">
                <a:solidFill>
                  <a:srgbClr val="1E293B"/>
                </a:solidFill>
                <a:latin typeface="Calibri" pitchFamily="34" charset="0"/>
                <a:ea typeface="Calibri" pitchFamily="34" charset="-122"/>
                <a:cs typeface="Calibri" pitchFamily="34" charset="-120"/>
              </a:rPr>
              <a:t>diaphoresis</a:t>
            </a:r>
            <a:endParaRPr lang="en-US" sz="1250" dirty="0"/>
          </a:p>
        </p:txBody>
      </p:sp>
      <p:sp>
        <p:nvSpPr>
          <p:cNvPr id="19" name="Shape 16"/>
          <p:cNvSpPr/>
          <p:nvPr/>
        </p:nvSpPr>
        <p:spPr>
          <a:xfrm>
            <a:off x="6537960" y="5029200"/>
            <a:ext cx="4754880" cy="594360"/>
          </a:xfrm>
          <a:prstGeom prst="roundRect">
            <a:avLst>
              <a:gd name="adj" fmla="val 7692"/>
            </a:avLst>
          </a:prstGeom>
          <a:solidFill>
            <a:srgbClr val="FFFFFF"/>
          </a:solidFill>
          <a:ln w="9525">
            <a:solidFill>
              <a:srgbClr val="DC2626"/>
            </a:solidFill>
            <a:prstDash val="solid"/>
          </a:ln>
        </p:spPr>
      </p:sp>
      <p:sp>
        <p:nvSpPr>
          <p:cNvPr id="20" name="Text 17"/>
          <p:cNvSpPr/>
          <p:nvPr/>
        </p:nvSpPr>
        <p:spPr>
          <a:xfrm>
            <a:off x="6675120" y="5029200"/>
            <a:ext cx="4572000" cy="594360"/>
          </a:xfrm>
          <a:prstGeom prst="rect">
            <a:avLst/>
          </a:prstGeom>
          <a:noFill/>
          <a:ln/>
        </p:spPr>
        <p:txBody>
          <a:bodyPr wrap="square" lIns="0" tIns="0" rIns="0" bIns="0" rtlCol="0" anchor="ctr"/>
          <a:lstStyle/>
          <a:p>
            <a:pPr indent="0" marL="0">
              <a:buNone/>
            </a:pPr>
            <a:r>
              <a:rPr lang="en-US" sz="1250" b="1" dirty="0">
                <a:solidFill>
                  <a:srgbClr val="DC2626"/>
                </a:solidFill>
                <a:latin typeface="Calibri" pitchFamily="34" charset="0"/>
                <a:ea typeface="Calibri" pitchFamily="34" charset="-122"/>
                <a:cs typeface="Calibri" pitchFamily="34" charset="-120"/>
              </a:rPr>
              <a:t>Pallor:  </a:t>
            </a:r>
            <a:pPr indent="0" marL="0">
              <a:buNone/>
            </a:pPr>
            <a:r>
              <a:rPr lang="en-US" sz="1250" dirty="0">
                <a:solidFill>
                  <a:srgbClr val="1E293B"/>
                </a:solidFill>
                <a:latin typeface="Calibri" pitchFamily="34" charset="0"/>
                <a:ea typeface="Calibri" pitchFamily="34" charset="-122"/>
                <a:cs typeface="Calibri" pitchFamily="34" charset="-120"/>
              </a:rPr>
              <a:t>vasoconstriction</a:t>
            </a:r>
            <a:endParaRPr lang="en-US" sz="1250" dirty="0"/>
          </a:p>
        </p:txBody>
      </p:sp>
      <p:sp>
        <p:nvSpPr>
          <p:cNvPr id="21" name="Text 1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2" name="Text 1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Pheochromocytoma — Treatment &amp; Medications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Alpha &amp; beta blockade, then surgical cure</a:t>
            </a:r>
            <a:endParaRPr lang="en-US" sz="1400" dirty="0"/>
          </a:p>
        </p:txBody>
      </p:sp>
      <p:sp>
        <p:nvSpPr>
          <p:cNvPr id="5" name="Shape 3"/>
          <p:cNvSpPr/>
          <p:nvPr/>
        </p:nvSpPr>
        <p:spPr>
          <a:xfrm>
            <a:off x="731520" y="1508760"/>
            <a:ext cx="35204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08760"/>
            <a:ext cx="3520440" cy="640080"/>
          </a:xfrm>
          <a:prstGeom prst="rect">
            <a:avLst/>
          </a:prstGeom>
          <a:solidFill>
            <a:srgbClr val="0F4C5C"/>
          </a:solidFill>
          <a:ln w="12700">
            <a:solidFill>
              <a:srgbClr val="0F4C5C"/>
            </a:solidFill>
            <a:prstDash val="solid"/>
          </a:ln>
        </p:spPr>
      </p:sp>
      <p:sp>
        <p:nvSpPr>
          <p:cNvPr id="7" name="Text 5"/>
          <p:cNvSpPr/>
          <p:nvPr/>
        </p:nvSpPr>
        <p:spPr>
          <a:xfrm>
            <a:off x="868680" y="1508760"/>
            <a:ext cx="3246120" cy="6400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Alpha-Adrenergic Blockers</a:t>
            </a:r>
            <a:endParaRPr lang="en-US" sz="1400" dirty="0"/>
          </a:p>
        </p:txBody>
      </p:sp>
      <p:sp>
        <p:nvSpPr>
          <p:cNvPr id="8" name="Text 6"/>
          <p:cNvSpPr/>
          <p:nvPr/>
        </p:nvSpPr>
        <p:spPr>
          <a:xfrm>
            <a:off x="914400" y="2286000"/>
            <a:ext cx="3154680" cy="32004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Given FIRST to control BP</a:t>
            </a:r>
            <a:endParaRPr lang="en-US" sz="1200" dirty="0"/>
          </a:p>
        </p:txBody>
      </p:sp>
      <p:sp>
        <p:nvSpPr>
          <p:cNvPr id="9" name="Text 7"/>
          <p:cNvSpPr/>
          <p:nvPr/>
        </p:nvSpPr>
        <p:spPr>
          <a:xfrm>
            <a:off x="1005840" y="2651760"/>
            <a:ext cx="3063240" cy="228600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Phenoxybenzamine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Phentolamine</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Prazosin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Doxazosin</a:t>
            </a:r>
            <a:endParaRPr lang="en-US" sz="1200" dirty="0"/>
          </a:p>
        </p:txBody>
      </p:sp>
      <p:sp>
        <p:nvSpPr>
          <p:cNvPr id="10" name="Shape 8"/>
          <p:cNvSpPr/>
          <p:nvPr/>
        </p:nvSpPr>
        <p:spPr>
          <a:xfrm>
            <a:off x="914400" y="5212080"/>
            <a:ext cx="3154680" cy="1051560"/>
          </a:xfrm>
          <a:prstGeom prst="roundRect">
            <a:avLst>
              <a:gd name="adj" fmla="val 4348"/>
            </a:avLst>
          </a:prstGeom>
          <a:solidFill>
            <a:srgbClr val="FEF3C7"/>
          </a:solidFill>
          <a:ln w="12700">
            <a:solidFill>
              <a:srgbClr val="E36414"/>
            </a:solidFill>
            <a:prstDash val="solid"/>
          </a:ln>
        </p:spPr>
      </p:sp>
      <p:sp>
        <p:nvSpPr>
          <p:cNvPr id="11" name="Text 9"/>
          <p:cNvSpPr/>
          <p:nvPr/>
        </p:nvSpPr>
        <p:spPr>
          <a:xfrm>
            <a:off x="1005840" y="5257800"/>
            <a:ext cx="2971800" cy="9601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 Start 10–14 days before surgery to prevent hypertensive crisis.</a:t>
            </a:r>
            <a:endParaRPr lang="en-US" sz="1100" dirty="0"/>
          </a:p>
        </p:txBody>
      </p:sp>
      <p:sp>
        <p:nvSpPr>
          <p:cNvPr id="12" name="Shape 10"/>
          <p:cNvSpPr/>
          <p:nvPr/>
        </p:nvSpPr>
        <p:spPr>
          <a:xfrm>
            <a:off x="4453128" y="1508760"/>
            <a:ext cx="35204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3" name="Shape 11"/>
          <p:cNvSpPr/>
          <p:nvPr/>
        </p:nvSpPr>
        <p:spPr>
          <a:xfrm>
            <a:off x="4453128" y="1508760"/>
            <a:ext cx="3520440" cy="640080"/>
          </a:xfrm>
          <a:prstGeom prst="rect">
            <a:avLst/>
          </a:prstGeom>
          <a:solidFill>
            <a:srgbClr val="155E75"/>
          </a:solidFill>
          <a:ln w="12700">
            <a:solidFill>
              <a:srgbClr val="155E75"/>
            </a:solidFill>
            <a:prstDash val="solid"/>
          </a:ln>
        </p:spPr>
      </p:sp>
      <p:sp>
        <p:nvSpPr>
          <p:cNvPr id="14" name="Text 12"/>
          <p:cNvSpPr/>
          <p:nvPr/>
        </p:nvSpPr>
        <p:spPr>
          <a:xfrm>
            <a:off x="4590288" y="1508760"/>
            <a:ext cx="3246120" cy="6400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Beta-Adrenergic Blockers</a:t>
            </a:r>
            <a:endParaRPr lang="en-US" sz="1400" dirty="0"/>
          </a:p>
        </p:txBody>
      </p:sp>
      <p:sp>
        <p:nvSpPr>
          <p:cNvPr id="15" name="Text 13"/>
          <p:cNvSpPr/>
          <p:nvPr/>
        </p:nvSpPr>
        <p:spPr>
          <a:xfrm>
            <a:off x="4636008" y="2286000"/>
            <a:ext cx="3154680" cy="32004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Added AFTER alpha blockade</a:t>
            </a:r>
            <a:endParaRPr lang="en-US" sz="1200" dirty="0"/>
          </a:p>
        </p:txBody>
      </p:sp>
      <p:sp>
        <p:nvSpPr>
          <p:cNvPr id="16" name="Text 14"/>
          <p:cNvSpPr/>
          <p:nvPr/>
        </p:nvSpPr>
        <p:spPr>
          <a:xfrm>
            <a:off x="4727448" y="2651760"/>
            <a:ext cx="3063240" cy="228600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Propranolol</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Metoprolol</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Atenolol</a:t>
            </a:r>
            <a:endParaRPr lang="en-US" sz="1200" dirty="0"/>
          </a:p>
        </p:txBody>
      </p:sp>
      <p:sp>
        <p:nvSpPr>
          <p:cNvPr id="17" name="Shape 15"/>
          <p:cNvSpPr/>
          <p:nvPr/>
        </p:nvSpPr>
        <p:spPr>
          <a:xfrm>
            <a:off x="4636008" y="5212080"/>
            <a:ext cx="3154680" cy="1051560"/>
          </a:xfrm>
          <a:prstGeom prst="roundRect">
            <a:avLst>
              <a:gd name="adj" fmla="val 4348"/>
            </a:avLst>
          </a:prstGeom>
          <a:solidFill>
            <a:srgbClr val="FEF3C7"/>
          </a:solidFill>
          <a:ln w="12700">
            <a:solidFill>
              <a:srgbClr val="E36414"/>
            </a:solidFill>
            <a:prstDash val="solid"/>
          </a:ln>
        </p:spPr>
      </p:sp>
      <p:sp>
        <p:nvSpPr>
          <p:cNvPr id="18" name="Text 16"/>
          <p:cNvSpPr/>
          <p:nvPr/>
        </p:nvSpPr>
        <p:spPr>
          <a:xfrm>
            <a:off x="4727448" y="5257800"/>
            <a:ext cx="2971800" cy="9601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 Never give beta-blockers first — risk of unopposed alpha action &amp; severe HTN.</a:t>
            </a:r>
            <a:endParaRPr lang="en-US" sz="1100" dirty="0"/>
          </a:p>
        </p:txBody>
      </p:sp>
      <p:sp>
        <p:nvSpPr>
          <p:cNvPr id="19" name="Shape 17"/>
          <p:cNvSpPr/>
          <p:nvPr/>
        </p:nvSpPr>
        <p:spPr>
          <a:xfrm>
            <a:off x="8174736" y="1508760"/>
            <a:ext cx="35204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0" name="Shape 18"/>
          <p:cNvSpPr/>
          <p:nvPr/>
        </p:nvSpPr>
        <p:spPr>
          <a:xfrm>
            <a:off x="8174736" y="1508760"/>
            <a:ext cx="3520440" cy="640080"/>
          </a:xfrm>
          <a:prstGeom prst="rect">
            <a:avLst/>
          </a:prstGeom>
          <a:solidFill>
            <a:srgbClr val="E36414"/>
          </a:solidFill>
          <a:ln w="12700">
            <a:solidFill>
              <a:srgbClr val="E36414"/>
            </a:solidFill>
            <a:prstDash val="solid"/>
          </a:ln>
        </p:spPr>
      </p:sp>
      <p:sp>
        <p:nvSpPr>
          <p:cNvPr id="21" name="Text 19"/>
          <p:cNvSpPr/>
          <p:nvPr/>
        </p:nvSpPr>
        <p:spPr>
          <a:xfrm>
            <a:off x="8311896" y="1508760"/>
            <a:ext cx="3246120" cy="6400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Definitive Treatment</a:t>
            </a:r>
            <a:endParaRPr lang="en-US" sz="1400" dirty="0"/>
          </a:p>
        </p:txBody>
      </p:sp>
      <p:sp>
        <p:nvSpPr>
          <p:cNvPr id="22" name="Text 20"/>
          <p:cNvSpPr/>
          <p:nvPr/>
        </p:nvSpPr>
        <p:spPr>
          <a:xfrm>
            <a:off x="8357616" y="2286000"/>
            <a:ext cx="3154680" cy="32004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Surgical removal</a:t>
            </a:r>
            <a:endParaRPr lang="en-US" sz="1200" dirty="0"/>
          </a:p>
        </p:txBody>
      </p:sp>
      <p:sp>
        <p:nvSpPr>
          <p:cNvPr id="23" name="Text 21"/>
          <p:cNvSpPr/>
          <p:nvPr/>
        </p:nvSpPr>
        <p:spPr>
          <a:xfrm>
            <a:off x="8449056" y="2651760"/>
            <a:ext cx="3063240" cy="2286000"/>
          </a:xfrm>
          <a:prstGeom prst="rect">
            <a:avLst/>
          </a:prstGeom>
          <a:noFill/>
          <a:ln/>
        </p:spPr>
        <p:txBody>
          <a:bodyPr wrap="square" rtlCol="0" anchor="ctr"/>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Adrenalectomy (laparoscopic or open)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Bilateral if both glands involved</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Continuous BP monitoring intra-op</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Post-op: monitor for hypotension</a:t>
            </a:r>
            <a:endParaRPr lang="en-US" sz="1200" dirty="0"/>
          </a:p>
        </p:txBody>
      </p:sp>
      <p:sp>
        <p:nvSpPr>
          <p:cNvPr id="24" name="Shape 22"/>
          <p:cNvSpPr/>
          <p:nvPr/>
        </p:nvSpPr>
        <p:spPr>
          <a:xfrm>
            <a:off x="8357616" y="5212080"/>
            <a:ext cx="3154680" cy="1051560"/>
          </a:xfrm>
          <a:prstGeom prst="roundRect">
            <a:avLst>
              <a:gd name="adj" fmla="val 4348"/>
            </a:avLst>
          </a:prstGeom>
          <a:solidFill>
            <a:srgbClr val="FEF3C7"/>
          </a:solidFill>
          <a:ln w="12700">
            <a:solidFill>
              <a:srgbClr val="E36414"/>
            </a:solidFill>
            <a:prstDash val="solid"/>
          </a:ln>
        </p:spPr>
      </p:sp>
      <p:sp>
        <p:nvSpPr>
          <p:cNvPr id="25" name="Text 23"/>
          <p:cNvSpPr/>
          <p:nvPr/>
        </p:nvSpPr>
        <p:spPr>
          <a:xfrm>
            <a:off x="8449056" y="5257800"/>
            <a:ext cx="2971800" cy="9601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 Avoid palpating the abdomen pre-op!</a:t>
            </a:r>
            <a:endParaRPr lang="en-US" sz="1100" dirty="0"/>
          </a:p>
        </p:txBody>
      </p:sp>
      <p:sp>
        <p:nvSpPr>
          <p:cNvPr id="26" name="Text 24"/>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7" name="Text 25"/>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Diabetes Insipidus (DI)</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NOT enough ADH → kidneys dump free water</a:t>
            </a:r>
            <a:endParaRPr lang="en-US" sz="1400" dirty="0"/>
          </a:p>
        </p:txBody>
      </p:sp>
      <p:sp>
        <p:nvSpPr>
          <p:cNvPr id="5" name="Shape 3"/>
          <p:cNvSpPr/>
          <p:nvPr/>
        </p:nvSpPr>
        <p:spPr>
          <a:xfrm>
            <a:off x="731520" y="1554480"/>
            <a:ext cx="2560320" cy="1188720"/>
          </a:xfrm>
          <a:prstGeom prst="roundRect">
            <a:avLst>
              <a:gd name="adj" fmla="val 6154"/>
            </a:avLst>
          </a:prstGeom>
          <a:solidFill>
            <a:srgbClr val="E0F2FE"/>
          </a:solidFill>
          <a:ln w="19050">
            <a:solidFill>
              <a:srgbClr val="0F4C5C"/>
            </a:solidFill>
            <a:prstDash val="solid"/>
          </a:ln>
        </p:spPr>
      </p:sp>
      <p:sp>
        <p:nvSpPr>
          <p:cNvPr id="6" name="Text 4"/>
          <p:cNvSpPr/>
          <p:nvPr/>
        </p:nvSpPr>
        <p:spPr>
          <a:xfrm>
            <a:off x="731520" y="1600200"/>
            <a:ext cx="2560320" cy="685800"/>
          </a:xfrm>
          <a:prstGeom prst="rect">
            <a:avLst/>
          </a:prstGeom>
          <a:noFill/>
          <a:ln/>
        </p:spPr>
        <p:txBody>
          <a:bodyPr wrap="square" lIns="0" tIns="0" rIns="0" bIns="0" rtlCol="0" anchor="ctr"/>
          <a:lstStyle/>
          <a:p>
            <a:pPr algn="ctr" indent="0" marL="0">
              <a:buNone/>
            </a:pPr>
            <a:r>
              <a:rPr lang="en-US" sz="1500" b="1" dirty="0">
                <a:solidFill>
                  <a:srgbClr val="0F4C5C"/>
                </a:solidFill>
                <a:latin typeface="Georgia" pitchFamily="34" charset="0"/>
                <a:ea typeface="Georgia" pitchFamily="34" charset="-122"/>
                <a:cs typeface="Georgia" pitchFamily="34" charset="-120"/>
              </a:rPr>
              <a:t>↓ ADH</a:t>
            </a:r>
            <a:endParaRPr lang="en-US" sz="1500" dirty="0"/>
          </a:p>
        </p:txBody>
      </p:sp>
      <p:sp>
        <p:nvSpPr>
          <p:cNvPr id="7" name="Text 5"/>
          <p:cNvSpPr/>
          <p:nvPr/>
        </p:nvSpPr>
        <p:spPr>
          <a:xfrm>
            <a:off x="73152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pituitary problem</a:t>
            </a:r>
            <a:endParaRPr lang="en-US" sz="1050" dirty="0"/>
          </a:p>
        </p:txBody>
      </p:sp>
      <p:sp>
        <p:nvSpPr>
          <p:cNvPr id="8" name="Shape 6"/>
          <p:cNvSpPr/>
          <p:nvPr/>
        </p:nvSpPr>
        <p:spPr>
          <a:xfrm>
            <a:off x="3310128" y="2057400"/>
            <a:ext cx="201168" cy="182880"/>
          </a:xfrm>
          <a:prstGeom prst="rightArrow">
            <a:avLst/>
          </a:prstGeom>
          <a:solidFill>
            <a:srgbClr val="E36414"/>
          </a:solidFill>
          <a:ln w="12700">
            <a:solidFill>
              <a:srgbClr val="E36414"/>
            </a:solidFill>
            <a:prstDash val="solid"/>
          </a:ln>
        </p:spPr>
      </p:sp>
      <p:sp>
        <p:nvSpPr>
          <p:cNvPr id="9" name="Shape 7"/>
          <p:cNvSpPr/>
          <p:nvPr/>
        </p:nvSpPr>
        <p:spPr>
          <a:xfrm>
            <a:off x="3520440" y="1554480"/>
            <a:ext cx="2560320" cy="1188720"/>
          </a:xfrm>
          <a:prstGeom prst="roundRect">
            <a:avLst>
              <a:gd name="adj" fmla="val 6154"/>
            </a:avLst>
          </a:prstGeom>
          <a:solidFill>
            <a:srgbClr val="E0F2FE"/>
          </a:solidFill>
          <a:ln w="19050">
            <a:solidFill>
              <a:srgbClr val="0F4C5C"/>
            </a:solidFill>
            <a:prstDash val="solid"/>
          </a:ln>
        </p:spPr>
      </p:sp>
      <p:sp>
        <p:nvSpPr>
          <p:cNvPr id="10" name="Text 8"/>
          <p:cNvSpPr/>
          <p:nvPr/>
        </p:nvSpPr>
        <p:spPr>
          <a:xfrm>
            <a:off x="3520440" y="1600200"/>
            <a:ext cx="2560320" cy="685800"/>
          </a:xfrm>
          <a:prstGeom prst="rect">
            <a:avLst/>
          </a:prstGeom>
          <a:noFill/>
          <a:ln/>
        </p:spPr>
        <p:txBody>
          <a:bodyPr wrap="square" lIns="0" tIns="0" rIns="0" bIns="0" rtlCol="0" anchor="ctr"/>
          <a:lstStyle/>
          <a:p>
            <a:pPr algn="ctr" indent="0" marL="0">
              <a:buNone/>
            </a:pPr>
            <a:r>
              <a:rPr lang="en-US" sz="1500" b="1" dirty="0">
                <a:solidFill>
                  <a:srgbClr val="0F4C5C"/>
                </a:solidFill>
                <a:latin typeface="Georgia" pitchFamily="34" charset="0"/>
                <a:ea typeface="Georgia" pitchFamily="34" charset="-122"/>
                <a:cs typeface="Georgia" pitchFamily="34" charset="-120"/>
              </a:rPr>
              <a:t>Kidneys can't</a:t>
            </a:r>
            <a:endParaRPr lang="en-US" sz="1500" dirty="0"/>
          </a:p>
          <a:p>
            <a:pPr algn="ctr" indent="0" marL="0">
              <a:buNone/>
            </a:pPr>
            <a:r>
              <a:rPr lang="en-US" sz="1500" b="1" dirty="0">
                <a:solidFill>
                  <a:srgbClr val="0F4C5C"/>
                </a:solidFill>
                <a:latin typeface="Georgia" pitchFamily="34" charset="0"/>
                <a:ea typeface="Georgia" pitchFamily="34" charset="-122"/>
                <a:cs typeface="Georgia" pitchFamily="34" charset="-120"/>
              </a:rPr>
              <a:t>hold onto water</a:t>
            </a:r>
            <a:endParaRPr lang="en-US" sz="1500" dirty="0"/>
          </a:p>
        </p:txBody>
      </p:sp>
      <p:sp>
        <p:nvSpPr>
          <p:cNvPr id="11" name="Text 9"/>
          <p:cNvSpPr/>
          <p:nvPr/>
        </p:nvSpPr>
        <p:spPr>
          <a:xfrm>
            <a:off x="352044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large dilute urine</a:t>
            </a:r>
            <a:endParaRPr lang="en-US" sz="1050" dirty="0"/>
          </a:p>
        </p:txBody>
      </p:sp>
      <p:sp>
        <p:nvSpPr>
          <p:cNvPr id="12" name="Shape 10"/>
          <p:cNvSpPr/>
          <p:nvPr/>
        </p:nvSpPr>
        <p:spPr>
          <a:xfrm>
            <a:off x="6099048" y="2057400"/>
            <a:ext cx="201168" cy="182880"/>
          </a:xfrm>
          <a:prstGeom prst="rightArrow">
            <a:avLst/>
          </a:prstGeom>
          <a:solidFill>
            <a:srgbClr val="E36414"/>
          </a:solidFill>
          <a:ln w="12700">
            <a:solidFill>
              <a:srgbClr val="E36414"/>
            </a:solidFill>
            <a:prstDash val="solid"/>
          </a:ln>
        </p:spPr>
      </p:sp>
      <p:sp>
        <p:nvSpPr>
          <p:cNvPr id="13" name="Shape 11"/>
          <p:cNvSpPr/>
          <p:nvPr/>
        </p:nvSpPr>
        <p:spPr>
          <a:xfrm>
            <a:off x="6309360" y="1554480"/>
            <a:ext cx="2560320" cy="1188720"/>
          </a:xfrm>
          <a:prstGeom prst="roundRect">
            <a:avLst>
              <a:gd name="adj" fmla="val 6154"/>
            </a:avLst>
          </a:prstGeom>
          <a:solidFill>
            <a:srgbClr val="E0F2FE"/>
          </a:solidFill>
          <a:ln w="19050">
            <a:solidFill>
              <a:srgbClr val="0F4C5C"/>
            </a:solidFill>
            <a:prstDash val="solid"/>
          </a:ln>
        </p:spPr>
      </p:sp>
      <p:sp>
        <p:nvSpPr>
          <p:cNvPr id="14" name="Text 12"/>
          <p:cNvSpPr/>
          <p:nvPr/>
        </p:nvSpPr>
        <p:spPr>
          <a:xfrm>
            <a:off x="6309360" y="1600200"/>
            <a:ext cx="2560320" cy="685800"/>
          </a:xfrm>
          <a:prstGeom prst="rect">
            <a:avLst/>
          </a:prstGeom>
          <a:noFill/>
          <a:ln/>
        </p:spPr>
        <p:txBody>
          <a:bodyPr wrap="square" lIns="0" tIns="0" rIns="0" bIns="0" rtlCol="0" anchor="ctr"/>
          <a:lstStyle/>
          <a:p>
            <a:pPr algn="ctr" indent="0" marL="0">
              <a:buNone/>
            </a:pPr>
            <a:r>
              <a:rPr lang="en-US" sz="1500" b="1" dirty="0">
                <a:solidFill>
                  <a:srgbClr val="0F4C5C"/>
                </a:solidFill>
                <a:latin typeface="Georgia" pitchFamily="34" charset="0"/>
                <a:ea typeface="Georgia" pitchFamily="34" charset="-122"/>
                <a:cs typeface="Georgia" pitchFamily="34" charset="-120"/>
              </a:rPr>
              <a:t>Fluid volume</a:t>
            </a:r>
            <a:endParaRPr lang="en-US" sz="1500" dirty="0"/>
          </a:p>
          <a:p>
            <a:pPr algn="ctr" indent="0" marL="0">
              <a:buNone/>
            </a:pPr>
            <a:r>
              <a:rPr lang="en-US" sz="1500" b="1" dirty="0">
                <a:solidFill>
                  <a:srgbClr val="0F4C5C"/>
                </a:solidFill>
                <a:latin typeface="Georgia" pitchFamily="34" charset="0"/>
                <a:ea typeface="Georgia" pitchFamily="34" charset="-122"/>
                <a:cs typeface="Georgia" pitchFamily="34" charset="-120"/>
              </a:rPr>
              <a:t>DEFICIT</a:t>
            </a:r>
            <a:endParaRPr lang="en-US" sz="1500" dirty="0"/>
          </a:p>
        </p:txBody>
      </p:sp>
      <p:sp>
        <p:nvSpPr>
          <p:cNvPr id="15" name="Text 13"/>
          <p:cNvSpPr/>
          <p:nvPr/>
        </p:nvSpPr>
        <p:spPr>
          <a:xfrm>
            <a:off x="630936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dehydration</a:t>
            </a:r>
            <a:endParaRPr lang="en-US" sz="1050" dirty="0"/>
          </a:p>
        </p:txBody>
      </p:sp>
      <p:sp>
        <p:nvSpPr>
          <p:cNvPr id="16" name="Shape 14"/>
          <p:cNvSpPr/>
          <p:nvPr/>
        </p:nvSpPr>
        <p:spPr>
          <a:xfrm>
            <a:off x="8887968" y="2057400"/>
            <a:ext cx="201168" cy="182880"/>
          </a:xfrm>
          <a:prstGeom prst="rightArrow">
            <a:avLst/>
          </a:prstGeom>
          <a:solidFill>
            <a:srgbClr val="E36414"/>
          </a:solidFill>
          <a:ln w="12700">
            <a:solidFill>
              <a:srgbClr val="E36414"/>
            </a:solidFill>
            <a:prstDash val="solid"/>
          </a:ln>
        </p:spPr>
      </p:sp>
      <p:sp>
        <p:nvSpPr>
          <p:cNvPr id="17" name="Shape 15"/>
          <p:cNvSpPr/>
          <p:nvPr/>
        </p:nvSpPr>
        <p:spPr>
          <a:xfrm>
            <a:off x="9098280" y="1554480"/>
            <a:ext cx="2560320" cy="1188720"/>
          </a:xfrm>
          <a:prstGeom prst="roundRect">
            <a:avLst>
              <a:gd name="adj" fmla="val 6154"/>
            </a:avLst>
          </a:prstGeom>
          <a:solidFill>
            <a:srgbClr val="FEE2E2"/>
          </a:solidFill>
          <a:ln w="19050">
            <a:solidFill>
              <a:srgbClr val="DC2626"/>
            </a:solidFill>
            <a:prstDash val="solid"/>
          </a:ln>
        </p:spPr>
      </p:sp>
      <p:sp>
        <p:nvSpPr>
          <p:cNvPr id="18" name="Text 16"/>
          <p:cNvSpPr/>
          <p:nvPr/>
        </p:nvSpPr>
        <p:spPr>
          <a:xfrm>
            <a:off x="9098280" y="1600200"/>
            <a:ext cx="2560320" cy="685800"/>
          </a:xfrm>
          <a:prstGeom prst="rect">
            <a:avLst/>
          </a:prstGeom>
          <a:noFill/>
          <a:ln/>
        </p:spPr>
        <p:txBody>
          <a:bodyPr wrap="square" lIns="0" tIns="0" rIns="0" bIns="0" rtlCol="0" anchor="ctr"/>
          <a:lstStyle/>
          <a:p>
            <a:pPr algn="ctr" indent="0" marL="0">
              <a:buNone/>
            </a:pPr>
            <a:r>
              <a:rPr lang="en-US" sz="1500" b="1" dirty="0">
                <a:solidFill>
                  <a:srgbClr val="DC2626"/>
                </a:solidFill>
                <a:latin typeface="Georgia" pitchFamily="34" charset="0"/>
                <a:ea typeface="Georgia" pitchFamily="34" charset="-122"/>
                <a:cs typeface="Georgia" pitchFamily="34" charset="-120"/>
              </a:rPr>
              <a:t>Hypotension</a:t>
            </a:r>
            <a:endParaRPr lang="en-US" sz="1500" dirty="0"/>
          </a:p>
          <a:p>
            <a:pPr algn="ctr" indent="0" marL="0">
              <a:buNone/>
            </a:pPr>
            <a:r>
              <a:rPr lang="en-US" sz="1500" b="1" dirty="0">
                <a:solidFill>
                  <a:srgbClr val="DC2626"/>
                </a:solidFill>
                <a:latin typeface="Georgia" pitchFamily="34" charset="0"/>
                <a:ea typeface="Georgia" pitchFamily="34" charset="-122"/>
                <a:cs typeface="Georgia" pitchFamily="34" charset="-120"/>
              </a:rPr>
              <a:t>→ SHOCK</a:t>
            </a:r>
            <a:endParaRPr lang="en-US" sz="1500" dirty="0"/>
          </a:p>
        </p:txBody>
      </p:sp>
      <p:sp>
        <p:nvSpPr>
          <p:cNvPr id="19" name="Text 17"/>
          <p:cNvSpPr/>
          <p:nvPr/>
        </p:nvSpPr>
        <p:spPr>
          <a:xfrm>
            <a:off x="909828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emergency</a:t>
            </a:r>
            <a:endParaRPr lang="en-US" sz="1050" dirty="0"/>
          </a:p>
        </p:txBody>
      </p:sp>
      <p:sp>
        <p:nvSpPr>
          <p:cNvPr id="20" name="Shape 18"/>
          <p:cNvSpPr/>
          <p:nvPr/>
        </p:nvSpPr>
        <p:spPr>
          <a:xfrm>
            <a:off x="731520" y="3017520"/>
            <a:ext cx="5349240" cy="33832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1" name="Text 19"/>
          <p:cNvSpPr/>
          <p:nvPr/>
        </p:nvSpPr>
        <p:spPr>
          <a:xfrm>
            <a:off x="914400" y="3154680"/>
            <a:ext cx="493776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Signs &amp; Symptoms</a:t>
            </a:r>
            <a:endParaRPr lang="en-US" sz="1500" dirty="0"/>
          </a:p>
        </p:txBody>
      </p:sp>
      <p:sp>
        <p:nvSpPr>
          <p:cNvPr id="22" name="Text 20"/>
          <p:cNvSpPr/>
          <p:nvPr/>
        </p:nvSpPr>
        <p:spPr>
          <a:xfrm>
            <a:off x="914400" y="3520440"/>
            <a:ext cx="5029200" cy="2743200"/>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Polyuria — HUGE amounts of dilute urine</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Polydipsia — excessive thirst, dry mouth</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Tachycardia, hypotension</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Weight loss, lightheadedness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Dry eyes, muscle cramps, confusion</a:t>
            </a:r>
            <a:endParaRPr lang="en-US" sz="1250" dirty="0"/>
          </a:p>
        </p:txBody>
      </p:sp>
      <p:sp>
        <p:nvSpPr>
          <p:cNvPr id="23" name="Shape 21"/>
          <p:cNvSpPr/>
          <p:nvPr/>
        </p:nvSpPr>
        <p:spPr>
          <a:xfrm>
            <a:off x="6355080" y="3017520"/>
            <a:ext cx="5074920" cy="3383280"/>
          </a:xfrm>
          <a:prstGeom prst="rect">
            <a:avLst/>
          </a:prstGeom>
          <a:solidFill>
            <a:srgbClr val="E0F2FE"/>
          </a:solidFill>
          <a:ln w="12700">
            <a:solidFill>
              <a:srgbClr val="0F4C5C"/>
            </a:solidFill>
            <a:prstDash val="solid"/>
          </a:ln>
          <a:effectLst>
            <a:outerShdw sx="100000" sy="100000" kx="0" ky="0" algn="bl" rotWithShape="0" blurRad="127000" dist="25400" dir="5400000">
              <a:srgbClr val="000000">
                <a:alpha val="8000"/>
              </a:srgbClr>
            </a:outerShdw>
          </a:effectLst>
        </p:spPr>
      </p:sp>
      <p:sp>
        <p:nvSpPr>
          <p:cNvPr id="24" name="Text 22"/>
          <p:cNvSpPr/>
          <p:nvPr/>
        </p:nvSpPr>
        <p:spPr>
          <a:xfrm>
            <a:off x="6537960" y="3154680"/>
            <a:ext cx="475488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Lab Values</a:t>
            </a:r>
            <a:endParaRPr lang="en-US" sz="1500" dirty="0"/>
          </a:p>
        </p:txBody>
      </p:sp>
      <p:sp>
        <p:nvSpPr>
          <p:cNvPr id="25" name="Text 23"/>
          <p:cNvSpPr/>
          <p:nvPr/>
        </p:nvSpPr>
        <p:spPr>
          <a:xfrm>
            <a:off x="6537960" y="3520440"/>
            <a:ext cx="4754880" cy="2834640"/>
          </a:xfrm>
          <a:prstGeom prst="rect">
            <a:avLst/>
          </a:prstGeom>
          <a:noFill/>
          <a:ln/>
        </p:spPr>
        <p:txBody>
          <a:bodyPr wrap="square" rtlCol="0" anchor="ctr"/>
          <a:lstStyle/>
          <a:p>
            <a:pPr indent="0" marL="0">
              <a:spcAft>
                <a:spcPts val="400"/>
              </a:spcAft>
              <a:buNone/>
            </a:pPr>
            <a:r>
              <a:rPr lang="en-US" sz="1200" b="1" dirty="0">
                <a:solidFill>
                  <a:srgbClr val="0F4C5C"/>
                </a:solidFill>
                <a:latin typeface="Calibri" pitchFamily="34" charset="0"/>
                <a:ea typeface="Calibri" pitchFamily="34" charset="-122"/>
                <a:cs typeface="Calibri" pitchFamily="34" charset="-120"/>
              </a:rPr>
              <a:t>URINE = DILUTE</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 urine specific gravity (&lt; 1.005)</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 urine osmolarity</a:t>
            </a:r>
            <a:endParaRPr lang="en-US" sz="1200" dirty="0"/>
          </a:p>
          <a:p>
            <a:pPr indent="0" marL="0">
              <a:spcAft>
                <a:spcPts val="400"/>
              </a:spcAft>
              <a:buNone/>
            </a:pPr>
            <a:r>
              <a:rPr lang="en-US" sz="1200" b="1" dirty="0">
                <a:solidFill>
                  <a:srgbClr val="0F4C5C"/>
                </a:solidFill>
                <a:latin typeface="Calibri" pitchFamily="34" charset="0"/>
                <a:ea typeface="Calibri" pitchFamily="34" charset="-122"/>
                <a:cs typeface="Calibri" pitchFamily="34" charset="-120"/>
              </a:rPr>
              <a:t>BLOOD = CONCENTRATED</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 serum sodium (hypernatremia)</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 serum osmolarity</a:t>
            </a:r>
            <a:endParaRPr lang="en-US" sz="1200" dirty="0"/>
          </a:p>
          <a:p>
            <a:pPr lvl="1" marL="6858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 hematocrit (&gt; 40%)</a:t>
            </a:r>
            <a:endParaRPr lang="en-US" sz="1200" dirty="0"/>
          </a:p>
        </p:txBody>
      </p:sp>
      <p:sp>
        <p:nvSpPr>
          <p:cNvPr id="26" name="Text 24"/>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7" name="Text 25"/>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DI — Treatment &amp; Medications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Replace ADH and restore fluid balance</a:t>
            </a:r>
            <a:endParaRPr lang="en-US" sz="1400" dirty="0"/>
          </a:p>
        </p:txBody>
      </p:sp>
      <p:sp>
        <p:nvSpPr>
          <p:cNvPr id="5" name="Shape 3"/>
          <p:cNvSpPr/>
          <p:nvPr/>
        </p:nvSpPr>
        <p:spPr>
          <a:xfrm>
            <a:off x="731520" y="1508760"/>
            <a:ext cx="5349240" cy="47548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08760"/>
            <a:ext cx="5349240" cy="50292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914400" y="1600200"/>
            <a:ext cx="320040" cy="320040"/>
          </a:xfrm>
          <a:prstGeom prst="rect">
            <a:avLst/>
          </a:prstGeom>
        </p:spPr>
      </p:pic>
      <p:sp>
        <p:nvSpPr>
          <p:cNvPr id="8" name="Text 5"/>
          <p:cNvSpPr/>
          <p:nvPr/>
        </p:nvSpPr>
        <p:spPr>
          <a:xfrm>
            <a:off x="1371600" y="1508760"/>
            <a:ext cx="4572000" cy="50292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Nursing Priorities</a:t>
            </a:r>
            <a:endParaRPr lang="en-US" sz="1600" dirty="0"/>
          </a:p>
        </p:txBody>
      </p:sp>
      <p:sp>
        <p:nvSpPr>
          <p:cNvPr id="9" name="Text 6"/>
          <p:cNvSpPr/>
          <p:nvPr/>
        </p:nvSpPr>
        <p:spPr>
          <a:xfrm>
            <a:off x="914400" y="2148840"/>
            <a:ext cx="5029200" cy="4114800"/>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Monitor NEURO status (cerebral dehydration risk)</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Strict I&amp;O, hourly urine output</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Daily weight (same time, same scale)</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Replace fluids — maintenance IVF + replacement</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Monitor serum Na⁺ and osmolarity</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Encourage PO fluids if able</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Safety: orthostatic precautions</a:t>
            </a:r>
            <a:endParaRPr lang="en-US" sz="1250" dirty="0"/>
          </a:p>
        </p:txBody>
      </p:sp>
      <p:sp>
        <p:nvSpPr>
          <p:cNvPr id="10" name="Shape 7"/>
          <p:cNvSpPr/>
          <p:nvPr/>
        </p:nvSpPr>
        <p:spPr>
          <a:xfrm>
            <a:off x="6355080" y="1508760"/>
            <a:ext cx="5074920" cy="47548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1" name="Shape 8"/>
          <p:cNvSpPr/>
          <p:nvPr/>
        </p:nvSpPr>
        <p:spPr>
          <a:xfrm>
            <a:off x="6355080" y="1508760"/>
            <a:ext cx="5074920" cy="502920"/>
          </a:xfrm>
          <a:prstGeom prst="rect">
            <a:avLst/>
          </a:prstGeom>
          <a:solidFill>
            <a:srgbClr val="E36414"/>
          </a:solidFill>
          <a:ln w="12700">
            <a:solidFill>
              <a:srgbClr val="E36414"/>
            </a:solidFill>
            <a:prstDash val="solid"/>
          </a:ln>
        </p:spPr>
      </p:sp>
      <p:pic>
        <p:nvPicPr>
          <p:cNvPr id="12" name="Image 1" descr="preencoded.png">    </p:cNvPr>
          <p:cNvPicPr>
            <a:picLocks noChangeAspect="1"/>
          </p:cNvPicPr>
          <p:nvPr/>
        </p:nvPicPr>
        <p:blipFill>
          <a:blip r:embed="rId2"/>
          <a:stretch>
            <a:fillRect/>
          </a:stretch>
        </p:blipFill>
        <p:spPr>
          <a:xfrm>
            <a:off x="6537960" y="1600200"/>
            <a:ext cx="320040" cy="320040"/>
          </a:xfrm>
          <a:prstGeom prst="rect">
            <a:avLst/>
          </a:prstGeom>
        </p:spPr>
      </p:pic>
      <p:sp>
        <p:nvSpPr>
          <p:cNvPr id="13" name="Text 9"/>
          <p:cNvSpPr/>
          <p:nvPr/>
        </p:nvSpPr>
        <p:spPr>
          <a:xfrm>
            <a:off x="6995160" y="1508760"/>
            <a:ext cx="429768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Drug Spotlight: Desmopressin (DDAVP)</a:t>
            </a:r>
            <a:endParaRPr lang="en-US" sz="1400" dirty="0"/>
          </a:p>
        </p:txBody>
      </p:sp>
      <p:sp>
        <p:nvSpPr>
          <p:cNvPr id="14" name="Text 10"/>
          <p:cNvSpPr/>
          <p:nvPr/>
        </p:nvSpPr>
        <p:spPr>
          <a:xfrm>
            <a:off x="6537960" y="2103120"/>
            <a:ext cx="1600200" cy="640080"/>
          </a:xfrm>
          <a:prstGeom prst="rect">
            <a:avLst/>
          </a:prstGeom>
          <a:noFill/>
          <a:ln/>
        </p:spPr>
        <p:txBody>
          <a:bodyPr wrap="square" lIns="0" tIns="0" rIns="0" bIns="0" rtlCol="0" anchor="t"/>
          <a:lstStyle/>
          <a:p>
            <a:pPr indent="0" marL="0">
              <a:buNone/>
            </a:pPr>
            <a:r>
              <a:rPr lang="en-US" sz="1200" b="1" dirty="0">
                <a:solidFill>
                  <a:srgbClr val="E36414"/>
                </a:solidFill>
                <a:latin typeface="Calibri" pitchFamily="34" charset="0"/>
                <a:ea typeface="Calibri" pitchFamily="34" charset="-122"/>
                <a:cs typeface="Calibri" pitchFamily="34" charset="-120"/>
              </a:rPr>
              <a:t>Class:</a:t>
            </a:r>
            <a:endParaRPr lang="en-US" sz="1200" dirty="0"/>
          </a:p>
        </p:txBody>
      </p:sp>
      <p:sp>
        <p:nvSpPr>
          <p:cNvPr id="15" name="Text 11"/>
          <p:cNvSpPr/>
          <p:nvPr/>
        </p:nvSpPr>
        <p:spPr>
          <a:xfrm>
            <a:off x="8183880" y="2103120"/>
            <a:ext cx="3154680" cy="6858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Synthetic ADH / Vasopressin analog</a:t>
            </a:r>
            <a:endParaRPr lang="en-US" sz="1150" dirty="0"/>
          </a:p>
        </p:txBody>
      </p:sp>
      <p:sp>
        <p:nvSpPr>
          <p:cNvPr id="16" name="Text 12"/>
          <p:cNvSpPr/>
          <p:nvPr/>
        </p:nvSpPr>
        <p:spPr>
          <a:xfrm>
            <a:off x="6537960" y="2807208"/>
            <a:ext cx="1600200" cy="640080"/>
          </a:xfrm>
          <a:prstGeom prst="rect">
            <a:avLst/>
          </a:prstGeom>
          <a:noFill/>
          <a:ln/>
        </p:spPr>
        <p:txBody>
          <a:bodyPr wrap="square" lIns="0" tIns="0" rIns="0" bIns="0" rtlCol="0" anchor="t"/>
          <a:lstStyle/>
          <a:p>
            <a:pPr indent="0" marL="0">
              <a:buNone/>
            </a:pPr>
            <a:r>
              <a:rPr lang="en-US" sz="1200" b="1" dirty="0">
                <a:solidFill>
                  <a:srgbClr val="E36414"/>
                </a:solidFill>
                <a:latin typeface="Calibri" pitchFamily="34" charset="0"/>
                <a:ea typeface="Calibri" pitchFamily="34" charset="-122"/>
                <a:cs typeface="Calibri" pitchFamily="34" charset="-120"/>
              </a:rPr>
              <a:t>Indication:</a:t>
            </a:r>
            <a:endParaRPr lang="en-US" sz="1200" dirty="0"/>
          </a:p>
        </p:txBody>
      </p:sp>
      <p:sp>
        <p:nvSpPr>
          <p:cNvPr id="17" name="Text 13"/>
          <p:cNvSpPr/>
          <p:nvPr/>
        </p:nvSpPr>
        <p:spPr>
          <a:xfrm>
            <a:off x="8183880" y="2807208"/>
            <a:ext cx="3154680" cy="6858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Central Diabetes Insipidus</a:t>
            </a:r>
            <a:endParaRPr lang="en-US" sz="1150" dirty="0"/>
          </a:p>
        </p:txBody>
      </p:sp>
      <p:sp>
        <p:nvSpPr>
          <p:cNvPr id="18" name="Text 14"/>
          <p:cNvSpPr/>
          <p:nvPr/>
        </p:nvSpPr>
        <p:spPr>
          <a:xfrm>
            <a:off x="6537960" y="3511296"/>
            <a:ext cx="1600200" cy="640080"/>
          </a:xfrm>
          <a:prstGeom prst="rect">
            <a:avLst/>
          </a:prstGeom>
          <a:noFill/>
          <a:ln/>
        </p:spPr>
        <p:txBody>
          <a:bodyPr wrap="square" lIns="0" tIns="0" rIns="0" bIns="0" rtlCol="0" anchor="t"/>
          <a:lstStyle/>
          <a:p>
            <a:pPr indent="0" marL="0">
              <a:buNone/>
            </a:pPr>
            <a:r>
              <a:rPr lang="en-US" sz="1200" b="1" dirty="0">
                <a:solidFill>
                  <a:srgbClr val="E36414"/>
                </a:solidFill>
                <a:latin typeface="Calibri" pitchFamily="34" charset="0"/>
                <a:ea typeface="Calibri" pitchFamily="34" charset="-122"/>
                <a:cs typeface="Calibri" pitchFamily="34" charset="-120"/>
              </a:rPr>
              <a:t>Action:</a:t>
            </a:r>
            <a:endParaRPr lang="en-US" sz="1200" dirty="0"/>
          </a:p>
        </p:txBody>
      </p:sp>
      <p:sp>
        <p:nvSpPr>
          <p:cNvPr id="19" name="Text 15"/>
          <p:cNvSpPr/>
          <p:nvPr/>
        </p:nvSpPr>
        <p:spPr>
          <a:xfrm>
            <a:off x="8183880" y="3511296"/>
            <a:ext cx="3154680" cy="6858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Mimics ADH — promotes water reabsorption in the renal collecting ducts</a:t>
            </a:r>
            <a:endParaRPr lang="en-US" sz="1150" dirty="0"/>
          </a:p>
        </p:txBody>
      </p:sp>
      <p:sp>
        <p:nvSpPr>
          <p:cNvPr id="20" name="Text 16"/>
          <p:cNvSpPr/>
          <p:nvPr/>
        </p:nvSpPr>
        <p:spPr>
          <a:xfrm>
            <a:off x="6537960" y="4215384"/>
            <a:ext cx="1600200" cy="640080"/>
          </a:xfrm>
          <a:prstGeom prst="rect">
            <a:avLst/>
          </a:prstGeom>
          <a:noFill/>
          <a:ln/>
        </p:spPr>
        <p:txBody>
          <a:bodyPr wrap="square" lIns="0" tIns="0" rIns="0" bIns="0" rtlCol="0" anchor="t"/>
          <a:lstStyle/>
          <a:p>
            <a:pPr indent="0" marL="0">
              <a:buNone/>
            </a:pPr>
            <a:r>
              <a:rPr lang="en-US" sz="1200" b="1" dirty="0">
                <a:solidFill>
                  <a:srgbClr val="E36414"/>
                </a:solidFill>
                <a:latin typeface="Calibri" pitchFamily="34" charset="0"/>
                <a:ea typeface="Calibri" pitchFamily="34" charset="-122"/>
                <a:cs typeface="Calibri" pitchFamily="34" charset="-120"/>
              </a:rPr>
              <a:t>Routes:</a:t>
            </a:r>
            <a:endParaRPr lang="en-US" sz="1200" dirty="0"/>
          </a:p>
        </p:txBody>
      </p:sp>
      <p:sp>
        <p:nvSpPr>
          <p:cNvPr id="21" name="Text 17"/>
          <p:cNvSpPr/>
          <p:nvPr/>
        </p:nvSpPr>
        <p:spPr>
          <a:xfrm>
            <a:off x="8183880" y="4215384"/>
            <a:ext cx="3154680" cy="6858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Intranasal, oral, SubQ, IV</a:t>
            </a:r>
            <a:endParaRPr lang="en-US" sz="1150" dirty="0"/>
          </a:p>
        </p:txBody>
      </p:sp>
      <p:sp>
        <p:nvSpPr>
          <p:cNvPr id="22" name="Text 18"/>
          <p:cNvSpPr/>
          <p:nvPr/>
        </p:nvSpPr>
        <p:spPr>
          <a:xfrm>
            <a:off x="6537960" y="4919472"/>
            <a:ext cx="1600200" cy="640080"/>
          </a:xfrm>
          <a:prstGeom prst="rect">
            <a:avLst/>
          </a:prstGeom>
          <a:noFill/>
          <a:ln/>
        </p:spPr>
        <p:txBody>
          <a:bodyPr wrap="square" lIns="0" tIns="0" rIns="0" bIns="0" rtlCol="0" anchor="t"/>
          <a:lstStyle/>
          <a:p>
            <a:pPr indent="0" marL="0">
              <a:buNone/>
            </a:pPr>
            <a:r>
              <a:rPr lang="en-US" sz="1200" b="1" dirty="0">
                <a:solidFill>
                  <a:srgbClr val="E36414"/>
                </a:solidFill>
                <a:latin typeface="Calibri" pitchFamily="34" charset="0"/>
                <a:ea typeface="Calibri" pitchFamily="34" charset="-122"/>
                <a:cs typeface="Calibri" pitchFamily="34" charset="-120"/>
              </a:rPr>
              <a:t>Monitor:</a:t>
            </a:r>
            <a:endParaRPr lang="en-US" sz="1200" dirty="0"/>
          </a:p>
        </p:txBody>
      </p:sp>
      <p:sp>
        <p:nvSpPr>
          <p:cNvPr id="23" name="Text 19"/>
          <p:cNvSpPr/>
          <p:nvPr/>
        </p:nvSpPr>
        <p:spPr>
          <a:xfrm>
            <a:off x="8183880" y="4919472"/>
            <a:ext cx="3154680" cy="6858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I&amp;O, daily weight, serum Na⁺, BP — watch for water intoxication &amp; hyponatremia</a:t>
            </a:r>
            <a:endParaRPr lang="en-US" sz="1150" dirty="0"/>
          </a:p>
        </p:txBody>
      </p:sp>
      <p:sp>
        <p:nvSpPr>
          <p:cNvPr id="24" name="Text 20"/>
          <p:cNvSpPr/>
          <p:nvPr/>
        </p:nvSpPr>
        <p:spPr>
          <a:xfrm>
            <a:off x="6537960" y="5623560"/>
            <a:ext cx="1600200" cy="640080"/>
          </a:xfrm>
          <a:prstGeom prst="rect">
            <a:avLst/>
          </a:prstGeom>
          <a:noFill/>
          <a:ln/>
        </p:spPr>
        <p:txBody>
          <a:bodyPr wrap="square" lIns="0" tIns="0" rIns="0" bIns="0" rtlCol="0" anchor="t"/>
          <a:lstStyle/>
          <a:p>
            <a:pPr indent="0" marL="0">
              <a:buNone/>
            </a:pPr>
            <a:r>
              <a:rPr lang="en-US" sz="1200" b="1" dirty="0">
                <a:solidFill>
                  <a:srgbClr val="E36414"/>
                </a:solidFill>
                <a:latin typeface="Calibri" pitchFamily="34" charset="0"/>
                <a:ea typeface="Calibri" pitchFamily="34" charset="-122"/>
                <a:cs typeface="Calibri" pitchFamily="34" charset="-120"/>
              </a:rPr>
              <a:t>Client Teaching:</a:t>
            </a:r>
            <a:endParaRPr lang="en-US" sz="1200" dirty="0"/>
          </a:p>
        </p:txBody>
      </p:sp>
      <p:sp>
        <p:nvSpPr>
          <p:cNvPr id="25" name="Text 21"/>
          <p:cNvSpPr/>
          <p:nvPr/>
        </p:nvSpPr>
        <p:spPr>
          <a:xfrm>
            <a:off x="8183880" y="5623560"/>
            <a:ext cx="3154680" cy="6858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Report signs of fluid overload (weight gain, headache, confusion); wear medical alert ID</a:t>
            </a:r>
            <a:endParaRPr lang="en-US" sz="1150" dirty="0"/>
          </a:p>
        </p:txBody>
      </p:sp>
      <p:sp>
        <p:nvSpPr>
          <p:cNvPr id="26" name="Text 22"/>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7" name="Text 23"/>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SIADH</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Syndrome of Inappropriate ADH — TOO MUCH ADH</a:t>
            </a:r>
            <a:endParaRPr lang="en-US" sz="1400" dirty="0"/>
          </a:p>
        </p:txBody>
      </p:sp>
      <p:sp>
        <p:nvSpPr>
          <p:cNvPr id="5" name="Shape 3"/>
          <p:cNvSpPr/>
          <p:nvPr/>
        </p:nvSpPr>
        <p:spPr>
          <a:xfrm>
            <a:off x="731520" y="1554480"/>
            <a:ext cx="2560320" cy="1188720"/>
          </a:xfrm>
          <a:prstGeom prst="roundRect">
            <a:avLst>
              <a:gd name="adj" fmla="val 6154"/>
            </a:avLst>
          </a:prstGeom>
          <a:solidFill>
            <a:srgbClr val="E0F2FE"/>
          </a:solidFill>
          <a:ln w="19050">
            <a:solidFill>
              <a:srgbClr val="0F4C5C"/>
            </a:solidFill>
            <a:prstDash val="solid"/>
          </a:ln>
        </p:spPr>
      </p:sp>
      <p:sp>
        <p:nvSpPr>
          <p:cNvPr id="6" name="Text 4"/>
          <p:cNvSpPr/>
          <p:nvPr/>
        </p:nvSpPr>
        <p:spPr>
          <a:xfrm>
            <a:off x="731520" y="1600200"/>
            <a:ext cx="2560320" cy="685800"/>
          </a:xfrm>
          <a:prstGeom prst="rect">
            <a:avLst/>
          </a:prstGeom>
          <a:noFill/>
          <a:ln/>
        </p:spPr>
        <p:txBody>
          <a:bodyPr wrap="square" lIns="0" tIns="0" rIns="0" bIns="0" rtlCol="0" anchor="ctr"/>
          <a:lstStyle/>
          <a:p>
            <a:pPr algn="ctr" indent="0" marL="0">
              <a:buNone/>
            </a:pPr>
            <a:r>
              <a:rPr lang="en-US" sz="1400" b="1" dirty="0">
                <a:solidFill>
                  <a:srgbClr val="0F4C5C"/>
                </a:solidFill>
                <a:latin typeface="Georgia" pitchFamily="34" charset="0"/>
                <a:ea typeface="Georgia" pitchFamily="34" charset="-122"/>
                <a:cs typeface="Georgia" pitchFamily="34" charset="-120"/>
              </a:rPr>
              <a:t>↑↑ ADH</a:t>
            </a:r>
            <a:endParaRPr lang="en-US" sz="1400" dirty="0"/>
          </a:p>
        </p:txBody>
      </p:sp>
      <p:sp>
        <p:nvSpPr>
          <p:cNvPr id="7" name="Text 5"/>
          <p:cNvSpPr/>
          <p:nvPr/>
        </p:nvSpPr>
        <p:spPr>
          <a:xfrm>
            <a:off x="73152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pituitary oversecretion</a:t>
            </a:r>
            <a:endParaRPr lang="en-US" sz="1050" dirty="0"/>
          </a:p>
        </p:txBody>
      </p:sp>
      <p:sp>
        <p:nvSpPr>
          <p:cNvPr id="8" name="Shape 6"/>
          <p:cNvSpPr/>
          <p:nvPr/>
        </p:nvSpPr>
        <p:spPr>
          <a:xfrm>
            <a:off x="3310128" y="2057400"/>
            <a:ext cx="201168" cy="182880"/>
          </a:xfrm>
          <a:prstGeom prst="rightArrow">
            <a:avLst/>
          </a:prstGeom>
          <a:solidFill>
            <a:srgbClr val="E36414"/>
          </a:solidFill>
          <a:ln w="12700">
            <a:solidFill>
              <a:srgbClr val="E36414"/>
            </a:solidFill>
            <a:prstDash val="solid"/>
          </a:ln>
        </p:spPr>
      </p:sp>
      <p:sp>
        <p:nvSpPr>
          <p:cNvPr id="9" name="Shape 7"/>
          <p:cNvSpPr/>
          <p:nvPr/>
        </p:nvSpPr>
        <p:spPr>
          <a:xfrm>
            <a:off x="3520440" y="1554480"/>
            <a:ext cx="2560320" cy="1188720"/>
          </a:xfrm>
          <a:prstGeom prst="roundRect">
            <a:avLst>
              <a:gd name="adj" fmla="val 6154"/>
            </a:avLst>
          </a:prstGeom>
          <a:solidFill>
            <a:srgbClr val="E0F2FE"/>
          </a:solidFill>
          <a:ln w="19050">
            <a:solidFill>
              <a:srgbClr val="0F4C5C"/>
            </a:solidFill>
            <a:prstDash val="solid"/>
          </a:ln>
        </p:spPr>
      </p:sp>
      <p:sp>
        <p:nvSpPr>
          <p:cNvPr id="10" name="Text 8"/>
          <p:cNvSpPr/>
          <p:nvPr/>
        </p:nvSpPr>
        <p:spPr>
          <a:xfrm>
            <a:off x="3520440" y="1600200"/>
            <a:ext cx="2560320" cy="685800"/>
          </a:xfrm>
          <a:prstGeom prst="rect">
            <a:avLst/>
          </a:prstGeom>
          <a:noFill/>
          <a:ln/>
        </p:spPr>
        <p:txBody>
          <a:bodyPr wrap="square" lIns="0" tIns="0" rIns="0" bIns="0" rtlCol="0" anchor="ctr"/>
          <a:lstStyle/>
          <a:p>
            <a:pPr algn="ctr" indent="0" marL="0">
              <a:buNone/>
            </a:pPr>
            <a:r>
              <a:rPr lang="en-US" sz="1400" b="1" dirty="0">
                <a:solidFill>
                  <a:srgbClr val="0F4C5C"/>
                </a:solidFill>
                <a:latin typeface="Georgia" pitchFamily="34" charset="0"/>
                <a:ea typeface="Georgia" pitchFamily="34" charset="-122"/>
                <a:cs typeface="Georgia" pitchFamily="34" charset="-120"/>
              </a:rPr>
              <a:t>Kidneys HOLD</a:t>
            </a:r>
            <a:endParaRPr lang="en-US" sz="1400" dirty="0"/>
          </a:p>
          <a:p>
            <a:pPr algn="ctr" indent="0" marL="0">
              <a:buNone/>
            </a:pPr>
            <a:r>
              <a:rPr lang="en-US" sz="1400" b="1" dirty="0">
                <a:solidFill>
                  <a:srgbClr val="0F4C5C"/>
                </a:solidFill>
                <a:latin typeface="Georgia" pitchFamily="34" charset="0"/>
                <a:ea typeface="Georgia" pitchFamily="34" charset="-122"/>
                <a:cs typeface="Georgia" pitchFamily="34" charset="-120"/>
              </a:rPr>
              <a:t>onto water</a:t>
            </a:r>
            <a:endParaRPr lang="en-US" sz="1400" dirty="0"/>
          </a:p>
        </p:txBody>
      </p:sp>
      <p:sp>
        <p:nvSpPr>
          <p:cNvPr id="11" name="Text 9"/>
          <p:cNvSpPr/>
          <p:nvPr/>
        </p:nvSpPr>
        <p:spPr>
          <a:xfrm>
            <a:off x="352044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tiny, concentrated urine</a:t>
            </a:r>
            <a:endParaRPr lang="en-US" sz="1050" dirty="0"/>
          </a:p>
        </p:txBody>
      </p:sp>
      <p:sp>
        <p:nvSpPr>
          <p:cNvPr id="12" name="Shape 10"/>
          <p:cNvSpPr/>
          <p:nvPr/>
        </p:nvSpPr>
        <p:spPr>
          <a:xfrm>
            <a:off x="6099048" y="2057400"/>
            <a:ext cx="201168" cy="182880"/>
          </a:xfrm>
          <a:prstGeom prst="rightArrow">
            <a:avLst/>
          </a:prstGeom>
          <a:solidFill>
            <a:srgbClr val="E36414"/>
          </a:solidFill>
          <a:ln w="12700">
            <a:solidFill>
              <a:srgbClr val="E36414"/>
            </a:solidFill>
            <a:prstDash val="solid"/>
          </a:ln>
        </p:spPr>
      </p:sp>
      <p:sp>
        <p:nvSpPr>
          <p:cNvPr id="13" name="Shape 11"/>
          <p:cNvSpPr/>
          <p:nvPr/>
        </p:nvSpPr>
        <p:spPr>
          <a:xfrm>
            <a:off x="6309360" y="1554480"/>
            <a:ext cx="2560320" cy="1188720"/>
          </a:xfrm>
          <a:prstGeom prst="roundRect">
            <a:avLst>
              <a:gd name="adj" fmla="val 6154"/>
            </a:avLst>
          </a:prstGeom>
          <a:solidFill>
            <a:srgbClr val="E0F2FE"/>
          </a:solidFill>
          <a:ln w="19050">
            <a:solidFill>
              <a:srgbClr val="0F4C5C"/>
            </a:solidFill>
            <a:prstDash val="solid"/>
          </a:ln>
        </p:spPr>
      </p:sp>
      <p:sp>
        <p:nvSpPr>
          <p:cNvPr id="14" name="Text 12"/>
          <p:cNvSpPr/>
          <p:nvPr/>
        </p:nvSpPr>
        <p:spPr>
          <a:xfrm>
            <a:off x="6309360" y="1600200"/>
            <a:ext cx="2560320" cy="685800"/>
          </a:xfrm>
          <a:prstGeom prst="rect">
            <a:avLst/>
          </a:prstGeom>
          <a:noFill/>
          <a:ln/>
        </p:spPr>
        <p:txBody>
          <a:bodyPr wrap="square" lIns="0" tIns="0" rIns="0" bIns="0" rtlCol="0" anchor="ctr"/>
          <a:lstStyle/>
          <a:p>
            <a:pPr algn="ctr" indent="0" marL="0">
              <a:buNone/>
            </a:pPr>
            <a:r>
              <a:rPr lang="en-US" sz="1400" b="1" dirty="0">
                <a:solidFill>
                  <a:srgbClr val="0F4C5C"/>
                </a:solidFill>
                <a:latin typeface="Georgia" pitchFamily="34" charset="0"/>
                <a:ea typeface="Georgia" pitchFamily="34" charset="-122"/>
                <a:cs typeface="Georgia" pitchFamily="34" charset="-120"/>
              </a:rPr>
              <a:t>Water intoxication</a:t>
            </a:r>
            <a:endParaRPr lang="en-US" sz="1400" dirty="0"/>
          </a:p>
          <a:p>
            <a:pPr algn="ctr" indent="0" marL="0">
              <a:buNone/>
            </a:pPr>
            <a:r>
              <a:rPr lang="en-US" sz="1400" b="1" dirty="0">
                <a:solidFill>
                  <a:srgbClr val="0F4C5C"/>
                </a:solidFill>
                <a:latin typeface="Georgia" pitchFamily="34" charset="0"/>
                <a:ea typeface="Georgia" pitchFamily="34" charset="-122"/>
                <a:cs typeface="Georgia" pitchFamily="34" charset="-120"/>
              </a:rPr>
              <a:t>(dilute blood)</a:t>
            </a:r>
            <a:endParaRPr lang="en-US" sz="1400" dirty="0"/>
          </a:p>
        </p:txBody>
      </p:sp>
      <p:sp>
        <p:nvSpPr>
          <p:cNvPr id="15" name="Text 13"/>
          <p:cNvSpPr/>
          <p:nvPr/>
        </p:nvSpPr>
        <p:spPr>
          <a:xfrm>
            <a:off x="630936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euvolemic — no edema</a:t>
            </a:r>
            <a:endParaRPr lang="en-US" sz="1050" dirty="0"/>
          </a:p>
        </p:txBody>
      </p:sp>
      <p:sp>
        <p:nvSpPr>
          <p:cNvPr id="16" name="Shape 14"/>
          <p:cNvSpPr/>
          <p:nvPr/>
        </p:nvSpPr>
        <p:spPr>
          <a:xfrm>
            <a:off x="8887968" y="2057400"/>
            <a:ext cx="201168" cy="182880"/>
          </a:xfrm>
          <a:prstGeom prst="rightArrow">
            <a:avLst/>
          </a:prstGeom>
          <a:solidFill>
            <a:srgbClr val="E36414"/>
          </a:solidFill>
          <a:ln w="12700">
            <a:solidFill>
              <a:srgbClr val="E36414"/>
            </a:solidFill>
            <a:prstDash val="solid"/>
          </a:ln>
        </p:spPr>
      </p:sp>
      <p:sp>
        <p:nvSpPr>
          <p:cNvPr id="17" name="Shape 15"/>
          <p:cNvSpPr/>
          <p:nvPr/>
        </p:nvSpPr>
        <p:spPr>
          <a:xfrm>
            <a:off x="9098280" y="1554480"/>
            <a:ext cx="2560320" cy="1188720"/>
          </a:xfrm>
          <a:prstGeom prst="roundRect">
            <a:avLst>
              <a:gd name="adj" fmla="val 6154"/>
            </a:avLst>
          </a:prstGeom>
          <a:solidFill>
            <a:srgbClr val="FEE2E2"/>
          </a:solidFill>
          <a:ln w="19050">
            <a:solidFill>
              <a:srgbClr val="DC2626"/>
            </a:solidFill>
            <a:prstDash val="solid"/>
          </a:ln>
        </p:spPr>
      </p:sp>
      <p:sp>
        <p:nvSpPr>
          <p:cNvPr id="18" name="Text 16"/>
          <p:cNvSpPr/>
          <p:nvPr/>
        </p:nvSpPr>
        <p:spPr>
          <a:xfrm>
            <a:off x="9098280" y="1600200"/>
            <a:ext cx="2560320" cy="685800"/>
          </a:xfrm>
          <a:prstGeom prst="rect">
            <a:avLst/>
          </a:prstGeom>
          <a:noFill/>
          <a:ln/>
        </p:spPr>
        <p:txBody>
          <a:bodyPr wrap="square" lIns="0" tIns="0" rIns="0" bIns="0" rtlCol="0" anchor="ctr"/>
          <a:lstStyle/>
          <a:p>
            <a:pPr algn="ctr" indent="0" marL="0">
              <a:buNone/>
            </a:pPr>
            <a:r>
              <a:rPr lang="en-US" sz="1400" b="1" dirty="0">
                <a:solidFill>
                  <a:srgbClr val="DC2626"/>
                </a:solidFill>
                <a:latin typeface="Georgia" pitchFamily="34" charset="0"/>
                <a:ea typeface="Georgia" pitchFamily="34" charset="-122"/>
                <a:cs typeface="Georgia" pitchFamily="34" charset="-120"/>
              </a:rPr>
              <a:t>Hyponatremia</a:t>
            </a:r>
            <a:endParaRPr lang="en-US" sz="1400" dirty="0"/>
          </a:p>
          <a:p>
            <a:pPr algn="ctr" indent="0" marL="0">
              <a:buNone/>
            </a:pPr>
            <a:r>
              <a:rPr lang="en-US" sz="1400" b="1" dirty="0">
                <a:solidFill>
                  <a:srgbClr val="DC2626"/>
                </a:solidFill>
                <a:latin typeface="Georgia" pitchFamily="34" charset="0"/>
                <a:ea typeface="Georgia" pitchFamily="34" charset="-122"/>
                <a:cs typeface="Georgia" pitchFamily="34" charset="-120"/>
              </a:rPr>
              <a:t>→ seizures</a:t>
            </a:r>
            <a:endParaRPr lang="en-US" sz="1400" dirty="0"/>
          </a:p>
        </p:txBody>
      </p:sp>
      <p:sp>
        <p:nvSpPr>
          <p:cNvPr id="19" name="Text 17"/>
          <p:cNvSpPr/>
          <p:nvPr/>
        </p:nvSpPr>
        <p:spPr>
          <a:xfrm>
            <a:off x="9098280" y="2331720"/>
            <a:ext cx="2560320" cy="365760"/>
          </a:xfrm>
          <a:prstGeom prst="rect">
            <a:avLst/>
          </a:prstGeom>
          <a:noFill/>
          <a:ln/>
        </p:spPr>
        <p:txBody>
          <a:bodyPr wrap="square" lIns="0" tIns="0" rIns="0" bIns="0" rtlCol="0" anchor="ctr"/>
          <a:lstStyle/>
          <a:p>
            <a:pPr algn="ctr" indent="0" marL="0">
              <a:buNone/>
            </a:pPr>
            <a:r>
              <a:rPr lang="en-US" sz="1050" i="1" dirty="0">
                <a:solidFill>
                  <a:srgbClr val="475569"/>
                </a:solidFill>
                <a:latin typeface="Calibri" pitchFamily="34" charset="0"/>
                <a:ea typeface="Calibri" pitchFamily="34" charset="-122"/>
                <a:cs typeface="Calibri" pitchFamily="34" charset="-120"/>
              </a:rPr>
              <a:t>Na⁺ &lt; 125 mEq/L</a:t>
            </a:r>
            <a:endParaRPr lang="en-US" sz="1050" dirty="0"/>
          </a:p>
        </p:txBody>
      </p:sp>
      <p:sp>
        <p:nvSpPr>
          <p:cNvPr id="20" name="Shape 18"/>
          <p:cNvSpPr/>
          <p:nvPr/>
        </p:nvSpPr>
        <p:spPr>
          <a:xfrm>
            <a:off x="731520" y="3017520"/>
            <a:ext cx="5349240" cy="33832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1" name="Text 19"/>
          <p:cNvSpPr/>
          <p:nvPr/>
        </p:nvSpPr>
        <p:spPr>
          <a:xfrm>
            <a:off x="914400" y="3154680"/>
            <a:ext cx="493776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Signs &amp; Symptoms</a:t>
            </a:r>
            <a:endParaRPr lang="en-US" sz="1500" dirty="0"/>
          </a:p>
        </p:txBody>
      </p:sp>
      <p:sp>
        <p:nvSpPr>
          <p:cNvPr id="22" name="Text 20"/>
          <p:cNvSpPr/>
          <p:nvPr/>
        </p:nvSpPr>
        <p:spPr>
          <a:xfrm>
            <a:off x="914400" y="3520440"/>
            <a:ext cx="5029200" cy="2743200"/>
          </a:xfrm>
          <a:prstGeom prst="rect">
            <a:avLst/>
          </a:prstGeom>
          <a:noFill/>
          <a:ln/>
        </p:spPr>
        <p:txBody>
          <a:bodyPr wrap="square" rtlCol="0" anchor="ctr"/>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Weight gain — but NO peripheral edema</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Anorexia, nausea, vomiting</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Low serum sodium (hyponatremia)</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Neurological: irritability, confusion, hallucinations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Seizures if sodium &lt; 125 mEq/L</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Decreased UOP (oliguria)</a:t>
            </a:r>
            <a:endParaRPr lang="en-US" sz="1200" dirty="0"/>
          </a:p>
        </p:txBody>
      </p:sp>
      <p:sp>
        <p:nvSpPr>
          <p:cNvPr id="23" name="Shape 21"/>
          <p:cNvSpPr/>
          <p:nvPr/>
        </p:nvSpPr>
        <p:spPr>
          <a:xfrm>
            <a:off x="6355080" y="3017520"/>
            <a:ext cx="5074920" cy="3383280"/>
          </a:xfrm>
          <a:prstGeom prst="rect">
            <a:avLst/>
          </a:prstGeom>
          <a:solidFill>
            <a:srgbClr val="E0F2FE"/>
          </a:solidFill>
          <a:ln w="12700">
            <a:solidFill>
              <a:srgbClr val="0F4C5C"/>
            </a:solidFill>
            <a:prstDash val="solid"/>
          </a:ln>
          <a:effectLst>
            <a:outerShdw sx="100000" sy="100000" kx="0" ky="0" algn="bl" rotWithShape="0" blurRad="127000" dist="25400" dir="5400000">
              <a:srgbClr val="000000">
                <a:alpha val="8000"/>
              </a:srgbClr>
            </a:outerShdw>
          </a:effectLst>
        </p:spPr>
      </p:sp>
      <p:sp>
        <p:nvSpPr>
          <p:cNvPr id="24" name="Text 22"/>
          <p:cNvSpPr/>
          <p:nvPr/>
        </p:nvSpPr>
        <p:spPr>
          <a:xfrm>
            <a:off x="6537960" y="3154680"/>
            <a:ext cx="475488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Lab Values</a:t>
            </a:r>
            <a:endParaRPr lang="en-US" sz="1500" dirty="0"/>
          </a:p>
        </p:txBody>
      </p:sp>
      <p:sp>
        <p:nvSpPr>
          <p:cNvPr id="25" name="Text 23"/>
          <p:cNvSpPr/>
          <p:nvPr/>
        </p:nvSpPr>
        <p:spPr>
          <a:xfrm>
            <a:off x="6537960" y="3520440"/>
            <a:ext cx="4754880" cy="2834640"/>
          </a:xfrm>
          <a:prstGeom prst="rect">
            <a:avLst/>
          </a:prstGeom>
          <a:noFill/>
          <a:ln/>
        </p:spPr>
        <p:txBody>
          <a:bodyPr wrap="square" rtlCol="0" anchor="ctr"/>
          <a:lstStyle/>
          <a:p>
            <a:pPr indent="0" marL="0">
              <a:spcAft>
                <a:spcPts val="300"/>
              </a:spcAft>
              <a:buNone/>
            </a:pPr>
            <a:r>
              <a:rPr lang="en-US" sz="1200" b="1" dirty="0">
                <a:solidFill>
                  <a:srgbClr val="0F4C5C"/>
                </a:solidFill>
                <a:latin typeface="Calibri" pitchFamily="34" charset="0"/>
                <a:ea typeface="Calibri" pitchFamily="34" charset="-122"/>
                <a:cs typeface="Calibri" pitchFamily="34" charset="-120"/>
              </a:rPr>
              <a:t>URINE = CONCENTRATED</a:t>
            </a:r>
            <a:endParaRPr lang="en-US" sz="1200" dirty="0"/>
          </a:p>
          <a:p>
            <a:pPr lvl="1" marL="6858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 UOP, ↑ urine osmolality</a:t>
            </a:r>
            <a:endParaRPr lang="en-US" sz="1200" dirty="0"/>
          </a:p>
          <a:p>
            <a:pPr lvl="1" marL="6858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 urine specific gravity</a:t>
            </a:r>
            <a:endParaRPr lang="en-US" sz="1200" dirty="0"/>
          </a:p>
          <a:p>
            <a:pPr lvl="1" marL="6858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 urine sodium</a:t>
            </a:r>
            <a:endParaRPr lang="en-US" sz="1200" dirty="0"/>
          </a:p>
          <a:p>
            <a:pPr indent="0" marL="0">
              <a:spcAft>
                <a:spcPts val="300"/>
              </a:spcAft>
              <a:buNone/>
            </a:pPr>
            <a:r>
              <a:rPr lang="en-US" sz="1200" b="1" dirty="0">
                <a:solidFill>
                  <a:srgbClr val="0F4C5C"/>
                </a:solidFill>
                <a:latin typeface="Calibri" pitchFamily="34" charset="0"/>
                <a:ea typeface="Calibri" pitchFamily="34" charset="-122"/>
                <a:cs typeface="Calibri" pitchFamily="34" charset="-120"/>
              </a:rPr>
              <a:t>BLOOD = DILUTE</a:t>
            </a:r>
            <a:endParaRPr lang="en-US" sz="1200" dirty="0"/>
          </a:p>
          <a:p>
            <a:pPr lvl="1" marL="6858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 serum osmolality</a:t>
            </a:r>
            <a:endParaRPr lang="en-US" sz="1200" dirty="0"/>
          </a:p>
          <a:p>
            <a:pPr lvl="1" marL="6858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 serum sodium (hyponatremia)</a:t>
            </a:r>
            <a:endParaRPr lang="en-US" sz="1200" dirty="0"/>
          </a:p>
          <a:p>
            <a:pPr lvl="1" marL="6858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Dilutional anemia</a:t>
            </a:r>
            <a:endParaRPr lang="en-US" sz="1200" dirty="0"/>
          </a:p>
        </p:txBody>
      </p:sp>
      <p:sp>
        <p:nvSpPr>
          <p:cNvPr id="26" name="Text 24"/>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7" name="Text 25"/>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SIADH — Treatment</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Restrict fluids, replace sodium carefully, protect the brain</a:t>
            </a:r>
            <a:endParaRPr lang="en-US" sz="1400" dirty="0"/>
          </a:p>
        </p:txBody>
      </p:sp>
      <p:sp>
        <p:nvSpPr>
          <p:cNvPr id="5" name="Shape 3"/>
          <p:cNvSpPr/>
          <p:nvPr/>
        </p:nvSpPr>
        <p:spPr>
          <a:xfrm>
            <a:off x="731520" y="1463040"/>
            <a:ext cx="106984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63040"/>
            <a:ext cx="109728" cy="868680"/>
          </a:xfrm>
          <a:prstGeom prst="rect">
            <a:avLst/>
          </a:prstGeom>
          <a:solidFill>
            <a:srgbClr val="0F4C5C"/>
          </a:solidFill>
          <a:ln w="12700">
            <a:solidFill>
              <a:srgbClr val="0F4C5C"/>
            </a:solidFill>
            <a:prstDash val="solid"/>
          </a:ln>
        </p:spPr>
      </p:sp>
      <p:sp>
        <p:nvSpPr>
          <p:cNvPr id="7" name="Shape 5"/>
          <p:cNvSpPr/>
          <p:nvPr/>
        </p:nvSpPr>
        <p:spPr>
          <a:xfrm>
            <a:off x="1005840" y="1600200"/>
            <a:ext cx="594360" cy="594360"/>
          </a:xfrm>
          <a:prstGeom prst="ellipse">
            <a:avLst/>
          </a:prstGeom>
          <a:solidFill>
            <a:srgbClr val="E0F2FE"/>
          </a:solidFill>
          <a:ln w="12700">
            <a:solidFill>
              <a:srgbClr val="0F4C5C"/>
            </a:solidFill>
            <a:prstDash val="solid"/>
          </a:ln>
        </p:spPr>
      </p:sp>
      <p:pic>
        <p:nvPicPr>
          <p:cNvPr id="8" name="Image 0" descr="preencoded.png">    </p:cNvPr>
          <p:cNvPicPr>
            <a:picLocks noChangeAspect="1"/>
          </p:cNvPicPr>
          <p:nvPr/>
        </p:nvPicPr>
        <p:blipFill>
          <a:blip r:embed="rId1"/>
          <a:stretch>
            <a:fillRect/>
          </a:stretch>
        </p:blipFill>
        <p:spPr>
          <a:xfrm>
            <a:off x="1115568" y="1709928"/>
            <a:ext cx="384048" cy="384048"/>
          </a:xfrm>
          <a:prstGeom prst="rect">
            <a:avLst/>
          </a:prstGeom>
        </p:spPr>
      </p:pic>
      <p:sp>
        <p:nvSpPr>
          <p:cNvPr id="9" name="Text 6"/>
          <p:cNvSpPr/>
          <p:nvPr/>
        </p:nvSpPr>
        <p:spPr>
          <a:xfrm>
            <a:off x="1737360" y="1554480"/>
            <a:ext cx="3200400" cy="68580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Fluid Restriction</a:t>
            </a:r>
            <a:endParaRPr lang="en-US" sz="1500" dirty="0"/>
          </a:p>
        </p:txBody>
      </p:sp>
      <p:sp>
        <p:nvSpPr>
          <p:cNvPr id="10" name="Text 7"/>
          <p:cNvSpPr/>
          <p:nvPr/>
        </p:nvSpPr>
        <p:spPr>
          <a:xfrm>
            <a:off x="5029200" y="1554480"/>
            <a:ext cx="6217920"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Usually 800–1000 mL / 24 h. Cornerstone of therapy — restricting water allows serum Na⁺ to rise gradually.</a:t>
            </a:r>
            <a:endParaRPr lang="en-US" sz="1200" dirty="0"/>
          </a:p>
        </p:txBody>
      </p:sp>
      <p:sp>
        <p:nvSpPr>
          <p:cNvPr id="11" name="Shape 8"/>
          <p:cNvSpPr/>
          <p:nvPr/>
        </p:nvSpPr>
        <p:spPr>
          <a:xfrm>
            <a:off x="731520" y="2423160"/>
            <a:ext cx="106984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2" name="Shape 9"/>
          <p:cNvSpPr/>
          <p:nvPr/>
        </p:nvSpPr>
        <p:spPr>
          <a:xfrm>
            <a:off x="731520" y="2423160"/>
            <a:ext cx="109728" cy="868680"/>
          </a:xfrm>
          <a:prstGeom prst="rect">
            <a:avLst/>
          </a:prstGeom>
          <a:solidFill>
            <a:srgbClr val="155E75"/>
          </a:solidFill>
          <a:ln w="12700">
            <a:solidFill>
              <a:srgbClr val="155E75"/>
            </a:solidFill>
            <a:prstDash val="solid"/>
          </a:ln>
        </p:spPr>
      </p:sp>
      <p:sp>
        <p:nvSpPr>
          <p:cNvPr id="13" name="Shape 10"/>
          <p:cNvSpPr/>
          <p:nvPr/>
        </p:nvSpPr>
        <p:spPr>
          <a:xfrm>
            <a:off x="1005840" y="2560320"/>
            <a:ext cx="594360" cy="594360"/>
          </a:xfrm>
          <a:prstGeom prst="ellipse">
            <a:avLst/>
          </a:prstGeom>
          <a:solidFill>
            <a:srgbClr val="E0F2FE"/>
          </a:solidFill>
          <a:ln w="12700">
            <a:solidFill>
              <a:srgbClr val="155E75"/>
            </a:solidFill>
            <a:prstDash val="solid"/>
          </a:ln>
        </p:spPr>
      </p:sp>
      <p:pic>
        <p:nvPicPr>
          <p:cNvPr id="14" name="Image 1" descr="preencoded.png">    </p:cNvPr>
          <p:cNvPicPr>
            <a:picLocks noChangeAspect="1"/>
          </p:cNvPicPr>
          <p:nvPr/>
        </p:nvPicPr>
        <p:blipFill>
          <a:blip r:embed="rId2"/>
          <a:stretch>
            <a:fillRect/>
          </a:stretch>
        </p:blipFill>
        <p:spPr>
          <a:xfrm>
            <a:off x="1115568" y="2670048"/>
            <a:ext cx="384048" cy="384048"/>
          </a:xfrm>
          <a:prstGeom prst="rect">
            <a:avLst/>
          </a:prstGeom>
        </p:spPr>
      </p:pic>
      <p:sp>
        <p:nvSpPr>
          <p:cNvPr id="15" name="Text 11"/>
          <p:cNvSpPr/>
          <p:nvPr/>
        </p:nvSpPr>
        <p:spPr>
          <a:xfrm>
            <a:off x="1737360" y="2514600"/>
            <a:ext cx="3200400" cy="685800"/>
          </a:xfrm>
          <a:prstGeom prst="rect">
            <a:avLst/>
          </a:prstGeom>
          <a:noFill/>
          <a:ln/>
        </p:spPr>
        <p:txBody>
          <a:bodyPr wrap="square" lIns="0" tIns="0" rIns="0" bIns="0" rtlCol="0" anchor="ctr"/>
          <a:lstStyle/>
          <a:p>
            <a:pPr indent="0" marL="0">
              <a:buNone/>
            </a:pPr>
            <a:r>
              <a:rPr lang="en-US" sz="1500" b="1" dirty="0">
                <a:solidFill>
                  <a:srgbClr val="155E75"/>
                </a:solidFill>
                <a:latin typeface="Georgia" pitchFamily="34" charset="0"/>
                <a:ea typeface="Georgia" pitchFamily="34" charset="-122"/>
                <a:cs typeface="Georgia" pitchFamily="34" charset="-120"/>
              </a:rPr>
              <a:t>Sodium Replacement</a:t>
            </a:r>
            <a:endParaRPr lang="en-US" sz="1500" dirty="0"/>
          </a:p>
        </p:txBody>
      </p:sp>
      <p:sp>
        <p:nvSpPr>
          <p:cNvPr id="16" name="Text 12"/>
          <p:cNvSpPr/>
          <p:nvPr/>
        </p:nvSpPr>
        <p:spPr>
          <a:xfrm>
            <a:off x="5029200" y="2514600"/>
            <a:ext cx="6217920"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Hypertonic saline (3% NaCl) for severe symptomatic hyponatremia. Correct slowly to avoid osmotic demyelination.</a:t>
            </a:r>
            <a:endParaRPr lang="en-US" sz="1200" dirty="0"/>
          </a:p>
        </p:txBody>
      </p:sp>
      <p:sp>
        <p:nvSpPr>
          <p:cNvPr id="17" name="Shape 13"/>
          <p:cNvSpPr/>
          <p:nvPr/>
        </p:nvSpPr>
        <p:spPr>
          <a:xfrm>
            <a:off x="731520" y="3383280"/>
            <a:ext cx="106984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8" name="Shape 14"/>
          <p:cNvSpPr/>
          <p:nvPr/>
        </p:nvSpPr>
        <p:spPr>
          <a:xfrm>
            <a:off x="731520" y="3383280"/>
            <a:ext cx="109728" cy="868680"/>
          </a:xfrm>
          <a:prstGeom prst="rect">
            <a:avLst/>
          </a:prstGeom>
          <a:solidFill>
            <a:srgbClr val="DC2626"/>
          </a:solidFill>
          <a:ln w="12700">
            <a:solidFill>
              <a:srgbClr val="DC2626"/>
            </a:solidFill>
            <a:prstDash val="solid"/>
          </a:ln>
        </p:spPr>
      </p:sp>
      <p:sp>
        <p:nvSpPr>
          <p:cNvPr id="19" name="Shape 15"/>
          <p:cNvSpPr/>
          <p:nvPr/>
        </p:nvSpPr>
        <p:spPr>
          <a:xfrm>
            <a:off x="1005840" y="3520440"/>
            <a:ext cx="594360" cy="594360"/>
          </a:xfrm>
          <a:prstGeom prst="ellipse">
            <a:avLst/>
          </a:prstGeom>
          <a:solidFill>
            <a:srgbClr val="E0F2FE"/>
          </a:solidFill>
          <a:ln w="12700">
            <a:solidFill>
              <a:srgbClr val="DC2626"/>
            </a:solidFill>
            <a:prstDash val="solid"/>
          </a:ln>
        </p:spPr>
      </p:sp>
      <p:pic>
        <p:nvPicPr>
          <p:cNvPr id="20" name="Image 2" descr="preencoded.png">    </p:cNvPr>
          <p:cNvPicPr>
            <a:picLocks noChangeAspect="1"/>
          </p:cNvPicPr>
          <p:nvPr/>
        </p:nvPicPr>
        <p:blipFill>
          <a:blip r:embed="rId3"/>
          <a:stretch>
            <a:fillRect/>
          </a:stretch>
        </p:blipFill>
        <p:spPr>
          <a:xfrm>
            <a:off x="1115568" y="3630168"/>
            <a:ext cx="384048" cy="384048"/>
          </a:xfrm>
          <a:prstGeom prst="rect">
            <a:avLst/>
          </a:prstGeom>
        </p:spPr>
      </p:pic>
      <p:sp>
        <p:nvSpPr>
          <p:cNvPr id="21" name="Text 16"/>
          <p:cNvSpPr/>
          <p:nvPr/>
        </p:nvSpPr>
        <p:spPr>
          <a:xfrm>
            <a:off x="1737360" y="3474720"/>
            <a:ext cx="3200400" cy="685800"/>
          </a:xfrm>
          <a:prstGeom prst="rect">
            <a:avLst/>
          </a:prstGeom>
          <a:noFill/>
          <a:ln/>
        </p:spPr>
        <p:txBody>
          <a:bodyPr wrap="square" lIns="0" tIns="0" rIns="0" bIns="0" rtlCol="0" anchor="ctr"/>
          <a:lstStyle/>
          <a:p>
            <a:pPr indent="0" marL="0">
              <a:buNone/>
            </a:pPr>
            <a:r>
              <a:rPr lang="en-US" sz="1500" b="1" dirty="0">
                <a:solidFill>
                  <a:srgbClr val="DC2626"/>
                </a:solidFill>
                <a:latin typeface="Georgia" pitchFamily="34" charset="0"/>
                <a:ea typeface="Georgia" pitchFamily="34" charset="-122"/>
                <a:cs typeface="Georgia" pitchFamily="34" charset="-120"/>
              </a:rPr>
              <a:t>Seizure Precautions</a:t>
            </a:r>
            <a:endParaRPr lang="en-US" sz="1500" dirty="0"/>
          </a:p>
        </p:txBody>
      </p:sp>
      <p:sp>
        <p:nvSpPr>
          <p:cNvPr id="22" name="Text 17"/>
          <p:cNvSpPr/>
          <p:nvPr/>
        </p:nvSpPr>
        <p:spPr>
          <a:xfrm>
            <a:off x="5029200" y="3474720"/>
            <a:ext cx="6217920"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Raise side rails, suction at bedside, quiet environment. Highest seizure risk when serum Na⁺ &lt; 125 mEq/L.</a:t>
            </a:r>
            <a:endParaRPr lang="en-US" sz="1200" dirty="0"/>
          </a:p>
        </p:txBody>
      </p:sp>
      <p:sp>
        <p:nvSpPr>
          <p:cNvPr id="23" name="Shape 18"/>
          <p:cNvSpPr/>
          <p:nvPr/>
        </p:nvSpPr>
        <p:spPr>
          <a:xfrm>
            <a:off x="731520" y="4343400"/>
            <a:ext cx="106984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4" name="Shape 19"/>
          <p:cNvSpPr/>
          <p:nvPr/>
        </p:nvSpPr>
        <p:spPr>
          <a:xfrm>
            <a:off x="731520" y="4343400"/>
            <a:ext cx="109728" cy="868680"/>
          </a:xfrm>
          <a:prstGeom prst="rect">
            <a:avLst/>
          </a:prstGeom>
          <a:solidFill>
            <a:srgbClr val="E36414"/>
          </a:solidFill>
          <a:ln w="12700">
            <a:solidFill>
              <a:srgbClr val="E36414"/>
            </a:solidFill>
            <a:prstDash val="solid"/>
          </a:ln>
        </p:spPr>
      </p:sp>
      <p:sp>
        <p:nvSpPr>
          <p:cNvPr id="25" name="Shape 20"/>
          <p:cNvSpPr/>
          <p:nvPr/>
        </p:nvSpPr>
        <p:spPr>
          <a:xfrm>
            <a:off x="1005840" y="4480560"/>
            <a:ext cx="594360" cy="594360"/>
          </a:xfrm>
          <a:prstGeom prst="ellipse">
            <a:avLst/>
          </a:prstGeom>
          <a:solidFill>
            <a:srgbClr val="E0F2FE"/>
          </a:solidFill>
          <a:ln w="12700">
            <a:solidFill>
              <a:srgbClr val="E36414"/>
            </a:solidFill>
            <a:prstDash val="solid"/>
          </a:ln>
        </p:spPr>
      </p:sp>
      <p:pic>
        <p:nvPicPr>
          <p:cNvPr id="26" name="Image 3" descr="preencoded.png">    </p:cNvPr>
          <p:cNvPicPr>
            <a:picLocks noChangeAspect="1"/>
          </p:cNvPicPr>
          <p:nvPr/>
        </p:nvPicPr>
        <p:blipFill>
          <a:blip r:embed="rId4"/>
          <a:stretch>
            <a:fillRect/>
          </a:stretch>
        </p:blipFill>
        <p:spPr>
          <a:xfrm>
            <a:off x="1115568" y="4590288"/>
            <a:ext cx="384048" cy="384048"/>
          </a:xfrm>
          <a:prstGeom prst="rect">
            <a:avLst/>
          </a:prstGeom>
        </p:spPr>
      </p:pic>
      <p:sp>
        <p:nvSpPr>
          <p:cNvPr id="27" name="Text 21"/>
          <p:cNvSpPr/>
          <p:nvPr/>
        </p:nvSpPr>
        <p:spPr>
          <a:xfrm>
            <a:off x="1737360" y="4434840"/>
            <a:ext cx="3200400" cy="685800"/>
          </a:xfrm>
          <a:prstGeom prst="rect">
            <a:avLst/>
          </a:prstGeom>
          <a:noFill/>
          <a:ln/>
        </p:spPr>
        <p:txBody>
          <a:bodyPr wrap="square" lIns="0" tIns="0" rIns="0" bIns="0" rtlCol="0" anchor="ctr"/>
          <a:lstStyle/>
          <a:p>
            <a:pPr indent="0" marL="0">
              <a:buNone/>
            </a:pPr>
            <a:r>
              <a:rPr lang="en-US" sz="1500" b="1" dirty="0">
                <a:solidFill>
                  <a:srgbClr val="E36414"/>
                </a:solidFill>
                <a:latin typeface="Georgia" pitchFamily="34" charset="0"/>
                <a:ea typeface="Georgia" pitchFamily="34" charset="-122"/>
                <a:cs typeface="Georgia" pitchFamily="34" charset="-120"/>
              </a:rPr>
              <a:t>Medications</a:t>
            </a:r>
            <a:endParaRPr lang="en-US" sz="1500" dirty="0"/>
          </a:p>
        </p:txBody>
      </p:sp>
      <p:sp>
        <p:nvSpPr>
          <p:cNvPr id="28" name="Text 22"/>
          <p:cNvSpPr/>
          <p:nvPr/>
        </p:nvSpPr>
        <p:spPr>
          <a:xfrm>
            <a:off x="5029200" y="4434840"/>
            <a:ext cx="6217920"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Tolvaptan / Conivaptan (vaptans — ADH antagonists). Demeclocycline in chronic SIADH. Loop diuretics if needed.</a:t>
            </a:r>
            <a:endParaRPr lang="en-US" sz="1200" dirty="0"/>
          </a:p>
        </p:txBody>
      </p:sp>
      <p:sp>
        <p:nvSpPr>
          <p:cNvPr id="29" name="Shape 23"/>
          <p:cNvSpPr/>
          <p:nvPr/>
        </p:nvSpPr>
        <p:spPr>
          <a:xfrm>
            <a:off x="731520" y="5303520"/>
            <a:ext cx="10698480" cy="86868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0" name="Shape 24"/>
          <p:cNvSpPr/>
          <p:nvPr/>
        </p:nvSpPr>
        <p:spPr>
          <a:xfrm>
            <a:off x="731520" y="5303520"/>
            <a:ext cx="109728" cy="868680"/>
          </a:xfrm>
          <a:prstGeom prst="rect">
            <a:avLst/>
          </a:prstGeom>
          <a:solidFill>
            <a:srgbClr val="0F4C5C"/>
          </a:solidFill>
          <a:ln w="12700">
            <a:solidFill>
              <a:srgbClr val="0F4C5C"/>
            </a:solidFill>
            <a:prstDash val="solid"/>
          </a:ln>
        </p:spPr>
      </p:sp>
      <p:sp>
        <p:nvSpPr>
          <p:cNvPr id="31" name="Shape 25"/>
          <p:cNvSpPr/>
          <p:nvPr/>
        </p:nvSpPr>
        <p:spPr>
          <a:xfrm>
            <a:off x="1005840" y="5440680"/>
            <a:ext cx="594360" cy="594360"/>
          </a:xfrm>
          <a:prstGeom prst="ellipse">
            <a:avLst/>
          </a:prstGeom>
          <a:solidFill>
            <a:srgbClr val="E0F2FE"/>
          </a:solidFill>
          <a:ln w="12700">
            <a:solidFill>
              <a:srgbClr val="0F4C5C"/>
            </a:solidFill>
            <a:prstDash val="solid"/>
          </a:ln>
        </p:spPr>
      </p:sp>
      <p:pic>
        <p:nvPicPr>
          <p:cNvPr id="32" name="Image 4" descr="preencoded.png">    </p:cNvPr>
          <p:cNvPicPr>
            <a:picLocks noChangeAspect="1"/>
          </p:cNvPicPr>
          <p:nvPr/>
        </p:nvPicPr>
        <p:blipFill>
          <a:blip r:embed="rId5"/>
          <a:stretch>
            <a:fillRect/>
          </a:stretch>
        </p:blipFill>
        <p:spPr>
          <a:xfrm>
            <a:off x="1115568" y="5550408"/>
            <a:ext cx="384048" cy="384048"/>
          </a:xfrm>
          <a:prstGeom prst="rect">
            <a:avLst/>
          </a:prstGeom>
        </p:spPr>
      </p:pic>
      <p:sp>
        <p:nvSpPr>
          <p:cNvPr id="33" name="Text 26"/>
          <p:cNvSpPr/>
          <p:nvPr/>
        </p:nvSpPr>
        <p:spPr>
          <a:xfrm>
            <a:off x="1737360" y="5394960"/>
            <a:ext cx="3200400" cy="68580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Monitoring</a:t>
            </a:r>
            <a:endParaRPr lang="en-US" sz="1500" dirty="0"/>
          </a:p>
        </p:txBody>
      </p:sp>
      <p:sp>
        <p:nvSpPr>
          <p:cNvPr id="34" name="Text 27"/>
          <p:cNvSpPr/>
          <p:nvPr/>
        </p:nvSpPr>
        <p:spPr>
          <a:xfrm>
            <a:off x="5029200" y="5394960"/>
            <a:ext cx="6217920"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Serum Na⁺ q4–6h during correction. Daily weight, strict I&amp;O, neuro assessment, seizure activity.</a:t>
            </a:r>
            <a:endParaRPr lang="en-US" sz="1200" dirty="0"/>
          </a:p>
        </p:txBody>
      </p:sp>
      <p:sp>
        <p:nvSpPr>
          <p:cNvPr id="35" name="Text 2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6" name="Text 2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DI vs. SIADH — Side-by-Side</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The most tested comparison on NCLEX</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914400"/>
        </p:xfrm>
        <a:graphic>
          <a:graphicData uri="http://schemas.openxmlformats.org/drawingml/2006/table">
            <a:tbl>
              <a:tblPr/>
              <a:tblGrid>
                <a:gridCol w="3566160"/>
                <a:gridCol w="3566160"/>
                <a:gridCol w="356616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Diabetes Insipidus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262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SIADH</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36414"/>
                    </a:solidFill>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ADH Level</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DC2626"/>
                          </a:solidFill>
                          <a:latin typeface="Calibri" pitchFamily="34" charset="0"/>
                          <a:ea typeface="Calibri" pitchFamily="34" charset="-122"/>
                          <a:cs typeface="Calibri" pitchFamily="34" charset="-120"/>
                        </a:rPr>
                        <a:t>↓ Low (not enough)</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E36414"/>
                          </a:solidFill>
                          <a:latin typeface="Calibri" pitchFamily="34" charset="0"/>
                          <a:ea typeface="Calibri" pitchFamily="34" charset="-122"/>
                          <a:cs typeface="Calibri" pitchFamily="34" charset="-120"/>
                        </a:rPr>
                        <a:t>↑ High (too much)</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Urine Output</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HIGH (polyuria)</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LOW (oliguria)</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Urine Osmolarity</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Low (dilute)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High (concentrated)</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Urine Specific Gravity</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Low (&lt; 1.005)</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High (&gt; 1.030)</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Serum Sodium</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HIGH (hypernatremia)</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LOW (hyponatremia)</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Serum Osmolarity</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High (concentrated)</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 Low (dilute)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Fluid Status</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Hypovolemia, hypotension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Euvolemia, NO edema</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Treatment</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Fluids + Desmopressin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Fluid restriction + 3% saline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bl>
          </a:graphicData>
        </a:graphic>
      </p:graphicFrame>
      <p:sp>
        <p:nvSpPr>
          <p:cNvPr id="6" name="Text 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7" name="Text 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Hypothyroidism</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Not enough thyroid hormone — everything SLOWS down</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5349240" cy="73152"/>
          </a:xfrm>
          <a:prstGeom prst="rect">
            <a:avLst/>
          </a:prstGeom>
          <a:solidFill>
            <a:srgbClr val="155E75"/>
          </a:solidFill>
          <a:ln w="12700">
            <a:solidFill>
              <a:srgbClr val="155E75"/>
            </a:solidFill>
            <a:prstDash val="solid"/>
          </a:ln>
        </p:spPr>
      </p:sp>
      <p:pic>
        <p:nvPicPr>
          <p:cNvPr id="7" name="Image 0"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8" name="Text 5"/>
          <p:cNvSpPr/>
          <p:nvPr/>
        </p:nvSpPr>
        <p:spPr>
          <a:xfrm>
            <a:off x="1371600" y="1719072"/>
            <a:ext cx="4572000" cy="41148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Pathophysiology</a:t>
            </a:r>
            <a:endParaRPr lang="en-US" sz="1700" dirty="0"/>
          </a:p>
        </p:txBody>
      </p:sp>
      <p:sp>
        <p:nvSpPr>
          <p:cNvPr id="9" name="Text 6"/>
          <p:cNvSpPr/>
          <p:nvPr/>
        </p:nvSpPr>
        <p:spPr>
          <a:xfrm>
            <a:off x="914400" y="2286000"/>
            <a:ext cx="5029200" cy="3657600"/>
          </a:xfrm>
          <a:prstGeom prst="rect">
            <a:avLst/>
          </a:prstGeom>
          <a:noFill/>
          <a:ln/>
        </p:spPr>
        <p:txBody>
          <a:bodyPr wrap="square" rtlCol="0" anchor="ctr"/>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The body does not have enough T3 &amp; T4</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Thyroid can't respond to ↑ TSH from pituitary</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Negative feedback loop is broken</a:t>
            </a:r>
            <a:endParaRPr lang="en-US" sz="1200" dirty="0"/>
          </a:p>
          <a:p>
            <a:pPr indent="0" marL="0">
              <a:spcAft>
                <a:spcPts val="500"/>
              </a:spcAft>
              <a:buNone/>
            </a:pPr>
            <a:endParaRPr lang="en-US" sz="1200" dirty="0"/>
          </a:p>
          <a:p>
            <a:pPr indent="0" marL="0">
              <a:spcAft>
                <a:spcPts val="500"/>
              </a:spcAft>
              <a:buNone/>
            </a:pPr>
            <a:r>
              <a:rPr lang="en-US" sz="1200" b="1" dirty="0">
                <a:solidFill>
                  <a:srgbClr val="0F4C5C"/>
                </a:solidFill>
                <a:latin typeface="Calibri" pitchFamily="34" charset="0"/>
                <a:ea typeface="Calibri" pitchFamily="34" charset="-122"/>
                <a:cs typeface="Calibri" pitchFamily="34" charset="-120"/>
              </a:rPr>
              <a:t>LAB FINDINGS:</a:t>
            </a:r>
            <a:endParaRPr lang="en-US" sz="1200" dirty="0"/>
          </a:p>
          <a:p>
            <a:pPr marL="342900" indent="-342900">
              <a:spcAft>
                <a:spcPts val="500"/>
              </a:spcAft>
              <a:buSzPct val="100000"/>
              <a:buChar char="•"/>
            </a:pPr>
            <a:r>
              <a:rPr lang="en-US" sz="1200" b="1" dirty="0">
                <a:solidFill>
                  <a:srgbClr val="DC2626"/>
                </a:solidFill>
                <a:latin typeface="Calibri" pitchFamily="34" charset="0"/>
                <a:ea typeface="Calibri" pitchFamily="34" charset="-122"/>
                <a:cs typeface="Calibri" pitchFamily="34" charset="-120"/>
              </a:rPr>
              <a:t>↑ TSH   +   ↓ T4  (primary hypothyroidism)</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Hashimoto's thyroiditis — most common cause (autoimmune)</a:t>
            </a:r>
            <a:endParaRPr lang="en-US" sz="1200" dirty="0"/>
          </a:p>
        </p:txBody>
      </p:sp>
      <p:sp>
        <p:nvSpPr>
          <p:cNvPr id="10" name="Shape 7"/>
          <p:cNvSpPr/>
          <p:nvPr/>
        </p:nvSpPr>
        <p:spPr>
          <a:xfrm>
            <a:off x="6355080" y="1554480"/>
            <a:ext cx="5074920" cy="4572000"/>
          </a:xfrm>
          <a:prstGeom prst="rect">
            <a:avLst/>
          </a:prstGeom>
          <a:solidFill>
            <a:srgbClr val="E0F2FE"/>
          </a:solidFill>
          <a:ln w="12700">
            <a:solidFill>
              <a:srgbClr val="0F4C5C"/>
            </a:solidFill>
            <a:prstDash val="solid"/>
          </a:ln>
          <a:effectLst>
            <a:outerShdw sx="100000" sy="100000" kx="0" ky="0" algn="bl" rotWithShape="0" blurRad="127000" dist="25400" dir="5400000">
              <a:srgbClr val="000000">
                <a:alpha val="8000"/>
              </a:srgbClr>
            </a:outerShdw>
          </a:effectLst>
        </p:spPr>
      </p:sp>
      <p:sp>
        <p:nvSpPr>
          <p:cNvPr id="11" name="Text 8"/>
          <p:cNvSpPr/>
          <p:nvPr/>
        </p:nvSpPr>
        <p:spPr>
          <a:xfrm>
            <a:off x="6537960" y="1737360"/>
            <a:ext cx="4754880" cy="411480"/>
          </a:xfrm>
          <a:prstGeom prst="rect">
            <a:avLst/>
          </a:prstGeom>
          <a:noFill/>
          <a:ln/>
        </p:spPr>
        <p:txBody>
          <a:bodyPr wrap="square" lIns="0" tIns="0" rIns="0" bIns="0" rtlCol="0" anchor="ctr"/>
          <a:lstStyle/>
          <a:p>
            <a:pPr algn="ctr" indent="0" marL="0">
              <a:buNone/>
            </a:pPr>
            <a:r>
              <a:rPr lang="en-US" sz="1600" b="1" dirty="0">
                <a:solidFill>
                  <a:srgbClr val="0F4C5C"/>
                </a:solidFill>
                <a:latin typeface="Georgia" pitchFamily="34" charset="0"/>
                <a:ea typeface="Georgia" pitchFamily="34" charset="-122"/>
                <a:cs typeface="Georgia" pitchFamily="34" charset="-120"/>
              </a:rPr>
              <a:t>Lab Picture</a:t>
            </a:r>
            <a:endParaRPr lang="en-US" sz="1600" dirty="0"/>
          </a:p>
        </p:txBody>
      </p:sp>
      <p:sp>
        <p:nvSpPr>
          <p:cNvPr id="12" name="Shape 9"/>
          <p:cNvSpPr/>
          <p:nvPr/>
        </p:nvSpPr>
        <p:spPr>
          <a:xfrm>
            <a:off x="6583680" y="2377440"/>
            <a:ext cx="2286000" cy="2103120"/>
          </a:xfrm>
          <a:prstGeom prst="roundRect">
            <a:avLst>
              <a:gd name="adj" fmla="val 6522"/>
            </a:avLst>
          </a:prstGeom>
          <a:solidFill>
            <a:srgbClr val="FEE2E2"/>
          </a:solidFill>
          <a:ln w="25400">
            <a:solidFill>
              <a:srgbClr val="DC2626"/>
            </a:solidFill>
            <a:prstDash val="solid"/>
          </a:ln>
        </p:spPr>
      </p:sp>
      <p:sp>
        <p:nvSpPr>
          <p:cNvPr id="13" name="Text 10"/>
          <p:cNvSpPr/>
          <p:nvPr/>
        </p:nvSpPr>
        <p:spPr>
          <a:xfrm>
            <a:off x="6583680" y="2514600"/>
            <a:ext cx="2286000" cy="457200"/>
          </a:xfrm>
          <a:prstGeom prst="rect">
            <a:avLst/>
          </a:prstGeom>
          <a:noFill/>
          <a:ln/>
        </p:spPr>
        <p:txBody>
          <a:bodyPr wrap="square" lIns="0" tIns="0" rIns="0" bIns="0" rtlCol="0" anchor="ctr"/>
          <a:lstStyle/>
          <a:p>
            <a:pPr algn="ctr" indent="0" marL="0">
              <a:buNone/>
            </a:pPr>
            <a:r>
              <a:rPr lang="en-US" sz="2000" b="1" dirty="0">
                <a:solidFill>
                  <a:srgbClr val="DC2626"/>
                </a:solidFill>
                <a:latin typeface="Georgia" pitchFamily="34" charset="0"/>
                <a:ea typeface="Georgia" pitchFamily="34" charset="-122"/>
                <a:cs typeface="Georgia" pitchFamily="34" charset="-120"/>
              </a:rPr>
              <a:t>TSH</a:t>
            </a:r>
            <a:endParaRPr lang="en-US" sz="2000" dirty="0"/>
          </a:p>
        </p:txBody>
      </p:sp>
      <p:sp>
        <p:nvSpPr>
          <p:cNvPr id="14" name="Text 11"/>
          <p:cNvSpPr/>
          <p:nvPr/>
        </p:nvSpPr>
        <p:spPr>
          <a:xfrm>
            <a:off x="6583680" y="2926080"/>
            <a:ext cx="2286000" cy="914400"/>
          </a:xfrm>
          <a:prstGeom prst="rect">
            <a:avLst/>
          </a:prstGeom>
          <a:noFill/>
          <a:ln/>
        </p:spPr>
        <p:txBody>
          <a:bodyPr wrap="square" lIns="0" tIns="0" rIns="0" bIns="0" rtlCol="0" anchor="ctr"/>
          <a:lstStyle/>
          <a:p>
            <a:pPr algn="ctr" indent="0" marL="0">
              <a:buNone/>
            </a:pPr>
            <a:r>
              <a:rPr lang="en-US" sz="6000" b="1" dirty="0">
                <a:solidFill>
                  <a:srgbClr val="DC2626"/>
                </a:solidFill>
                <a:latin typeface="Georgia" pitchFamily="34" charset="0"/>
                <a:ea typeface="Georgia" pitchFamily="34" charset="-122"/>
                <a:cs typeface="Georgia" pitchFamily="34" charset="-120"/>
              </a:rPr>
              <a:t>↑</a:t>
            </a:r>
            <a:endParaRPr lang="en-US" sz="6000" dirty="0"/>
          </a:p>
        </p:txBody>
      </p:sp>
      <p:sp>
        <p:nvSpPr>
          <p:cNvPr id="15" name="Text 12"/>
          <p:cNvSpPr/>
          <p:nvPr/>
        </p:nvSpPr>
        <p:spPr>
          <a:xfrm>
            <a:off x="6583680" y="3931920"/>
            <a:ext cx="2286000" cy="45720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HIGH</a:t>
            </a:r>
            <a:endParaRPr lang="en-US" sz="1600" dirty="0"/>
          </a:p>
        </p:txBody>
      </p:sp>
      <p:sp>
        <p:nvSpPr>
          <p:cNvPr id="16" name="Shape 13"/>
          <p:cNvSpPr/>
          <p:nvPr/>
        </p:nvSpPr>
        <p:spPr>
          <a:xfrm>
            <a:off x="9052560" y="2377440"/>
            <a:ext cx="2286000" cy="2103120"/>
          </a:xfrm>
          <a:prstGeom prst="roundRect">
            <a:avLst>
              <a:gd name="adj" fmla="val 6522"/>
            </a:avLst>
          </a:prstGeom>
          <a:solidFill>
            <a:srgbClr val="FEE2E2"/>
          </a:solidFill>
          <a:ln w="25400">
            <a:solidFill>
              <a:srgbClr val="DC2626"/>
            </a:solidFill>
            <a:prstDash val="solid"/>
          </a:ln>
        </p:spPr>
      </p:sp>
      <p:sp>
        <p:nvSpPr>
          <p:cNvPr id="17" name="Text 14"/>
          <p:cNvSpPr/>
          <p:nvPr/>
        </p:nvSpPr>
        <p:spPr>
          <a:xfrm>
            <a:off x="9052560" y="2514600"/>
            <a:ext cx="2286000" cy="457200"/>
          </a:xfrm>
          <a:prstGeom prst="rect">
            <a:avLst/>
          </a:prstGeom>
          <a:noFill/>
          <a:ln/>
        </p:spPr>
        <p:txBody>
          <a:bodyPr wrap="square" lIns="0" tIns="0" rIns="0" bIns="0" rtlCol="0" anchor="ctr"/>
          <a:lstStyle/>
          <a:p>
            <a:pPr algn="ctr" indent="0" marL="0">
              <a:buNone/>
            </a:pPr>
            <a:r>
              <a:rPr lang="en-US" sz="2000" b="1" dirty="0">
                <a:solidFill>
                  <a:srgbClr val="DC2626"/>
                </a:solidFill>
                <a:latin typeface="Georgia" pitchFamily="34" charset="0"/>
                <a:ea typeface="Georgia" pitchFamily="34" charset="-122"/>
                <a:cs typeface="Georgia" pitchFamily="34" charset="-120"/>
              </a:rPr>
              <a:t>T4</a:t>
            </a:r>
            <a:endParaRPr lang="en-US" sz="2000" dirty="0"/>
          </a:p>
        </p:txBody>
      </p:sp>
      <p:sp>
        <p:nvSpPr>
          <p:cNvPr id="18" name="Text 15"/>
          <p:cNvSpPr/>
          <p:nvPr/>
        </p:nvSpPr>
        <p:spPr>
          <a:xfrm>
            <a:off x="9052560" y="2926080"/>
            <a:ext cx="2286000" cy="914400"/>
          </a:xfrm>
          <a:prstGeom prst="rect">
            <a:avLst/>
          </a:prstGeom>
          <a:noFill/>
          <a:ln/>
        </p:spPr>
        <p:txBody>
          <a:bodyPr wrap="square" lIns="0" tIns="0" rIns="0" bIns="0" rtlCol="0" anchor="ctr"/>
          <a:lstStyle/>
          <a:p>
            <a:pPr algn="ctr" indent="0" marL="0">
              <a:buNone/>
            </a:pPr>
            <a:r>
              <a:rPr lang="en-US" sz="6000" b="1" dirty="0">
                <a:solidFill>
                  <a:srgbClr val="DC2626"/>
                </a:solidFill>
                <a:latin typeface="Georgia" pitchFamily="34" charset="0"/>
                <a:ea typeface="Georgia" pitchFamily="34" charset="-122"/>
                <a:cs typeface="Georgia" pitchFamily="34" charset="-120"/>
              </a:rPr>
              <a:t>↓</a:t>
            </a:r>
            <a:endParaRPr lang="en-US" sz="6000" dirty="0"/>
          </a:p>
        </p:txBody>
      </p:sp>
      <p:sp>
        <p:nvSpPr>
          <p:cNvPr id="19" name="Text 16"/>
          <p:cNvSpPr/>
          <p:nvPr/>
        </p:nvSpPr>
        <p:spPr>
          <a:xfrm>
            <a:off x="9052560" y="3931920"/>
            <a:ext cx="2286000" cy="45720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LOW</a:t>
            </a:r>
            <a:endParaRPr lang="en-US" sz="1600" dirty="0"/>
          </a:p>
        </p:txBody>
      </p:sp>
      <p:sp>
        <p:nvSpPr>
          <p:cNvPr id="20" name="Text 17"/>
          <p:cNvSpPr/>
          <p:nvPr/>
        </p:nvSpPr>
        <p:spPr>
          <a:xfrm>
            <a:off x="6492240" y="4754880"/>
            <a:ext cx="4846320" cy="1371600"/>
          </a:xfrm>
          <a:prstGeom prst="rect">
            <a:avLst/>
          </a:prstGeom>
          <a:noFill/>
          <a:ln/>
        </p:spPr>
        <p:txBody>
          <a:bodyPr wrap="square" lIns="0" tIns="0" rIns="0" bIns="0" rtlCol="0" anchor="ctr"/>
          <a:lstStyle/>
          <a:p>
            <a:pPr algn="ctr" indent="0" marL="0">
              <a:buNone/>
            </a:pPr>
            <a:r>
              <a:rPr lang="en-US" sz="1200" b="1" i="1" dirty="0">
                <a:solidFill>
                  <a:srgbClr val="DC2626"/>
                </a:solidFill>
                <a:latin typeface="Calibri" pitchFamily="34" charset="0"/>
                <a:ea typeface="Calibri" pitchFamily="34" charset="-122"/>
                <a:cs typeface="Calibri" pitchFamily="34" charset="-120"/>
              </a:rPr>
              <a:t>Myxedema coma = severe, life-threatening hypothyroidism</a:t>
            </a:r>
            <a:endParaRPr lang="en-US" sz="1200" dirty="0"/>
          </a:p>
          <a:p>
            <a:pPr algn="ctr" indent="0" marL="0">
              <a:buNone/>
            </a:pPr>
            <a:r>
              <a:rPr lang="en-US" sz="1200" b="1" i="1" dirty="0">
                <a:solidFill>
                  <a:srgbClr val="DC2626"/>
                </a:solidFill>
                <a:latin typeface="Calibri" pitchFamily="34" charset="0"/>
                <a:ea typeface="Calibri" pitchFamily="34" charset="-122"/>
                <a:cs typeface="Calibri" pitchFamily="34" charset="-120"/>
              </a:rPr>
              <a:t>(hypotension, hypothermia, bradycardia, AMS)</a:t>
            </a:r>
            <a:endParaRPr lang="en-US" sz="1200" dirty="0"/>
          </a:p>
        </p:txBody>
      </p:sp>
      <p:sp>
        <p:nvSpPr>
          <p:cNvPr id="21" name="Text 1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2" name="Text 1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Hypothyroidism — Signs &amp; Symptoms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Think 'everything slows down'</a:t>
            </a:r>
            <a:endParaRPr lang="en-US" sz="1400" dirty="0"/>
          </a:p>
        </p:txBody>
      </p:sp>
      <p:sp>
        <p:nvSpPr>
          <p:cNvPr id="5" name="Shape 3"/>
          <p:cNvSpPr/>
          <p:nvPr/>
        </p:nvSpPr>
        <p:spPr>
          <a:xfrm>
            <a:off x="731520"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1666837" y="1645920"/>
            <a:ext cx="640080" cy="640080"/>
          </a:xfrm>
          <a:prstGeom prst="ellipse">
            <a:avLst/>
          </a:prstGeom>
          <a:solidFill>
            <a:srgbClr val="E0F2FE"/>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1785709" y="1764792"/>
            <a:ext cx="411480" cy="411480"/>
          </a:xfrm>
          <a:prstGeom prst="rect">
            <a:avLst/>
          </a:prstGeom>
        </p:spPr>
      </p:pic>
      <p:sp>
        <p:nvSpPr>
          <p:cNvPr id="8" name="Text 5"/>
          <p:cNvSpPr/>
          <p:nvPr/>
        </p:nvSpPr>
        <p:spPr>
          <a:xfrm>
            <a:off x="822960" y="233172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Cold Intolerance</a:t>
            </a:r>
            <a:endParaRPr lang="en-US" sz="1300" dirty="0"/>
          </a:p>
        </p:txBody>
      </p:sp>
      <p:sp>
        <p:nvSpPr>
          <p:cNvPr id="9" name="Text 6"/>
          <p:cNvSpPr/>
          <p:nvPr/>
        </p:nvSpPr>
        <p:spPr>
          <a:xfrm>
            <a:off x="868680"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Low body temperature; patient always feels cold.</a:t>
            </a:r>
            <a:endParaRPr lang="en-US" sz="1050" dirty="0"/>
          </a:p>
        </p:txBody>
      </p:sp>
      <p:sp>
        <p:nvSpPr>
          <p:cNvPr id="10" name="Shape 7"/>
          <p:cNvSpPr/>
          <p:nvPr/>
        </p:nvSpPr>
        <p:spPr>
          <a:xfrm>
            <a:off x="3470834"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1" name="Shape 8"/>
          <p:cNvSpPr/>
          <p:nvPr/>
        </p:nvSpPr>
        <p:spPr>
          <a:xfrm>
            <a:off x="4406151" y="1645920"/>
            <a:ext cx="640080" cy="640080"/>
          </a:xfrm>
          <a:prstGeom prst="ellipse">
            <a:avLst/>
          </a:prstGeom>
          <a:solidFill>
            <a:srgbClr val="E0F2FE"/>
          </a:solidFill>
          <a:ln w="12700">
            <a:solidFill>
              <a:srgbClr val="0F4C5C"/>
            </a:solidFill>
            <a:prstDash val="solid"/>
          </a:ln>
        </p:spPr>
      </p:sp>
      <p:pic>
        <p:nvPicPr>
          <p:cNvPr id="12" name="Image 1" descr="preencoded.png">    </p:cNvPr>
          <p:cNvPicPr>
            <a:picLocks noChangeAspect="1"/>
          </p:cNvPicPr>
          <p:nvPr/>
        </p:nvPicPr>
        <p:blipFill>
          <a:blip r:embed="rId2"/>
          <a:stretch>
            <a:fillRect/>
          </a:stretch>
        </p:blipFill>
        <p:spPr>
          <a:xfrm>
            <a:off x="4525023" y="1764792"/>
            <a:ext cx="411480" cy="411480"/>
          </a:xfrm>
          <a:prstGeom prst="rect">
            <a:avLst/>
          </a:prstGeom>
        </p:spPr>
      </p:pic>
      <p:sp>
        <p:nvSpPr>
          <p:cNvPr id="13" name="Text 9"/>
          <p:cNvSpPr/>
          <p:nvPr/>
        </p:nvSpPr>
        <p:spPr>
          <a:xfrm>
            <a:off x="3562274" y="233172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Slow HR &amp; Metabolism</a:t>
            </a:r>
            <a:endParaRPr lang="en-US" sz="1300" dirty="0"/>
          </a:p>
        </p:txBody>
      </p:sp>
      <p:sp>
        <p:nvSpPr>
          <p:cNvPr id="14" name="Text 10"/>
          <p:cNvSpPr/>
          <p:nvPr/>
        </p:nvSpPr>
        <p:spPr>
          <a:xfrm>
            <a:off x="3607994"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Bradycardia, weight gain despite poor appetite.</a:t>
            </a:r>
            <a:endParaRPr lang="en-US" sz="1050" dirty="0"/>
          </a:p>
        </p:txBody>
      </p:sp>
      <p:sp>
        <p:nvSpPr>
          <p:cNvPr id="15" name="Shape 11"/>
          <p:cNvSpPr/>
          <p:nvPr/>
        </p:nvSpPr>
        <p:spPr>
          <a:xfrm>
            <a:off x="6210148"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6" name="Shape 12"/>
          <p:cNvSpPr/>
          <p:nvPr/>
        </p:nvSpPr>
        <p:spPr>
          <a:xfrm>
            <a:off x="7145465" y="1645920"/>
            <a:ext cx="640080" cy="640080"/>
          </a:xfrm>
          <a:prstGeom prst="ellipse">
            <a:avLst/>
          </a:prstGeom>
          <a:solidFill>
            <a:srgbClr val="E0F2FE"/>
          </a:solidFill>
          <a:ln w="12700">
            <a:solidFill>
              <a:srgbClr val="0F4C5C"/>
            </a:solidFill>
            <a:prstDash val="solid"/>
          </a:ln>
        </p:spPr>
      </p:sp>
      <p:pic>
        <p:nvPicPr>
          <p:cNvPr id="17" name="Image 2" descr="preencoded.png">    </p:cNvPr>
          <p:cNvPicPr>
            <a:picLocks noChangeAspect="1"/>
          </p:cNvPicPr>
          <p:nvPr/>
        </p:nvPicPr>
        <p:blipFill>
          <a:blip r:embed="rId3"/>
          <a:stretch>
            <a:fillRect/>
          </a:stretch>
        </p:blipFill>
        <p:spPr>
          <a:xfrm>
            <a:off x="7264337" y="1764792"/>
            <a:ext cx="411480" cy="411480"/>
          </a:xfrm>
          <a:prstGeom prst="rect">
            <a:avLst/>
          </a:prstGeom>
        </p:spPr>
      </p:pic>
      <p:sp>
        <p:nvSpPr>
          <p:cNvPr id="18" name="Text 13"/>
          <p:cNvSpPr/>
          <p:nvPr/>
        </p:nvSpPr>
        <p:spPr>
          <a:xfrm>
            <a:off x="6301588" y="233172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Fatigue &amp; Weakness</a:t>
            </a:r>
            <a:endParaRPr lang="en-US" sz="1300" dirty="0"/>
          </a:p>
        </p:txBody>
      </p:sp>
      <p:sp>
        <p:nvSpPr>
          <p:cNvPr id="19" name="Text 14"/>
          <p:cNvSpPr/>
          <p:nvPr/>
        </p:nvSpPr>
        <p:spPr>
          <a:xfrm>
            <a:off x="6347308"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Extreme tiredness, poor memory, depression.</a:t>
            </a:r>
            <a:endParaRPr lang="en-US" sz="1050" dirty="0"/>
          </a:p>
        </p:txBody>
      </p:sp>
      <p:sp>
        <p:nvSpPr>
          <p:cNvPr id="20" name="Shape 15"/>
          <p:cNvSpPr/>
          <p:nvPr/>
        </p:nvSpPr>
        <p:spPr>
          <a:xfrm>
            <a:off x="8949461"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1" name="Shape 16"/>
          <p:cNvSpPr/>
          <p:nvPr/>
        </p:nvSpPr>
        <p:spPr>
          <a:xfrm>
            <a:off x="9884778" y="1645920"/>
            <a:ext cx="640080" cy="640080"/>
          </a:xfrm>
          <a:prstGeom prst="ellipse">
            <a:avLst/>
          </a:prstGeom>
          <a:solidFill>
            <a:srgbClr val="E0F2FE"/>
          </a:solidFill>
          <a:ln w="12700">
            <a:solidFill>
              <a:srgbClr val="0F4C5C"/>
            </a:solidFill>
            <a:prstDash val="solid"/>
          </a:ln>
        </p:spPr>
      </p:sp>
      <p:pic>
        <p:nvPicPr>
          <p:cNvPr id="22" name="Image 3" descr="preencoded.png">    </p:cNvPr>
          <p:cNvPicPr>
            <a:picLocks noChangeAspect="1"/>
          </p:cNvPicPr>
          <p:nvPr/>
        </p:nvPicPr>
        <p:blipFill>
          <a:blip r:embed="rId4"/>
          <a:stretch>
            <a:fillRect/>
          </a:stretch>
        </p:blipFill>
        <p:spPr>
          <a:xfrm>
            <a:off x="10003650" y="1764792"/>
            <a:ext cx="411480" cy="411480"/>
          </a:xfrm>
          <a:prstGeom prst="rect">
            <a:avLst/>
          </a:prstGeom>
        </p:spPr>
      </p:pic>
      <p:sp>
        <p:nvSpPr>
          <p:cNvPr id="23" name="Text 17"/>
          <p:cNvSpPr/>
          <p:nvPr/>
        </p:nvSpPr>
        <p:spPr>
          <a:xfrm>
            <a:off x="9040901" y="233172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Dry Skin / Hair Loss</a:t>
            </a:r>
            <a:endParaRPr lang="en-US" sz="1300" dirty="0"/>
          </a:p>
        </p:txBody>
      </p:sp>
      <p:sp>
        <p:nvSpPr>
          <p:cNvPr id="24" name="Text 18"/>
          <p:cNvSpPr/>
          <p:nvPr/>
        </p:nvSpPr>
        <p:spPr>
          <a:xfrm>
            <a:off x="9086621"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Dry, coarse skin; thin brittle hair; lost eyebrow.</a:t>
            </a:r>
            <a:endParaRPr lang="en-US" sz="1050" dirty="0"/>
          </a:p>
        </p:txBody>
      </p:sp>
      <p:sp>
        <p:nvSpPr>
          <p:cNvPr id="25" name="Shape 19"/>
          <p:cNvSpPr/>
          <p:nvPr/>
        </p:nvSpPr>
        <p:spPr>
          <a:xfrm>
            <a:off x="731520"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6" name="Shape 20"/>
          <p:cNvSpPr/>
          <p:nvPr/>
        </p:nvSpPr>
        <p:spPr>
          <a:xfrm>
            <a:off x="1666837" y="4023360"/>
            <a:ext cx="640080" cy="640080"/>
          </a:xfrm>
          <a:prstGeom prst="ellipse">
            <a:avLst/>
          </a:prstGeom>
          <a:solidFill>
            <a:srgbClr val="E0F2FE"/>
          </a:solidFill>
          <a:ln w="12700">
            <a:solidFill>
              <a:srgbClr val="0F4C5C"/>
            </a:solidFill>
            <a:prstDash val="solid"/>
          </a:ln>
        </p:spPr>
      </p:sp>
      <p:pic>
        <p:nvPicPr>
          <p:cNvPr id="27" name="Image 4" descr="preencoded.png">    </p:cNvPr>
          <p:cNvPicPr>
            <a:picLocks noChangeAspect="1"/>
          </p:cNvPicPr>
          <p:nvPr/>
        </p:nvPicPr>
        <p:blipFill>
          <a:blip r:embed="rId5"/>
          <a:stretch>
            <a:fillRect/>
          </a:stretch>
        </p:blipFill>
        <p:spPr>
          <a:xfrm>
            <a:off x="1785709" y="4142232"/>
            <a:ext cx="411480" cy="411480"/>
          </a:xfrm>
          <a:prstGeom prst="rect">
            <a:avLst/>
          </a:prstGeom>
        </p:spPr>
      </p:pic>
      <p:sp>
        <p:nvSpPr>
          <p:cNvPr id="28" name="Text 21"/>
          <p:cNvSpPr/>
          <p:nvPr/>
        </p:nvSpPr>
        <p:spPr>
          <a:xfrm>
            <a:off x="822960" y="470916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Puffy Face / Edema</a:t>
            </a:r>
            <a:endParaRPr lang="en-US" sz="1300" dirty="0"/>
          </a:p>
        </p:txBody>
      </p:sp>
      <p:sp>
        <p:nvSpPr>
          <p:cNvPr id="29" name="Text 22"/>
          <p:cNvSpPr/>
          <p:nvPr/>
        </p:nvSpPr>
        <p:spPr>
          <a:xfrm>
            <a:off x="868680"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Myxedematous facial puffiness; periorbital edema.</a:t>
            </a:r>
            <a:endParaRPr lang="en-US" sz="1050" dirty="0"/>
          </a:p>
        </p:txBody>
      </p:sp>
      <p:sp>
        <p:nvSpPr>
          <p:cNvPr id="30" name="Shape 23"/>
          <p:cNvSpPr/>
          <p:nvPr/>
        </p:nvSpPr>
        <p:spPr>
          <a:xfrm>
            <a:off x="3470834"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1" name="Shape 24"/>
          <p:cNvSpPr/>
          <p:nvPr/>
        </p:nvSpPr>
        <p:spPr>
          <a:xfrm>
            <a:off x="4406151" y="4023360"/>
            <a:ext cx="640080" cy="640080"/>
          </a:xfrm>
          <a:prstGeom prst="ellipse">
            <a:avLst/>
          </a:prstGeom>
          <a:solidFill>
            <a:srgbClr val="E0F2FE"/>
          </a:solidFill>
          <a:ln w="12700">
            <a:solidFill>
              <a:srgbClr val="0F4C5C"/>
            </a:solidFill>
            <a:prstDash val="solid"/>
          </a:ln>
        </p:spPr>
      </p:sp>
      <p:pic>
        <p:nvPicPr>
          <p:cNvPr id="32" name="Image 5" descr="preencoded.png">    </p:cNvPr>
          <p:cNvPicPr>
            <a:picLocks noChangeAspect="1"/>
          </p:cNvPicPr>
          <p:nvPr/>
        </p:nvPicPr>
        <p:blipFill>
          <a:blip r:embed="rId6"/>
          <a:stretch>
            <a:fillRect/>
          </a:stretch>
        </p:blipFill>
        <p:spPr>
          <a:xfrm>
            <a:off x="4525023" y="4142232"/>
            <a:ext cx="411480" cy="411480"/>
          </a:xfrm>
          <a:prstGeom prst="rect">
            <a:avLst/>
          </a:prstGeom>
        </p:spPr>
      </p:pic>
      <p:sp>
        <p:nvSpPr>
          <p:cNvPr id="33" name="Text 25"/>
          <p:cNvSpPr/>
          <p:nvPr/>
        </p:nvSpPr>
        <p:spPr>
          <a:xfrm>
            <a:off x="3562274" y="470916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Constipation</a:t>
            </a:r>
            <a:endParaRPr lang="en-US" sz="1300" dirty="0"/>
          </a:p>
        </p:txBody>
      </p:sp>
      <p:sp>
        <p:nvSpPr>
          <p:cNvPr id="34" name="Text 26"/>
          <p:cNvSpPr/>
          <p:nvPr/>
        </p:nvSpPr>
        <p:spPr>
          <a:xfrm>
            <a:off x="3607994"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Slow GI transit; bloating, abdominal discomfort.</a:t>
            </a:r>
            <a:endParaRPr lang="en-US" sz="1050" dirty="0"/>
          </a:p>
        </p:txBody>
      </p:sp>
      <p:sp>
        <p:nvSpPr>
          <p:cNvPr id="35" name="Shape 27"/>
          <p:cNvSpPr/>
          <p:nvPr/>
        </p:nvSpPr>
        <p:spPr>
          <a:xfrm>
            <a:off x="6210148"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6" name="Shape 28"/>
          <p:cNvSpPr/>
          <p:nvPr/>
        </p:nvSpPr>
        <p:spPr>
          <a:xfrm>
            <a:off x="7145465" y="4023360"/>
            <a:ext cx="640080" cy="640080"/>
          </a:xfrm>
          <a:prstGeom prst="ellipse">
            <a:avLst/>
          </a:prstGeom>
          <a:solidFill>
            <a:srgbClr val="E0F2FE"/>
          </a:solidFill>
          <a:ln w="12700">
            <a:solidFill>
              <a:srgbClr val="0F4C5C"/>
            </a:solidFill>
            <a:prstDash val="solid"/>
          </a:ln>
        </p:spPr>
      </p:sp>
      <p:pic>
        <p:nvPicPr>
          <p:cNvPr id="37" name="Image 6" descr="preencoded.png">    </p:cNvPr>
          <p:cNvPicPr>
            <a:picLocks noChangeAspect="1"/>
          </p:cNvPicPr>
          <p:nvPr/>
        </p:nvPicPr>
        <p:blipFill>
          <a:blip r:embed="rId7"/>
          <a:stretch>
            <a:fillRect/>
          </a:stretch>
        </p:blipFill>
        <p:spPr>
          <a:xfrm>
            <a:off x="7264337" y="4142232"/>
            <a:ext cx="411480" cy="411480"/>
          </a:xfrm>
          <a:prstGeom prst="rect">
            <a:avLst/>
          </a:prstGeom>
        </p:spPr>
      </p:pic>
      <p:sp>
        <p:nvSpPr>
          <p:cNvPr id="38" name="Text 29"/>
          <p:cNvSpPr/>
          <p:nvPr/>
        </p:nvSpPr>
        <p:spPr>
          <a:xfrm>
            <a:off x="6301588" y="470916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Cognitive Slowing</a:t>
            </a:r>
            <a:endParaRPr lang="en-US" sz="1300" dirty="0"/>
          </a:p>
        </p:txBody>
      </p:sp>
      <p:sp>
        <p:nvSpPr>
          <p:cNvPr id="39" name="Text 30"/>
          <p:cNvSpPr/>
          <p:nvPr/>
        </p:nvSpPr>
        <p:spPr>
          <a:xfrm>
            <a:off x="6347308"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Poor concentration, slowed speech, lethargy.</a:t>
            </a:r>
            <a:endParaRPr lang="en-US" sz="1050" dirty="0"/>
          </a:p>
        </p:txBody>
      </p:sp>
      <p:sp>
        <p:nvSpPr>
          <p:cNvPr id="40" name="Shape 31"/>
          <p:cNvSpPr/>
          <p:nvPr/>
        </p:nvSpPr>
        <p:spPr>
          <a:xfrm>
            <a:off x="8949461"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41" name="Shape 32"/>
          <p:cNvSpPr/>
          <p:nvPr/>
        </p:nvSpPr>
        <p:spPr>
          <a:xfrm>
            <a:off x="9884778" y="4023360"/>
            <a:ext cx="640080" cy="640080"/>
          </a:xfrm>
          <a:prstGeom prst="ellipse">
            <a:avLst/>
          </a:prstGeom>
          <a:solidFill>
            <a:srgbClr val="E0F2FE"/>
          </a:solidFill>
          <a:ln w="12700">
            <a:solidFill>
              <a:srgbClr val="0F4C5C"/>
            </a:solidFill>
            <a:prstDash val="solid"/>
          </a:ln>
        </p:spPr>
      </p:sp>
      <p:pic>
        <p:nvPicPr>
          <p:cNvPr id="42" name="Image 7" descr="preencoded.png">    </p:cNvPr>
          <p:cNvPicPr>
            <a:picLocks noChangeAspect="1"/>
          </p:cNvPicPr>
          <p:nvPr/>
        </p:nvPicPr>
        <p:blipFill>
          <a:blip r:embed="rId8"/>
          <a:stretch>
            <a:fillRect/>
          </a:stretch>
        </p:blipFill>
        <p:spPr>
          <a:xfrm>
            <a:off x="10003650" y="4142232"/>
            <a:ext cx="411480" cy="411480"/>
          </a:xfrm>
          <a:prstGeom prst="rect">
            <a:avLst/>
          </a:prstGeom>
        </p:spPr>
      </p:pic>
      <p:sp>
        <p:nvSpPr>
          <p:cNvPr id="43" name="Text 33"/>
          <p:cNvSpPr/>
          <p:nvPr/>
        </p:nvSpPr>
        <p:spPr>
          <a:xfrm>
            <a:off x="9040901" y="4709160"/>
            <a:ext cx="2327834" cy="411480"/>
          </a:xfrm>
          <a:prstGeom prst="rect">
            <a:avLst/>
          </a:prstGeom>
          <a:noFill/>
          <a:ln/>
        </p:spPr>
        <p:txBody>
          <a:bodyPr wrap="square" lIns="0" tIns="0" rIns="0" bIns="0" rtlCol="0" anchor="ctr"/>
          <a:lstStyle/>
          <a:p>
            <a:pPr algn="ctr" indent="0" marL="0">
              <a:buNone/>
            </a:pPr>
            <a:r>
              <a:rPr lang="en-US" sz="1300" b="1" dirty="0">
                <a:solidFill>
                  <a:srgbClr val="0F4C5C"/>
                </a:solidFill>
                <a:latin typeface="Georgia" pitchFamily="34" charset="0"/>
                <a:ea typeface="Georgia" pitchFamily="34" charset="-122"/>
                <a:cs typeface="Georgia" pitchFamily="34" charset="-120"/>
              </a:rPr>
              <a:t>Menstrual Changes</a:t>
            </a:r>
            <a:endParaRPr lang="en-US" sz="1300" dirty="0"/>
          </a:p>
        </p:txBody>
      </p:sp>
      <p:sp>
        <p:nvSpPr>
          <p:cNvPr id="44" name="Text 34"/>
          <p:cNvSpPr/>
          <p:nvPr/>
        </p:nvSpPr>
        <p:spPr>
          <a:xfrm>
            <a:off x="9086621"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Heavy menses (menorrhagia), infertility.</a:t>
            </a:r>
            <a:endParaRPr lang="en-US" sz="1050" dirty="0"/>
          </a:p>
        </p:txBody>
      </p:sp>
      <p:sp>
        <p:nvSpPr>
          <p:cNvPr id="45" name="Text 3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6" name="Text 3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Drug Spotlight: Levothyroxine</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The cornerstone of hypothyroidism management — Synthroid® / Levothroid®</a:t>
            </a:r>
            <a:endParaRPr lang="en-US" sz="1400" dirty="0"/>
          </a:p>
        </p:txBody>
      </p:sp>
      <p:sp>
        <p:nvSpPr>
          <p:cNvPr id="5" name="Shape 3"/>
          <p:cNvSpPr/>
          <p:nvPr/>
        </p:nvSpPr>
        <p:spPr>
          <a:xfrm>
            <a:off x="731520" y="1417320"/>
            <a:ext cx="10698480" cy="914400"/>
          </a:xfrm>
          <a:prstGeom prst="rect">
            <a:avLst/>
          </a:prstGeom>
          <a:solidFill>
            <a:srgbClr val="0F4C5C"/>
          </a:solidFill>
          <a:ln w="12700">
            <a:solidFill>
              <a:srgbClr val="0F4C5C"/>
            </a:solidFill>
            <a:prstDash val="solid"/>
          </a:ln>
          <a:effectLst>
            <a:outerShdw sx="100000" sy="100000" kx="0" ky="0" algn="bl" rotWithShape="0" blurRad="127000" dist="25400" dir="5400000">
              <a:srgbClr val="000000">
                <a:alpha val="8000"/>
              </a:srgbClr>
            </a:outerShdw>
          </a:effectLst>
        </p:spPr>
      </p:sp>
      <p:sp>
        <p:nvSpPr>
          <p:cNvPr id="6" name="Text 4"/>
          <p:cNvSpPr/>
          <p:nvPr/>
        </p:nvSpPr>
        <p:spPr>
          <a:xfrm>
            <a:off x="914400" y="1481328"/>
            <a:ext cx="7315200" cy="4114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LEVOTHYROXINE (T4 replacement)</a:t>
            </a:r>
            <a:endParaRPr lang="en-US" sz="2000" dirty="0"/>
          </a:p>
        </p:txBody>
      </p:sp>
      <p:sp>
        <p:nvSpPr>
          <p:cNvPr id="7" name="Text 5"/>
          <p:cNvSpPr/>
          <p:nvPr/>
        </p:nvSpPr>
        <p:spPr>
          <a:xfrm>
            <a:off x="914400" y="1901952"/>
            <a:ext cx="10058400" cy="365760"/>
          </a:xfrm>
          <a:prstGeom prst="rect">
            <a:avLst/>
          </a:prstGeom>
          <a:noFill/>
          <a:ln/>
        </p:spPr>
        <p:txBody>
          <a:bodyPr wrap="square" lIns="0" tIns="0" rIns="0" bIns="0" rtlCol="0" anchor="ctr"/>
          <a:lstStyle/>
          <a:p>
            <a:pPr indent="0" marL="0">
              <a:buNone/>
            </a:pPr>
            <a:r>
              <a:rPr lang="en-US" sz="1300" i="1" dirty="0">
                <a:solidFill>
                  <a:srgbClr val="FAF3E0"/>
                </a:solidFill>
                <a:latin typeface="Calibri" pitchFamily="34" charset="0"/>
                <a:ea typeface="Calibri" pitchFamily="34" charset="-122"/>
                <a:cs typeface="Calibri" pitchFamily="34" charset="-120"/>
              </a:rPr>
              <a:t>Therapeutic class: Thyroid hormone • Synthetic T4</a:t>
            </a:r>
            <a:endParaRPr lang="en-US" sz="1300" dirty="0"/>
          </a:p>
        </p:txBody>
      </p:sp>
      <p:sp>
        <p:nvSpPr>
          <p:cNvPr id="8" name="Shape 6"/>
          <p:cNvSpPr/>
          <p:nvPr/>
        </p:nvSpPr>
        <p:spPr>
          <a:xfrm>
            <a:off x="731520" y="2514600"/>
            <a:ext cx="5257800" cy="18288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9" name="Shape 7"/>
          <p:cNvSpPr/>
          <p:nvPr/>
        </p:nvSpPr>
        <p:spPr>
          <a:xfrm>
            <a:off x="914400" y="2697480"/>
            <a:ext cx="640080" cy="640080"/>
          </a:xfrm>
          <a:prstGeom prst="ellipse">
            <a:avLst/>
          </a:prstGeom>
          <a:solidFill>
            <a:srgbClr val="E0F2FE"/>
          </a:solidFill>
          <a:ln w="12700">
            <a:solidFill>
              <a:srgbClr val="0F4C5C"/>
            </a:solidFill>
            <a:prstDash val="solid"/>
          </a:ln>
        </p:spPr>
      </p:sp>
      <p:pic>
        <p:nvPicPr>
          <p:cNvPr id="10" name="Image 0" descr="preencoded.png">    </p:cNvPr>
          <p:cNvPicPr>
            <a:picLocks noChangeAspect="1"/>
          </p:cNvPicPr>
          <p:nvPr/>
        </p:nvPicPr>
        <p:blipFill>
          <a:blip r:embed="rId1"/>
          <a:stretch>
            <a:fillRect/>
          </a:stretch>
        </p:blipFill>
        <p:spPr>
          <a:xfrm>
            <a:off x="1033272" y="2816352"/>
            <a:ext cx="411480" cy="411480"/>
          </a:xfrm>
          <a:prstGeom prst="rect">
            <a:avLst/>
          </a:prstGeom>
        </p:spPr>
      </p:pic>
      <p:sp>
        <p:nvSpPr>
          <p:cNvPr id="11" name="Text 8"/>
          <p:cNvSpPr/>
          <p:nvPr/>
        </p:nvSpPr>
        <p:spPr>
          <a:xfrm>
            <a:off x="1691640" y="2697480"/>
            <a:ext cx="4114800" cy="45720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Indication</a:t>
            </a:r>
            <a:endParaRPr lang="en-US" sz="1400" dirty="0"/>
          </a:p>
        </p:txBody>
      </p:sp>
      <p:sp>
        <p:nvSpPr>
          <p:cNvPr id="12" name="Text 9"/>
          <p:cNvSpPr/>
          <p:nvPr/>
        </p:nvSpPr>
        <p:spPr>
          <a:xfrm>
            <a:off x="960120" y="3383280"/>
            <a:ext cx="4846320" cy="9144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Hypothyroidism (Hashimoto's, post-thyroidectomy, myxedema coma), thyroid hormone suppression after thyroid cancer, congenital hypothyroidism.</a:t>
            </a:r>
            <a:endParaRPr lang="en-US" sz="1150" dirty="0"/>
          </a:p>
        </p:txBody>
      </p:sp>
      <p:sp>
        <p:nvSpPr>
          <p:cNvPr id="13" name="Shape 10"/>
          <p:cNvSpPr/>
          <p:nvPr/>
        </p:nvSpPr>
        <p:spPr>
          <a:xfrm>
            <a:off x="6172200" y="2514600"/>
            <a:ext cx="5257800" cy="18288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4" name="Shape 11"/>
          <p:cNvSpPr/>
          <p:nvPr/>
        </p:nvSpPr>
        <p:spPr>
          <a:xfrm>
            <a:off x="6355080" y="2697480"/>
            <a:ext cx="640080" cy="640080"/>
          </a:xfrm>
          <a:prstGeom prst="ellipse">
            <a:avLst/>
          </a:prstGeom>
          <a:solidFill>
            <a:srgbClr val="E0F2FE"/>
          </a:solidFill>
          <a:ln w="12700">
            <a:solidFill>
              <a:srgbClr val="0F4C5C"/>
            </a:solidFill>
            <a:prstDash val="solid"/>
          </a:ln>
        </p:spPr>
      </p:sp>
      <p:pic>
        <p:nvPicPr>
          <p:cNvPr id="15" name="Image 1" descr="preencoded.png">    </p:cNvPr>
          <p:cNvPicPr>
            <a:picLocks noChangeAspect="1"/>
          </p:cNvPicPr>
          <p:nvPr/>
        </p:nvPicPr>
        <p:blipFill>
          <a:blip r:embed="rId2"/>
          <a:stretch>
            <a:fillRect/>
          </a:stretch>
        </p:blipFill>
        <p:spPr>
          <a:xfrm>
            <a:off x="6473952" y="2816352"/>
            <a:ext cx="411480" cy="411480"/>
          </a:xfrm>
          <a:prstGeom prst="rect">
            <a:avLst/>
          </a:prstGeom>
        </p:spPr>
      </p:pic>
      <p:sp>
        <p:nvSpPr>
          <p:cNvPr id="16" name="Text 12"/>
          <p:cNvSpPr/>
          <p:nvPr/>
        </p:nvSpPr>
        <p:spPr>
          <a:xfrm>
            <a:off x="7132320" y="2697480"/>
            <a:ext cx="4114800" cy="45720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Action</a:t>
            </a:r>
            <a:endParaRPr lang="en-US" sz="1400" dirty="0"/>
          </a:p>
        </p:txBody>
      </p:sp>
      <p:sp>
        <p:nvSpPr>
          <p:cNvPr id="17" name="Text 13"/>
          <p:cNvSpPr/>
          <p:nvPr/>
        </p:nvSpPr>
        <p:spPr>
          <a:xfrm>
            <a:off x="6400800" y="3383280"/>
            <a:ext cx="4846320" cy="9144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Synthetic thyroxine (T4) that converts to T3 in tissues. Replaces the hormone that the thyroid is not producing — restores normal metabolism.</a:t>
            </a:r>
            <a:endParaRPr lang="en-US" sz="1150" dirty="0"/>
          </a:p>
        </p:txBody>
      </p:sp>
      <p:sp>
        <p:nvSpPr>
          <p:cNvPr id="18" name="Shape 14"/>
          <p:cNvSpPr/>
          <p:nvPr/>
        </p:nvSpPr>
        <p:spPr>
          <a:xfrm>
            <a:off x="731520" y="4480560"/>
            <a:ext cx="5257800" cy="18288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9" name="Shape 15"/>
          <p:cNvSpPr/>
          <p:nvPr/>
        </p:nvSpPr>
        <p:spPr>
          <a:xfrm>
            <a:off x="914400" y="4663440"/>
            <a:ext cx="640080" cy="640080"/>
          </a:xfrm>
          <a:prstGeom prst="ellipse">
            <a:avLst/>
          </a:prstGeom>
          <a:solidFill>
            <a:srgbClr val="E0F2FE"/>
          </a:solidFill>
          <a:ln w="12700">
            <a:solidFill>
              <a:srgbClr val="0F4C5C"/>
            </a:solidFill>
            <a:prstDash val="solid"/>
          </a:ln>
        </p:spPr>
      </p:sp>
      <p:pic>
        <p:nvPicPr>
          <p:cNvPr id="20" name="Image 2" descr="preencoded.png">    </p:cNvPr>
          <p:cNvPicPr>
            <a:picLocks noChangeAspect="1"/>
          </p:cNvPicPr>
          <p:nvPr/>
        </p:nvPicPr>
        <p:blipFill>
          <a:blip r:embed="rId3"/>
          <a:stretch>
            <a:fillRect/>
          </a:stretch>
        </p:blipFill>
        <p:spPr>
          <a:xfrm>
            <a:off x="1033272" y="4782312"/>
            <a:ext cx="411480" cy="411480"/>
          </a:xfrm>
          <a:prstGeom prst="rect">
            <a:avLst/>
          </a:prstGeom>
        </p:spPr>
      </p:pic>
      <p:sp>
        <p:nvSpPr>
          <p:cNvPr id="21" name="Text 16"/>
          <p:cNvSpPr/>
          <p:nvPr/>
        </p:nvSpPr>
        <p:spPr>
          <a:xfrm>
            <a:off x="1691640" y="4663440"/>
            <a:ext cx="4114800" cy="45720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Nursing / Client Teaching</a:t>
            </a:r>
            <a:endParaRPr lang="en-US" sz="1400" dirty="0"/>
          </a:p>
        </p:txBody>
      </p:sp>
      <p:sp>
        <p:nvSpPr>
          <p:cNvPr id="22" name="Text 17"/>
          <p:cNvSpPr/>
          <p:nvPr/>
        </p:nvSpPr>
        <p:spPr>
          <a:xfrm>
            <a:off x="960120" y="5349240"/>
            <a:ext cx="4846320" cy="9144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Take on EMPTY STOMACH (30–60 min before breakfast). Take at the SAME TIME each day. LIFELONG therapy. Do not stop abruptly.</a:t>
            </a:r>
            <a:endParaRPr lang="en-US" sz="1150" dirty="0"/>
          </a:p>
        </p:txBody>
      </p:sp>
      <p:sp>
        <p:nvSpPr>
          <p:cNvPr id="23" name="Shape 18"/>
          <p:cNvSpPr/>
          <p:nvPr/>
        </p:nvSpPr>
        <p:spPr>
          <a:xfrm>
            <a:off x="6172200" y="4480560"/>
            <a:ext cx="5257800" cy="18288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4" name="Shape 19"/>
          <p:cNvSpPr/>
          <p:nvPr/>
        </p:nvSpPr>
        <p:spPr>
          <a:xfrm>
            <a:off x="6355080" y="4663440"/>
            <a:ext cx="640080" cy="640080"/>
          </a:xfrm>
          <a:prstGeom prst="ellipse">
            <a:avLst/>
          </a:prstGeom>
          <a:solidFill>
            <a:srgbClr val="E0F2FE"/>
          </a:solidFill>
          <a:ln w="12700">
            <a:solidFill>
              <a:srgbClr val="0F4C5C"/>
            </a:solidFill>
            <a:prstDash val="solid"/>
          </a:ln>
        </p:spPr>
      </p:sp>
      <p:pic>
        <p:nvPicPr>
          <p:cNvPr id="25" name="Image 3" descr="preencoded.png">    </p:cNvPr>
          <p:cNvPicPr>
            <a:picLocks noChangeAspect="1"/>
          </p:cNvPicPr>
          <p:nvPr/>
        </p:nvPicPr>
        <p:blipFill>
          <a:blip r:embed="rId4"/>
          <a:stretch>
            <a:fillRect/>
          </a:stretch>
        </p:blipFill>
        <p:spPr>
          <a:xfrm>
            <a:off x="6473952" y="4782312"/>
            <a:ext cx="411480" cy="411480"/>
          </a:xfrm>
          <a:prstGeom prst="rect">
            <a:avLst/>
          </a:prstGeom>
        </p:spPr>
      </p:pic>
      <p:sp>
        <p:nvSpPr>
          <p:cNvPr id="26" name="Text 20"/>
          <p:cNvSpPr/>
          <p:nvPr/>
        </p:nvSpPr>
        <p:spPr>
          <a:xfrm>
            <a:off x="7132320" y="4663440"/>
            <a:ext cx="4114800" cy="457200"/>
          </a:xfrm>
          <a:prstGeom prst="rect">
            <a:avLst/>
          </a:prstGeom>
          <a:noFill/>
          <a:ln/>
        </p:spPr>
        <p:txBody>
          <a:bodyPr wrap="square" lIns="0" tIns="0" rIns="0" bIns="0" rtlCol="0" anchor="ctr"/>
          <a:lstStyle/>
          <a:p>
            <a:pPr indent="0" marL="0">
              <a:buNone/>
            </a:pPr>
            <a:r>
              <a:rPr lang="en-US" sz="1400" b="1" dirty="0">
                <a:solidFill>
                  <a:srgbClr val="0F4C5C"/>
                </a:solidFill>
                <a:latin typeface="Georgia" pitchFamily="34" charset="0"/>
                <a:ea typeface="Georgia" pitchFamily="34" charset="-122"/>
                <a:cs typeface="Georgia" pitchFamily="34" charset="-120"/>
              </a:rPr>
              <a:t>Adverse Effects &amp; Monitoring</a:t>
            </a:r>
            <a:endParaRPr lang="en-US" sz="1400" dirty="0"/>
          </a:p>
        </p:txBody>
      </p:sp>
      <p:sp>
        <p:nvSpPr>
          <p:cNvPr id="27" name="Text 21"/>
          <p:cNvSpPr/>
          <p:nvPr/>
        </p:nvSpPr>
        <p:spPr>
          <a:xfrm>
            <a:off x="6400800" y="5349240"/>
            <a:ext cx="4846320" cy="9144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Signs of hyperthyroidism: tachycardia, insomnia, weight loss, tremors, chest pain. Monitor TSH (goal 0.4–4.0). Cardiac patients: start at LOW dose.</a:t>
            </a:r>
            <a:endParaRPr lang="en-US" sz="1150" dirty="0"/>
          </a:p>
        </p:txBody>
      </p:sp>
      <p:sp>
        <p:nvSpPr>
          <p:cNvPr id="28" name="Shape 22"/>
          <p:cNvSpPr/>
          <p:nvPr/>
        </p:nvSpPr>
        <p:spPr>
          <a:xfrm>
            <a:off x="731520" y="6446520"/>
            <a:ext cx="10698480" cy="320040"/>
          </a:xfrm>
          <a:prstGeom prst="roundRect">
            <a:avLst>
              <a:gd name="adj" fmla="val 14286"/>
            </a:avLst>
          </a:prstGeom>
          <a:solidFill>
            <a:srgbClr val="FEF3C7"/>
          </a:solidFill>
          <a:ln w="12700">
            <a:solidFill>
              <a:srgbClr val="E36414"/>
            </a:solidFill>
            <a:prstDash val="solid"/>
          </a:ln>
        </p:spPr>
      </p:sp>
      <p:sp>
        <p:nvSpPr>
          <p:cNvPr id="29" name="Text 23"/>
          <p:cNvSpPr/>
          <p:nvPr/>
        </p:nvSpPr>
        <p:spPr>
          <a:xfrm>
            <a:off x="914400" y="6446520"/>
            <a:ext cx="10515600" cy="320040"/>
          </a:xfrm>
          <a:prstGeom prst="rect">
            <a:avLst/>
          </a:prstGeom>
          <a:noFill/>
          <a:ln/>
        </p:spPr>
        <p:txBody>
          <a:bodyPr wrap="square" lIns="0" tIns="0" rIns="0" bIns="0" rtlCol="0" anchor="ctr"/>
          <a:lstStyle/>
          <a:p>
            <a:pPr indent="0" marL="0">
              <a:buNone/>
            </a:pPr>
            <a:r>
              <a:rPr lang="en-US" sz="1100" b="1" i="1" dirty="0">
                <a:solidFill>
                  <a:srgbClr val="1E293B"/>
                </a:solidFill>
                <a:latin typeface="Calibri" pitchFamily="34" charset="0"/>
                <a:ea typeface="Calibri" pitchFamily="34" charset="-122"/>
                <a:cs typeface="Calibri" pitchFamily="34" charset="-120"/>
              </a:rPr>
              <a:t>★ Avoid food, calcium, iron, antacids, and soy within 4 hours — they decrease levothyroxine absorption.</a:t>
            </a:r>
            <a:endParaRPr lang="en-US" sz="1100" dirty="0"/>
          </a:p>
        </p:txBody>
      </p:sp>
      <p:sp>
        <p:nvSpPr>
          <p:cNvPr id="30" name="Text 24"/>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1" name="Text 25"/>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Hyperthyroidism / Graves' Disease</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Too much thyroid hormone — everything SPEEDS up</a:t>
            </a:r>
            <a:endParaRPr lang="en-US" sz="1400" dirty="0"/>
          </a:p>
        </p:txBody>
      </p:sp>
      <p:sp>
        <p:nvSpPr>
          <p:cNvPr id="5" name="Shape 3"/>
          <p:cNvSpPr/>
          <p:nvPr/>
        </p:nvSpPr>
        <p:spPr>
          <a:xfrm>
            <a:off x="731520" y="1554480"/>
            <a:ext cx="5349240" cy="45720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554480"/>
            <a:ext cx="5349240" cy="73152"/>
          </a:xfrm>
          <a:prstGeom prst="rect">
            <a:avLst/>
          </a:prstGeom>
          <a:solidFill>
            <a:srgbClr val="DC2626"/>
          </a:solidFill>
          <a:ln w="12700">
            <a:solidFill>
              <a:srgbClr val="DC2626"/>
            </a:solidFill>
            <a:prstDash val="solid"/>
          </a:ln>
        </p:spPr>
      </p:sp>
      <p:pic>
        <p:nvPicPr>
          <p:cNvPr id="7" name="Image 0" descr="preencoded.png">    </p:cNvPr>
          <p:cNvPicPr>
            <a:picLocks noChangeAspect="1"/>
          </p:cNvPicPr>
          <p:nvPr/>
        </p:nvPicPr>
        <p:blipFill>
          <a:blip r:embed="rId1"/>
          <a:stretch>
            <a:fillRect/>
          </a:stretch>
        </p:blipFill>
        <p:spPr>
          <a:xfrm>
            <a:off x="914400" y="1737360"/>
            <a:ext cx="365760" cy="365760"/>
          </a:xfrm>
          <a:prstGeom prst="rect">
            <a:avLst/>
          </a:prstGeom>
        </p:spPr>
      </p:pic>
      <p:sp>
        <p:nvSpPr>
          <p:cNvPr id="8" name="Text 5"/>
          <p:cNvSpPr/>
          <p:nvPr/>
        </p:nvSpPr>
        <p:spPr>
          <a:xfrm>
            <a:off x="1371600" y="1719072"/>
            <a:ext cx="4572000" cy="411480"/>
          </a:xfrm>
          <a:prstGeom prst="rect">
            <a:avLst/>
          </a:prstGeom>
          <a:noFill/>
          <a:ln/>
        </p:spPr>
        <p:txBody>
          <a:bodyPr wrap="square" lIns="0" tIns="0" rIns="0" bIns="0" rtlCol="0" anchor="ctr"/>
          <a:lstStyle/>
          <a:p>
            <a:pPr indent="0" marL="0">
              <a:buNone/>
            </a:pPr>
            <a:r>
              <a:rPr lang="en-US" sz="1700" b="1" dirty="0">
                <a:solidFill>
                  <a:srgbClr val="0F4C5C"/>
                </a:solidFill>
                <a:latin typeface="Georgia" pitchFamily="34" charset="0"/>
                <a:ea typeface="Georgia" pitchFamily="34" charset="-122"/>
                <a:cs typeface="Georgia" pitchFamily="34" charset="-120"/>
              </a:rPr>
              <a:t>Pathophysiology</a:t>
            </a:r>
            <a:endParaRPr lang="en-US" sz="1700" dirty="0"/>
          </a:p>
        </p:txBody>
      </p:sp>
      <p:sp>
        <p:nvSpPr>
          <p:cNvPr id="9" name="Text 6"/>
          <p:cNvSpPr/>
          <p:nvPr/>
        </p:nvSpPr>
        <p:spPr>
          <a:xfrm>
            <a:off x="914400" y="2286000"/>
            <a:ext cx="5029200" cy="3657600"/>
          </a:xfrm>
          <a:prstGeom prst="rect">
            <a:avLst/>
          </a:prstGeom>
          <a:noFill/>
          <a:ln/>
        </p:spPr>
        <p:txBody>
          <a:bodyPr wrap="square" rtlCol="0" anchor="ctr"/>
          <a:lstStyle/>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Thyrotoxicosis — excess thyroid hormone</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Graves' disease — most common cause</a:t>
            </a:r>
            <a:endParaRPr lang="en-US" sz="1200" dirty="0"/>
          </a:p>
          <a:p>
            <a:pPr lvl="1" marL="6858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Autoimmune: antibodies stimulate TSH receptors</a:t>
            </a:r>
            <a:endParaRPr lang="en-US" sz="1200" dirty="0"/>
          </a:p>
          <a:p>
            <a:pPr marL="342900" indent="-342900">
              <a:spcAft>
                <a:spcPts val="500"/>
              </a:spcAft>
              <a:buSzPct val="100000"/>
              <a:buChar char="•"/>
            </a:pPr>
            <a:r>
              <a:rPr lang="en-US" sz="1200" dirty="0">
                <a:solidFill>
                  <a:srgbClr val="1E293B"/>
                </a:solidFill>
                <a:latin typeface="Calibri" pitchFamily="34" charset="0"/>
                <a:ea typeface="Calibri" pitchFamily="34" charset="-122"/>
                <a:cs typeface="Calibri" pitchFamily="34" charset="-120"/>
              </a:rPr>
              <a:t>Negative feedback loop broken</a:t>
            </a:r>
            <a:endParaRPr lang="en-US" sz="1200" dirty="0"/>
          </a:p>
          <a:p>
            <a:pPr indent="0" marL="0">
              <a:spcAft>
                <a:spcPts val="500"/>
              </a:spcAft>
              <a:buNone/>
            </a:pPr>
            <a:endParaRPr lang="en-US" sz="1200" dirty="0"/>
          </a:p>
          <a:p>
            <a:pPr indent="0" marL="0">
              <a:spcAft>
                <a:spcPts val="500"/>
              </a:spcAft>
              <a:buNone/>
            </a:pPr>
            <a:r>
              <a:rPr lang="en-US" sz="1200" b="1" dirty="0">
                <a:solidFill>
                  <a:srgbClr val="0F4C5C"/>
                </a:solidFill>
                <a:latin typeface="Calibri" pitchFamily="34" charset="0"/>
                <a:ea typeface="Calibri" pitchFamily="34" charset="-122"/>
                <a:cs typeface="Calibri" pitchFamily="34" charset="-120"/>
              </a:rPr>
              <a:t>LAB FINDINGS:</a:t>
            </a:r>
            <a:endParaRPr lang="en-US" sz="1200" dirty="0"/>
          </a:p>
          <a:p>
            <a:pPr marL="342900" indent="-342900">
              <a:spcAft>
                <a:spcPts val="500"/>
              </a:spcAft>
              <a:buSzPct val="100000"/>
              <a:buChar char="•"/>
            </a:pPr>
            <a:r>
              <a:rPr lang="en-US" sz="1200" b="1" dirty="0">
                <a:solidFill>
                  <a:srgbClr val="DC2626"/>
                </a:solidFill>
                <a:latin typeface="Calibri" pitchFamily="34" charset="0"/>
                <a:ea typeface="Calibri" pitchFamily="34" charset="-122"/>
                <a:cs typeface="Calibri" pitchFamily="34" charset="-120"/>
              </a:rPr>
              <a:t>↓ TSH   +   ↑ T4  (primary hyperthyroidism)</a:t>
            </a:r>
            <a:endParaRPr lang="en-US" sz="1200" dirty="0"/>
          </a:p>
        </p:txBody>
      </p:sp>
      <p:sp>
        <p:nvSpPr>
          <p:cNvPr id="10" name="Shape 7"/>
          <p:cNvSpPr/>
          <p:nvPr/>
        </p:nvSpPr>
        <p:spPr>
          <a:xfrm>
            <a:off x="6355080" y="1554480"/>
            <a:ext cx="5074920" cy="4572000"/>
          </a:xfrm>
          <a:prstGeom prst="rect">
            <a:avLst/>
          </a:prstGeom>
          <a:solidFill>
            <a:srgbClr val="FEF3C7"/>
          </a:solidFill>
          <a:ln w="12700">
            <a:solidFill>
              <a:srgbClr val="E36414"/>
            </a:solidFill>
            <a:prstDash val="solid"/>
          </a:ln>
          <a:effectLst>
            <a:outerShdw sx="100000" sy="100000" kx="0" ky="0" algn="bl" rotWithShape="0" blurRad="127000" dist="25400" dir="5400000">
              <a:srgbClr val="000000">
                <a:alpha val="8000"/>
              </a:srgbClr>
            </a:outerShdw>
          </a:effectLst>
        </p:spPr>
      </p:sp>
      <p:sp>
        <p:nvSpPr>
          <p:cNvPr id="11" name="Text 8"/>
          <p:cNvSpPr/>
          <p:nvPr/>
        </p:nvSpPr>
        <p:spPr>
          <a:xfrm>
            <a:off x="6537960" y="1737360"/>
            <a:ext cx="4754880" cy="411480"/>
          </a:xfrm>
          <a:prstGeom prst="rect">
            <a:avLst/>
          </a:prstGeom>
          <a:noFill/>
          <a:ln/>
        </p:spPr>
        <p:txBody>
          <a:bodyPr wrap="square" lIns="0" tIns="0" rIns="0" bIns="0" rtlCol="0" anchor="ctr"/>
          <a:lstStyle/>
          <a:p>
            <a:pPr algn="ctr" indent="0" marL="0">
              <a:buNone/>
            </a:pPr>
            <a:r>
              <a:rPr lang="en-US" sz="1600" b="1" dirty="0">
                <a:solidFill>
                  <a:srgbClr val="E36414"/>
                </a:solidFill>
                <a:latin typeface="Georgia" pitchFamily="34" charset="0"/>
                <a:ea typeface="Georgia" pitchFamily="34" charset="-122"/>
                <a:cs typeface="Georgia" pitchFamily="34" charset="-120"/>
              </a:rPr>
              <a:t>Lab Picture</a:t>
            </a:r>
            <a:endParaRPr lang="en-US" sz="1600" dirty="0"/>
          </a:p>
        </p:txBody>
      </p:sp>
      <p:sp>
        <p:nvSpPr>
          <p:cNvPr id="12" name="Shape 9"/>
          <p:cNvSpPr/>
          <p:nvPr/>
        </p:nvSpPr>
        <p:spPr>
          <a:xfrm>
            <a:off x="6583680" y="2377440"/>
            <a:ext cx="2286000" cy="2103120"/>
          </a:xfrm>
          <a:prstGeom prst="roundRect">
            <a:avLst>
              <a:gd name="adj" fmla="val 6522"/>
            </a:avLst>
          </a:prstGeom>
          <a:solidFill>
            <a:srgbClr val="FEE2E2"/>
          </a:solidFill>
          <a:ln w="25400">
            <a:solidFill>
              <a:srgbClr val="DC2626"/>
            </a:solidFill>
            <a:prstDash val="solid"/>
          </a:ln>
        </p:spPr>
      </p:sp>
      <p:sp>
        <p:nvSpPr>
          <p:cNvPr id="13" name="Text 10"/>
          <p:cNvSpPr/>
          <p:nvPr/>
        </p:nvSpPr>
        <p:spPr>
          <a:xfrm>
            <a:off x="6583680" y="2514600"/>
            <a:ext cx="2286000" cy="457200"/>
          </a:xfrm>
          <a:prstGeom prst="rect">
            <a:avLst/>
          </a:prstGeom>
          <a:noFill/>
          <a:ln/>
        </p:spPr>
        <p:txBody>
          <a:bodyPr wrap="square" lIns="0" tIns="0" rIns="0" bIns="0" rtlCol="0" anchor="ctr"/>
          <a:lstStyle/>
          <a:p>
            <a:pPr algn="ctr" indent="0" marL="0">
              <a:buNone/>
            </a:pPr>
            <a:r>
              <a:rPr lang="en-US" sz="2000" b="1" dirty="0">
                <a:solidFill>
                  <a:srgbClr val="DC2626"/>
                </a:solidFill>
                <a:latin typeface="Georgia" pitchFamily="34" charset="0"/>
                <a:ea typeface="Georgia" pitchFamily="34" charset="-122"/>
                <a:cs typeface="Georgia" pitchFamily="34" charset="-120"/>
              </a:rPr>
              <a:t>TSH</a:t>
            </a:r>
            <a:endParaRPr lang="en-US" sz="2000" dirty="0"/>
          </a:p>
        </p:txBody>
      </p:sp>
      <p:sp>
        <p:nvSpPr>
          <p:cNvPr id="14" name="Text 11"/>
          <p:cNvSpPr/>
          <p:nvPr/>
        </p:nvSpPr>
        <p:spPr>
          <a:xfrm>
            <a:off x="6583680" y="2926080"/>
            <a:ext cx="2286000" cy="914400"/>
          </a:xfrm>
          <a:prstGeom prst="rect">
            <a:avLst/>
          </a:prstGeom>
          <a:noFill/>
          <a:ln/>
        </p:spPr>
        <p:txBody>
          <a:bodyPr wrap="square" lIns="0" tIns="0" rIns="0" bIns="0" rtlCol="0" anchor="ctr"/>
          <a:lstStyle/>
          <a:p>
            <a:pPr algn="ctr" indent="0" marL="0">
              <a:buNone/>
            </a:pPr>
            <a:r>
              <a:rPr lang="en-US" sz="6000" b="1" dirty="0">
                <a:solidFill>
                  <a:srgbClr val="DC2626"/>
                </a:solidFill>
                <a:latin typeface="Georgia" pitchFamily="34" charset="0"/>
                <a:ea typeface="Georgia" pitchFamily="34" charset="-122"/>
                <a:cs typeface="Georgia" pitchFamily="34" charset="-120"/>
              </a:rPr>
              <a:t>↓</a:t>
            </a:r>
            <a:endParaRPr lang="en-US" sz="6000" dirty="0"/>
          </a:p>
        </p:txBody>
      </p:sp>
      <p:sp>
        <p:nvSpPr>
          <p:cNvPr id="15" name="Text 12"/>
          <p:cNvSpPr/>
          <p:nvPr/>
        </p:nvSpPr>
        <p:spPr>
          <a:xfrm>
            <a:off x="6583680" y="3931920"/>
            <a:ext cx="2286000" cy="45720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LOW</a:t>
            </a:r>
            <a:endParaRPr lang="en-US" sz="1600" dirty="0"/>
          </a:p>
        </p:txBody>
      </p:sp>
      <p:sp>
        <p:nvSpPr>
          <p:cNvPr id="16" name="Shape 13"/>
          <p:cNvSpPr/>
          <p:nvPr/>
        </p:nvSpPr>
        <p:spPr>
          <a:xfrm>
            <a:off x="9052560" y="2377440"/>
            <a:ext cx="2286000" cy="2103120"/>
          </a:xfrm>
          <a:prstGeom prst="roundRect">
            <a:avLst>
              <a:gd name="adj" fmla="val 6522"/>
            </a:avLst>
          </a:prstGeom>
          <a:solidFill>
            <a:srgbClr val="FEE2E2"/>
          </a:solidFill>
          <a:ln w="25400">
            <a:solidFill>
              <a:srgbClr val="DC2626"/>
            </a:solidFill>
            <a:prstDash val="solid"/>
          </a:ln>
        </p:spPr>
      </p:sp>
      <p:sp>
        <p:nvSpPr>
          <p:cNvPr id="17" name="Text 14"/>
          <p:cNvSpPr/>
          <p:nvPr/>
        </p:nvSpPr>
        <p:spPr>
          <a:xfrm>
            <a:off x="9052560" y="2514600"/>
            <a:ext cx="2286000" cy="457200"/>
          </a:xfrm>
          <a:prstGeom prst="rect">
            <a:avLst/>
          </a:prstGeom>
          <a:noFill/>
          <a:ln/>
        </p:spPr>
        <p:txBody>
          <a:bodyPr wrap="square" lIns="0" tIns="0" rIns="0" bIns="0" rtlCol="0" anchor="ctr"/>
          <a:lstStyle/>
          <a:p>
            <a:pPr algn="ctr" indent="0" marL="0">
              <a:buNone/>
            </a:pPr>
            <a:r>
              <a:rPr lang="en-US" sz="2000" b="1" dirty="0">
                <a:solidFill>
                  <a:srgbClr val="DC2626"/>
                </a:solidFill>
                <a:latin typeface="Georgia" pitchFamily="34" charset="0"/>
                <a:ea typeface="Georgia" pitchFamily="34" charset="-122"/>
                <a:cs typeface="Georgia" pitchFamily="34" charset="-120"/>
              </a:rPr>
              <a:t>T4</a:t>
            </a:r>
            <a:endParaRPr lang="en-US" sz="2000" dirty="0"/>
          </a:p>
        </p:txBody>
      </p:sp>
      <p:sp>
        <p:nvSpPr>
          <p:cNvPr id="18" name="Text 15"/>
          <p:cNvSpPr/>
          <p:nvPr/>
        </p:nvSpPr>
        <p:spPr>
          <a:xfrm>
            <a:off x="9052560" y="2926080"/>
            <a:ext cx="2286000" cy="914400"/>
          </a:xfrm>
          <a:prstGeom prst="rect">
            <a:avLst/>
          </a:prstGeom>
          <a:noFill/>
          <a:ln/>
        </p:spPr>
        <p:txBody>
          <a:bodyPr wrap="square" lIns="0" tIns="0" rIns="0" bIns="0" rtlCol="0" anchor="ctr"/>
          <a:lstStyle/>
          <a:p>
            <a:pPr algn="ctr" indent="0" marL="0">
              <a:buNone/>
            </a:pPr>
            <a:r>
              <a:rPr lang="en-US" sz="6000" b="1" dirty="0">
                <a:solidFill>
                  <a:srgbClr val="DC2626"/>
                </a:solidFill>
                <a:latin typeface="Georgia" pitchFamily="34" charset="0"/>
                <a:ea typeface="Georgia" pitchFamily="34" charset="-122"/>
                <a:cs typeface="Georgia" pitchFamily="34" charset="-120"/>
              </a:rPr>
              <a:t>↑</a:t>
            </a:r>
            <a:endParaRPr lang="en-US" sz="6000" dirty="0"/>
          </a:p>
        </p:txBody>
      </p:sp>
      <p:sp>
        <p:nvSpPr>
          <p:cNvPr id="19" name="Text 16"/>
          <p:cNvSpPr/>
          <p:nvPr/>
        </p:nvSpPr>
        <p:spPr>
          <a:xfrm>
            <a:off x="9052560" y="3931920"/>
            <a:ext cx="2286000" cy="45720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HIGH</a:t>
            </a:r>
            <a:endParaRPr lang="en-US" sz="1600" dirty="0"/>
          </a:p>
        </p:txBody>
      </p:sp>
      <p:sp>
        <p:nvSpPr>
          <p:cNvPr id="20" name="Text 17"/>
          <p:cNvSpPr/>
          <p:nvPr/>
        </p:nvSpPr>
        <p:spPr>
          <a:xfrm>
            <a:off x="6492240" y="4754880"/>
            <a:ext cx="4846320" cy="1371600"/>
          </a:xfrm>
          <a:prstGeom prst="rect">
            <a:avLst/>
          </a:prstGeom>
          <a:noFill/>
          <a:ln/>
        </p:spPr>
        <p:txBody>
          <a:bodyPr wrap="square" lIns="0" tIns="0" rIns="0" bIns="0" rtlCol="0" anchor="ctr"/>
          <a:lstStyle/>
          <a:p>
            <a:pPr algn="ctr" indent="0" marL="0">
              <a:buNone/>
            </a:pPr>
            <a:r>
              <a:rPr lang="en-US" sz="1200" b="1" i="1" dirty="0">
                <a:solidFill>
                  <a:srgbClr val="DC2626"/>
                </a:solidFill>
                <a:latin typeface="Calibri" pitchFamily="34" charset="0"/>
                <a:ea typeface="Calibri" pitchFamily="34" charset="-122"/>
                <a:cs typeface="Calibri" pitchFamily="34" charset="-120"/>
              </a:rPr>
              <a:t>Thyroid storm = life-threatening</a:t>
            </a:r>
            <a:endParaRPr lang="en-US" sz="1200" dirty="0"/>
          </a:p>
          <a:p>
            <a:pPr algn="ctr" indent="0" marL="0">
              <a:buNone/>
            </a:pPr>
            <a:r>
              <a:rPr lang="en-US" sz="1200" b="1" i="1" dirty="0">
                <a:solidFill>
                  <a:srgbClr val="DC2626"/>
                </a:solidFill>
                <a:latin typeface="Calibri" pitchFamily="34" charset="0"/>
                <a:ea typeface="Calibri" pitchFamily="34" charset="-122"/>
                <a:cs typeface="Calibri" pitchFamily="34" charset="-120"/>
              </a:rPr>
              <a:t>thyrotoxic crisis (next slide)</a:t>
            </a:r>
            <a:endParaRPr lang="en-US" sz="1200" dirty="0"/>
          </a:p>
        </p:txBody>
      </p:sp>
      <p:sp>
        <p:nvSpPr>
          <p:cNvPr id="21" name="Text 18"/>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22" name="Text 19"/>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Hyperthyroidism — Signs &amp; Symptoms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Opposite of hypothyroidism — everything accelerates</a:t>
            </a:r>
            <a:endParaRPr lang="en-US" sz="1400" dirty="0"/>
          </a:p>
        </p:txBody>
      </p:sp>
      <p:sp>
        <p:nvSpPr>
          <p:cNvPr id="5" name="Shape 3"/>
          <p:cNvSpPr/>
          <p:nvPr/>
        </p:nvSpPr>
        <p:spPr>
          <a:xfrm>
            <a:off x="731520"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1666837" y="1645920"/>
            <a:ext cx="640080" cy="640080"/>
          </a:xfrm>
          <a:prstGeom prst="ellipse">
            <a:avLst/>
          </a:prstGeom>
          <a:solidFill>
            <a:srgbClr val="FEF3C7"/>
          </a:solidFill>
          <a:ln w="12700">
            <a:solidFill>
              <a:srgbClr val="E36414"/>
            </a:solidFill>
            <a:prstDash val="solid"/>
          </a:ln>
        </p:spPr>
      </p:sp>
      <p:pic>
        <p:nvPicPr>
          <p:cNvPr id="7" name="Image 0" descr="preencoded.png">    </p:cNvPr>
          <p:cNvPicPr>
            <a:picLocks noChangeAspect="1"/>
          </p:cNvPicPr>
          <p:nvPr/>
        </p:nvPicPr>
        <p:blipFill>
          <a:blip r:embed="rId1"/>
          <a:stretch>
            <a:fillRect/>
          </a:stretch>
        </p:blipFill>
        <p:spPr>
          <a:xfrm>
            <a:off x="1785709" y="1764792"/>
            <a:ext cx="411480" cy="411480"/>
          </a:xfrm>
          <a:prstGeom prst="rect">
            <a:avLst/>
          </a:prstGeom>
        </p:spPr>
      </p:pic>
      <p:sp>
        <p:nvSpPr>
          <p:cNvPr id="8" name="Text 5"/>
          <p:cNvSpPr/>
          <p:nvPr/>
        </p:nvSpPr>
        <p:spPr>
          <a:xfrm>
            <a:off x="822960" y="233172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Heat Intolerance</a:t>
            </a:r>
            <a:endParaRPr lang="en-US" sz="1300" dirty="0"/>
          </a:p>
        </p:txBody>
      </p:sp>
      <p:sp>
        <p:nvSpPr>
          <p:cNvPr id="9" name="Text 6"/>
          <p:cNvSpPr/>
          <p:nvPr/>
        </p:nvSpPr>
        <p:spPr>
          <a:xfrm>
            <a:off x="868680"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Sweating, always hot; warm, moist skin.</a:t>
            </a:r>
            <a:endParaRPr lang="en-US" sz="1050" dirty="0"/>
          </a:p>
        </p:txBody>
      </p:sp>
      <p:sp>
        <p:nvSpPr>
          <p:cNvPr id="10" name="Shape 7"/>
          <p:cNvSpPr/>
          <p:nvPr/>
        </p:nvSpPr>
        <p:spPr>
          <a:xfrm>
            <a:off x="3470834"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1" name="Shape 8"/>
          <p:cNvSpPr/>
          <p:nvPr/>
        </p:nvSpPr>
        <p:spPr>
          <a:xfrm>
            <a:off x="4406151" y="1645920"/>
            <a:ext cx="640080" cy="640080"/>
          </a:xfrm>
          <a:prstGeom prst="ellipse">
            <a:avLst/>
          </a:prstGeom>
          <a:solidFill>
            <a:srgbClr val="FEF3C7"/>
          </a:solidFill>
          <a:ln w="12700">
            <a:solidFill>
              <a:srgbClr val="E36414"/>
            </a:solidFill>
            <a:prstDash val="solid"/>
          </a:ln>
        </p:spPr>
      </p:sp>
      <p:pic>
        <p:nvPicPr>
          <p:cNvPr id="12" name="Image 1" descr="preencoded.png">    </p:cNvPr>
          <p:cNvPicPr>
            <a:picLocks noChangeAspect="1"/>
          </p:cNvPicPr>
          <p:nvPr/>
        </p:nvPicPr>
        <p:blipFill>
          <a:blip r:embed="rId2"/>
          <a:stretch>
            <a:fillRect/>
          </a:stretch>
        </p:blipFill>
        <p:spPr>
          <a:xfrm>
            <a:off x="4525023" y="1764792"/>
            <a:ext cx="411480" cy="411480"/>
          </a:xfrm>
          <a:prstGeom prst="rect">
            <a:avLst/>
          </a:prstGeom>
        </p:spPr>
      </p:pic>
      <p:sp>
        <p:nvSpPr>
          <p:cNvPr id="13" name="Text 9"/>
          <p:cNvSpPr/>
          <p:nvPr/>
        </p:nvSpPr>
        <p:spPr>
          <a:xfrm>
            <a:off x="3562274" y="233172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Tachycardia &amp; Afib</a:t>
            </a:r>
            <a:endParaRPr lang="en-US" sz="1300" dirty="0"/>
          </a:p>
        </p:txBody>
      </p:sp>
      <p:sp>
        <p:nvSpPr>
          <p:cNvPr id="14" name="Text 10"/>
          <p:cNvSpPr/>
          <p:nvPr/>
        </p:nvSpPr>
        <p:spPr>
          <a:xfrm>
            <a:off x="3607994"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 HR, palpitations, atrial fibrillation, ↑ BP.</a:t>
            </a:r>
            <a:endParaRPr lang="en-US" sz="1050" dirty="0"/>
          </a:p>
        </p:txBody>
      </p:sp>
      <p:sp>
        <p:nvSpPr>
          <p:cNvPr id="15" name="Shape 11"/>
          <p:cNvSpPr/>
          <p:nvPr/>
        </p:nvSpPr>
        <p:spPr>
          <a:xfrm>
            <a:off x="6210148"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6" name="Shape 12"/>
          <p:cNvSpPr/>
          <p:nvPr/>
        </p:nvSpPr>
        <p:spPr>
          <a:xfrm>
            <a:off x="7145465" y="1645920"/>
            <a:ext cx="640080" cy="640080"/>
          </a:xfrm>
          <a:prstGeom prst="ellipse">
            <a:avLst/>
          </a:prstGeom>
          <a:solidFill>
            <a:srgbClr val="FEF3C7"/>
          </a:solidFill>
          <a:ln w="12700">
            <a:solidFill>
              <a:srgbClr val="E36414"/>
            </a:solidFill>
            <a:prstDash val="solid"/>
          </a:ln>
        </p:spPr>
      </p:sp>
      <p:pic>
        <p:nvPicPr>
          <p:cNvPr id="17" name="Image 2" descr="preencoded.png">    </p:cNvPr>
          <p:cNvPicPr>
            <a:picLocks noChangeAspect="1"/>
          </p:cNvPicPr>
          <p:nvPr/>
        </p:nvPicPr>
        <p:blipFill>
          <a:blip r:embed="rId3"/>
          <a:stretch>
            <a:fillRect/>
          </a:stretch>
        </p:blipFill>
        <p:spPr>
          <a:xfrm>
            <a:off x="7264337" y="1764792"/>
            <a:ext cx="411480" cy="411480"/>
          </a:xfrm>
          <a:prstGeom prst="rect">
            <a:avLst/>
          </a:prstGeom>
        </p:spPr>
      </p:pic>
      <p:sp>
        <p:nvSpPr>
          <p:cNvPr id="18" name="Text 13"/>
          <p:cNvSpPr/>
          <p:nvPr/>
        </p:nvSpPr>
        <p:spPr>
          <a:xfrm>
            <a:off x="6301588" y="233172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Weight Loss</a:t>
            </a:r>
            <a:endParaRPr lang="en-US" sz="1300" dirty="0"/>
          </a:p>
        </p:txBody>
      </p:sp>
      <p:sp>
        <p:nvSpPr>
          <p:cNvPr id="19" name="Text 14"/>
          <p:cNvSpPr/>
          <p:nvPr/>
        </p:nvSpPr>
        <p:spPr>
          <a:xfrm>
            <a:off x="6347308"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Despite increased appetite (polyphagia).</a:t>
            </a:r>
            <a:endParaRPr lang="en-US" sz="1050" dirty="0"/>
          </a:p>
        </p:txBody>
      </p:sp>
      <p:sp>
        <p:nvSpPr>
          <p:cNvPr id="20" name="Shape 15"/>
          <p:cNvSpPr/>
          <p:nvPr/>
        </p:nvSpPr>
        <p:spPr>
          <a:xfrm>
            <a:off x="8949461" y="146304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1" name="Shape 16"/>
          <p:cNvSpPr/>
          <p:nvPr/>
        </p:nvSpPr>
        <p:spPr>
          <a:xfrm>
            <a:off x="9884778" y="1645920"/>
            <a:ext cx="640080" cy="640080"/>
          </a:xfrm>
          <a:prstGeom prst="ellipse">
            <a:avLst/>
          </a:prstGeom>
          <a:solidFill>
            <a:srgbClr val="FEF3C7"/>
          </a:solidFill>
          <a:ln w="12700">
            <a:solidFill>
              <a:srgbClr val="E36414"/>
            </a:solidFill>
            <a:prstDash val="solid"/>
          </a:ln>
        </p:spPr>
      </p:sp>
      <p:pic>
        <p:nvPicPr>
          <p:cNvPr id="22" name="Image 3" descr="preencoded.png">    </p:cNvPr>
          <p:cNvPicPr>
            <a:picLocks noChangeAspect="1"/>
          </p:cNvPicPr>
          <p:nvPr/>
        </p:nvPicPr>
        <p:blipFill>
          <a:blip r:embed="rId4"/>
          <a:stretch>
            <a:fillRect/>
          </a:stretch>
        </p:blipFill>
        <p:spPr>
          <a:xfrm>
            <a:off x="10003650" y="1764792"/>
            <a:ext cx="411480" cy="411480"/>
          </a:xfrm>
          <a:prstGeom prst="rect">
            <a:avLst/>
          </a:prstGeom>
        </p:spPr>
      </p:pic>
      <p:sp>
        <p:nvSpPr>
          <p:cNvPr id="23" name="Text 17"/>
          <p:cNvSpPr/>
          <p:nvPr/>
        </p:nvSpPr>
        <p:spPr>
          <a:xfrm>
            <a:off x="9040901" y="233172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Nervousness / Anxiety</a:t>
            </a:r>
            <a:endParaRPr lang="en-US" sz="1300" dirty="0"/>
          </a:p>
        </p:txBody>
      </p:sp>
      <p:sp>
        <p:nvSpPr>
          <p:cNvPr id="24" name="Text 18"/>
          <p:cNvSpPr/>
          <p:nvPr/>
        </p:nvSpPr>
        <p:spPr>
          <a:xfrm>
            <a:off x="9086621" y="274320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Emotional instability, insomnia, tremor.</a:t>
            </a:r>
            <a:endParaRPr lang="en-US" sz="1050" dirty="0"/>
          </a:p>
        </p:txBody>
      </p:sp>
      <p:sp>
        <p:nvSpPr>
          <p:cNvPr id="25" name="Shape 19"/>
          <p:cNvSpPr/>
          <p:nvPr/>
        </p:nvSpPr>
        <p:spPr>
          <a:xfrm>
            <a:off x="731520"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6" name="Shape 20"/>
          <p:cNvSpPr/>
          <p:nvPr/>
        </p:nvSpPr>
        <p:spPr>
          <a:xfrm>
            <a:off x="1666837" y="4023360"/>
            <a:ext cx="640080" cy="640080"/>
          </a:xfrm>
          <a:prstGeom prst="ellipse">
            <a:avLst/>
          </a:prstGeom>
          <a:solidFill>
            <a:srgbClr val="FEF3C7"/>
          </a:solidFill>
          <a:ln w="12700">
            <a:solidFill>
              <a:srgbClr val="E36414"/>
            </a:solidFill>
            <a:prstDash val="solid"/>
          </a:ln>
        </p:spPr>
      </p:sp>
      <p:pic>
        <p:nvPicPr>
          <p:cNvPr id="27" name="Image 4" descr="preencoded.png">    </p:cNvPr>
          <p:cNvPicPr>
            <a:picLocks noChangeAspect="1"/>
          </p:cNvPicPr>
          <p:nvPr/>
        </p:nvPicPr>
        <p:blipFill>
          <a:blip r:embed="rId5"/>
          <a:stretch>
            <a:fillRect/>
          </a:stretch>
        </p:blipFill>
        <p:spPr>
          <a:xfrm>
            <a:off x="1785709" y="4142232"/>
            <a:ext cx="411480" cy="411480"/>
          </a:xfrm>
          <a:prstGeom prst="rect">
            <a:avLst/>
          </a:prstGeom>
        </p:spPr>
      </p:pic>
      <p:sp>
        <p:nvSpPr>
          <p:cNvPr id="28" name="Text 21"/>
          <p:cNvSpPr/>
          <p:nvPr/>
        </p:nvSpPr>
        <p:spPr>
          <a:xfrm>
            <a:off x="822960" y="470916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Exophthalmos (Graves)</a:t>
            </a:r>
            <a:endParaRPr lang="en-US" sz="1300" dirty="0"/>
          </a:p>
        </p:txBody>
      </p:sp>
      <p:sp>
        <p:nvSpPr>
          <p:cNvPr id="29" name="Text 22"/>
          <p:cNvSpPr/>
          <p:nvPr/>
        </p:nvSpPr>
        <p:spPr>
          <a:xfrm>
            <a:off x="868680"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Bulging eyes, eye irritation, vision changes.</a:t>
            </a:r>
            <a:endParaRPr lang="en-US" sz="1050" dirty="0"/>
          </a:p>
        </p:txBody>
      </p:sp>
      <p:sp>
        <p:nvSpPr>
          <p:cNvPr id="30" name="Shape 23"/>
          <p:cNvSpPr/>
          <p:nvPr/>
        </p:nvSpPr>
        <p:spPr>
          <a:xfrm>
            <a:off x="3470834"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1" name="Shape 24"/>
          <p:cNvSpPr/>
          <p:nvPr/>
        </p:nvSpPr>
        <p:spPr>
          <a:xfrm>
            <a:off x="4406151" y="4023360"/>
            <a:ext cx="640080" cy="640080"/>
          </a:xfrm>
          <a:prstGeom prst="ellipse">
            <a:avLst/>
          </a:prstGeom>
          <a:solidFill>
            <a:srgbClr val="FEF3C7"/>
          </a:solidFill>
          <a:ln w="12700">
            <a:solidFill>
              <a:srgbClr val="E36414"/>
            </a:solidFill>
            <a:prstDash val="solid"/>
          </a:ln>
        </p:spPr>
      </p:sp>
      <p:pic>
        <p:nvPicPr>
          <p:cNvPr id="32" name="Image 5" descr="preencoded.png">    </p:cNvPr>
          <p:cNvPicPr>
            <a:picLocks noChangeAspect="1"/>
          </p:cNvPicPr>
          <p:nvPr/>
        </p:nvPicPr>
        <p:blipFill>
          <a:blip r:embed="rId6"/>
          <a:stretch>
            <a:fillRect/>
          </a:stretch>
        </p:blipFill>
        <p:spPr>
          <a:xfrm>
            <a:off x="4525023" y="4142232"/>
            <a:ext cx="411480" cy="411480"/>
          </a:xfrm>
          <a:prstGeom prst="rect">
            <a:avLst/>
          </a:prstGeom>
        </p:spPr>
      </p:pic>
      <p:sp>
        <p:nvSpPr>
          <p:cNvPr id="33" name="Text 25"/>
          <p:cNvSpPr/>
          <p:nvPr/>
        </p:nvSpPr>
        <p:spPr>
          <a:xfrm>
            <a:off x="3562274" y="470916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Muscle Weakness</a:t>
            </a:r>
            <a:endParaRPr lang="en-US" sz="1300" dirty="0"/>
          </a:p>
        </p:txBody>
      </p:sp>
      <p:sp>
        <p:nvSpPr>
          <p:cNvPr id="34" name="Text 26"/>
          <p:cNvSpPr/>
          <p:nvPr/>
        </p:nvSpPr>
        <p:spPr>
          <a:xfrm>
            <a:off x="3607994"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Fine tremor; proximal muscle weakness.</a:t>
            </a:r>
            <a:endParaRPr lang="en-US" sz="1050" dirty="0"/>
          </a:p>
        </p:txBody>
      </p:sp>
      <p:sp>
        <p:nvSpPr>
          <p:cNvPr id="35" name="Shape 27"/>
          <p:cNvSpPr/>
          <p:nvPr/>
        </p:nvSpPr>
        <p:spPr>
          <a:xfrm>
            <a:off x="6210148"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6" name="Shape 28"/>
          <p:cNvSpPr/>
          <p:nvPr/>
        </p:nvSpPr>
        <p:spPr>
          <a:xfrm>
            <a:off x="7145465" y="4023360"/>
            <a:ext cx="640080" cy="640080"/>
          </a:xfrm>
          <a:prstGeom prst="ellipse">
            <a:avLst/>
          </a:prstGeom>
          <a:solidFill>
            <a:srgbClr val="FEF3C7"/>
          </a:solidFill>
          <a:ln w="12700">
            <a:solidFill>
              <a:srgbClr val="E36414"/>
            </a:solidFill>
            <a:prstDash val="solid"/>
          </a:ln>
        </p:spPr>
      </p:sp>
      <p:pic>
        <p:nvPicPr>
          <p:cNvPr id="37" name="Image 6" descr="preencoded.png">    </p:cNvPr>
          <p:cNvPicPr>
            <a:picLocks noChangeAspect="1"/>
          </p:cNvPicPr>
          <p:nvPr/>
        </p:nvPicPr>
        <p:blipFill>
          <a:blip r:embed="rId7"/>
          <a:stretch>
            <a:fillRect/>
          </a:stretch>
        </p:blipFill>
        <p:spPr>
          <a:xfrm>
            <a:off x="7264337" y="4142232"/>
            <a:ext cx="411480" cy="411480"/>
          </a:xfrm>
          <a:prstGeom prst="rect">
            <a:avLst/>
          </a:prstGeom>
        </p:spPr>
      </p:pic>
      <p:sp>
        <p:nvSpPr>
          <p:cNvPr id="38" name="Text 29"/>
          <p:cNvSpPr/>
          <p:nvPr/>
        </p:nvSpPr>
        <p:spPr>
          <a:xfrm>
            <a:off x="6301588" y="470916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Goiter</a:t>
            </a:r>
            <a:endParaRPr lang="en-US" sz="1300" dirty="0"/>
          </a:p>
        </p:txBody>
      </p:sp>
      <p:sp>
        <p:nvSpPr>
          <p:cNvPr id="39" name="Text 30"/>
          <p:cNvSpPr/>
          <p:nvPr/>
        </p:nvSpPr>
        <p:spPr>
          <a:xfrm>
            <a:off x="6347308"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Enlarged, palpable thyroid gland on the neck.</a:t>
            </a:r>
            <a:endParaRPr lang="en-US" sz="1050" dirty="0"/>
          </a:p>
        </p:txBody>
      </p:sp>
      <p:sp>
        <p:nvSpPr>
          <p:cNvPr id="40" name="Shape 31"/>
          <p:cNvSpPr/>
          <p:nvPr/>
        </p:nvSpPr>
        <p:spPr>
          <a:xfrm>
            <a:off x="8949461" y="3840480"/>
            <a:ext cx="2510714" cy="21488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41" name="Shape 32"/>
          <p:cNvSpPr/>
          <p:nvPr/>
        </p:nvSpPr>
        <p:spPr>
          <a:xfrm>
            <a:off x="9884778" y="4023360"/>
            <a:ext cx="640080" cy="640080"/>
          </a:xfrm>
          <a:prstGeom prst="ellipse">
            <a:avLst/>
          </a:prstGeom>
          <a:solidFill>
            <a:srgbClr val="FEF3C7"/>
          </a:solidFill>
          <a:ln w="12700">
            <a:solidFill>
              <a:srgbClr val="E36414"/>
            </a:solidFill>
            <a:prstDash val="solid"/>
          </a:ln>
        </p:spPr>
      </p:sp>
      <p:pic>
        <p:nvPicPr>
          <p:cNvPr id="42" name="Image 7" descr="preencoded.png">    </p:cNvPr>
          <p:cNvPicPr>
            <a:picLocks noChangeAspect="1"/>
          </p:cNvPicPr>
          <p:nvPr/>
        </p:nvPicPr>
        <p:blipFill>
          <a:blip r:embed="rId8"/>
          <a:stretch>
            <a:fillRect/>
          </a:stretch>
        </p:blipFill>
        <p:spPr>
          <a:xfrm>
            <a:off x="10003650" y="4142232"/>
            <a:ext cx="411480" cy="411480"/>
          </a:xfrm>
          <a:prstGeom prst="rect">
            <a:avLst/>
          </a:prstGeom>
        </p:spPr>
      </p:pic>
      <p:sp>
        <p:nvSpPr>
          <p:cNvPr id="43" name="Text 33"/>
          <p:cNvSpPr/>
          <p:nvPr/>
        </p:nvSpPr>
        <p:spPr>
          <a:xfrm>
            <a:off x="9040901" y="4709160"/>
            <a:ext cx="2327834" cy="411480"/>
          </a:xfrm>
          <a:prstGeom prst="rect">
            <a:avLst/>
          </a:prstGeom>
          <a:noFill/>
          <a:ln/>
        </p:spPr>
        <p:txBody>
          <a:bodyPr wrap="square" lIns="0" tIns="0" rIns="0" bIns="0" rtlCol="0" anchor="ctr"/>
          <a:lstStyle/>
          <a:p>
            <a:pPr algn="ctr" indent="0" marL="0">
              <a:buNone/>
            </a:pPr>
            <a:r>
              <a:rPr lang="en-US" sz="1300" b="1" dirty="0">
                <a:solidFill>
                  <a:srgbClr val="E36414"/>
                </a:solidFill>
                <a:latin typeface="Georgia" pitchFamily="34" charset="0"/>
                <a:ea typeface="Georgia" pitchFamily="34" charset="-122"/>
                <a:cs typeface="Georgia" pitchFamily="34" charset="-120"/>
              </a:rPr>
              <a:t>Diarrhea</a:t>
            </a:r>
            <a:endParaRPr lang="en-US" sz="1300" dirty="0"/>
          </a:p>
        </p:txBody>
      </p:sp>
      <p:sp>
        <p:nvSpPr>
          <p:cNvPr id="44" name="Text 34"/>
          <p:cNvSpPr/>
          <p:nvPr/>
        </p:nvSpPr>
        <p:spPr>
          <a:xfrm>
            <a:off x="9086621" y="5120640"/>
            <a:ext cx="2236394" cy="822960"/>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 GI motility; nausea, loose stools.</a:t>
            </a:r>
            <a:endParaRPr lang="en-US" sz="1050" dirty="0"/>
          </a:p>
        </p:txBody>
      </p:sp>
      <p:sp>
        <p:nvSpPr>
          <p:cNvPr id="45" name="Text 3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6" name="Text 3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Thyroid Storm (Thyrotoxic Crisis)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Life-threatening complication of hyperthyroidism — medical emergency</a:t>
            </a:r>
            <a:endParaRPr lang="en-US" sz="1400" dirty="0"/>
          </a:p>
        </p:txBody>
      </p:sp>
      <p:sp>
        <p:nvSpPr>
          <p:cNvPr id="5" name="Shape 3"/>
          <p:cNvSpPr/>
          <p:nvPr/>
        </p:nvSpPr>
        <p:spPr>
          <a:xfrm>
            <a:off x="731520" y="1417320"/>
            <a:ext cx="10698480" cy="502920"/>
          </a:xfrm>
          <a:prstGeom prst="rect">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914400" y="1490472"/>
            <a:ext cx="365760" cy="365760"/>
          </a:xfrm>
          <a:prstGeom prst="rect">
            <a:avLst/>
          </a:prstGeom>
        </p:spPr>
      </p:pic>
      <p:sp>
        <p:nvSpPr>
          <p:cNvPr id="7" name="Text 4"/>
          <p:cNvSpPr/>
          <p:nvPr/>
        </p:nvSpPr>
        <p:spPr>
          <a:xfrm>
            <a:off x="1371600" y="1417320"/>
            <a:ext cx="996696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MEDICAL EMERGENCY — triggered by stress, surgery, infection, or abrupt thyroid med withdrawal</a:t>
            </a:r>
            <a:endParaRPr lang="en-US" sz="1300" dirty="0"/>
          </a:p>
        </p:txBody>
      </p:sp>
      <p:sp>
        <p:nvSpPr>
          <p:cNvPr id="8" name="Shape 5"/>
          <p:cNvSpPr/>
          <p:nvPr/>
        </p:nvSpPr>
        <p:spPr>
          <a:xfrm>
            <a:off x="731520" y="2103120"/>
            <a:ext cx="5349240" cy="41148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9" name="Shape 6"/>
          <p:cNvSpPr/>
          <p:nvPr/>
        </p:nvSpPr>
        <p:spPr>
          <a:xfrm>
            <a:off x="731520" y="2103120"/>
            <a:ext cx="5349240" cy="502920"/>
          </a:xfrm>
          <a:prstGeom prst="rect">
            <a:avLst/>
          </a:prstGeom>
          <a:solidFill>
            <a:srgbClr val="DC2626"/>
          </a:solidFill>
          <a:ln w="12700">
            <a:solidFill>
              <a:srgbClr val="DC2626"/>
            </a:solidFill>
            <a:prstDash val="solid"/>
          </a:ln>
        </p:spPr>
      </p:sp>
      <p:pic>
        <p:nvPicPr>
          <p:cNvPr id="10" name="Image 1" descr="preencoded.png">    </p:cNvPr>
          <p:cNvPicPr>
            <a:picLocks noChangeAspect="1"/>
          </p:cNvPicPr>
          <p:nvPr/>
        </p:nvPicPr>
        <p:blipFill>
          <a:blip r:embed="rId2"/>
          <a:stretch>
            <a:fillRect/>
          </a:stretch>
        </p:blipFill>
        <p:spPr>
          <a:xfrm>
            <a:off x="868680" y="2176272"/>
            <a:ext cx="347472" cy="347472"/>
          </a:xfrm>
          <a:prstGeom prst="rect">
            <a:avLst/>
          </a:prstGeom>
        </p:spPr>
      </p:pic>
      <p:sp>
        <p:nvSpPr>
          <p:cNvPr id="11" name="Text 7"/>
          <p:cNvSpPr/>
          <p:nvPr/>
        </p:nvSpPr>
        <p:spPr>
          <a:xfrm>
            <a:off x="1280160" y="2103120"/>
            <a:ext cx="48006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Classic Manifestations</a:t>
            </a:r>
            <a:endParaRPr lang="en-US" sz="1400" dirty="0"/>
          </a:p>
        </p:txBody>
      </p:sp>
      <p:sp>
        <p:nvSpPr>
          <p:cNvPr id="12" name="Shape 8"/>
          <p:cNvSpPr/>
          <p:nvPr/>
        </p:nvSpPr>
        <p:spPr>
          <a:xfrm>
            <a:off x="914400" y="2834640"/>
            <a:ext cx="182880" cy="182880"/>
          </a:xfrm>
          <a:prstGeom prst="ellipse">
            <a:avLst/>
          </a:prstGeom>
          <a:solidFill>
            <a:srgbClr val="DC2626"/>
          </a:solidFill>
          <a:ln w="12700">
            <a:solidFill>
              <a:srgbClr val="DC2626"/>
            </a:solidFill>
            <a:prstDash val="solid"/>
          </a:ln>
        </p:spPr>
      </p:sp>
      <p:sp>
        <p:nvSpPr>
          <p:cNvPr id="13" name="Text 9"/>
          <p:cNvSpPr/>
          <p:nvPr/>
        </p:nvSpPr>
        <p:spPr>
          <a:xfrm>
            <a:off x="1234440" y="2743200"/>
            <a:ext cx="475488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Hyperthermia</a:t>
            </a:r>
            <a:endParaRPr lang="en-US" sz="1200" dirty="0"/>
          </a:p>
        </p:txBody>
      </p:sp>
      <p:sp>
        <p:nvSpPr>
          <p:cNvPr id="14" name="Text 10"/>
          <p:cNvSpPr/>
          <p:nvPr/>
        </p:nvSpPr>
        <p:spPr>
          <a:xfrm>
            <a:off x="1234440" y="2971800"/>
            <a:ext cx="475488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Temperature &gt; 104°F (40°C)</a:t>
            </a:r>
            <a:endParaRPr lang="en-US" sz="1050" dirty="0"/>
          </a:p>
        </p:txBody>
      </p:sp>
      <p:sp>
        <p:nvSpPr>
          <p:cNvPr id="15" name="Shape 11"/>
          <p:cNvSpPr/>
          <p:nvPr/>
        </p:nvSpPr>
        <p:spPr>
          <a:xfrm>
            <a:off x="914400" y="3383280"/>
            <a:ext cx="182880" cy="182880"/>
          </a:xfrm>
          <a:prstGeom prst="ellipse">
            <a:avLst/>
          </a:prstGeom>
          <a:solidFill>
            <a:srgbClr val="DC2626"/>
          </a:solidFill>
          <a:ln w="12700">
            <a:solidFill>
              <a:srgbClr val="DC2626"/>
            </a:solidFill>
            <a:prstDash val="solid"/>
          </a:ln>
        </p:spPr>
      </p:sp>
      <p:sp>
        <p:nvSpPr>
          <p:cNvPr id="16" name="Text 12"/>
          <p:cNvSpPr/>
          <p:nvPr/>
        </p:nvSpPr>
        <p:spPr>
          <a:xfrm>
            <a:off x="1234440" y="3291840"/>
            <a:ext cx="475488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Extreme Tachycardia</a:t>
            </a:r>
            <a:endParaRPr lang="en-US" sz="1200" dirty="0"/>
          </a:p>
        </p:txBody>
      </p:sp>
      <p:sp>
        <p:nvSpPr>
          <p:cNvPr id="17" name="Text 13"/>
          <p:cNvSpPr/>
          <p:nvPr/>
        </p:nvSpPr>
        <p:spPr>
          <a:xfrm>
            <a:off x="1234440" y="3520440"/>
            <a:ext cx="475488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HR &gt; 130; atrial fibrillation common</a:t>
            </a:r>
            <a:endParaRPr lang="en-US" sz="1050" dirty="0"/>
          </a:p>
        </p:txBody>
      </p:sp>
      <p:sp>
        <p:nvSpPr>
          <p:cNvPr id="18" name="Shape 14"/>
          <p:cNvSpPr/>
          <p:nvPr/>
        </p:nvSpPr>
        <p:spPr>
          <a:xfrm>
            <a:off x="914400" y="3931920"/>
            <a:ext cx="182880" cy="182880"/>
          </a:xfrm>
          <a:prstGeom prst="ellipse">
            <a:avLst/>
          </a:prstGeom>
          <a:solidFill>
            <a:srgbClr val="DC2626"/>
          </a:solidFill>
          <a:ln w="12700">
            <a:solidFill>
              <a:srgbClr val="DC2626"/>
            </a:solidFill>
            <a:prstDash val="solid"/>
          </a:ln>
        </p:spPr>
      </p:sp>
      <p:sp>
        <p:nvSpPr>
          <p:cNvPr id="19" name="Text 15"/>
          <p:cNvSpPr/>
          <p:nvPr/>
        </p:nvSpPr>
        <p:spPr>
          <a:xfrm>
            <a:off x="1234440" y="3840480"/>
            <a:ext cx="475488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Severe Hypertension</a:t>
            </a:r>
            <a:endParaRPr lang="en-US" sz="1200" dirty="0"/>
          </a:p>
        </p:txBody>
      </p:sp>
      <p:sp>
        <p:nvSpPr>
          <p:cNvPr id="20" name="Text 16"/>
          <p:cNvSpPr/>
          <p:nvPr/>
        </p:nvSpPr>
        <p:spPr>
          <a:xfrm>
            <a:off x="1234440" y="4069080"/>
            <a:ext cx="475488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Followed by hypotension/shock</a:t>
            </a:r>
            <a:endParaRPr lang="en-US" sz="1050" dirty="0"/>
          </a:p>
        </p:txBody>
      </p:sp>
      <p:sp>
        <p:nvSpPr>
          <p:cNvPr id="21" name="Shape 17"/>
          <p:cNvSpPr/>
          <p:nvPr/>
        </p:nvSpPr>
        <p:spPr>
          <a:xfrm>
            <a:off x="914400" y="4480560"/>
            <a:ext cx="182880" cy="182880"/>
          </a:xfrm>
          <a:prstGeom prst="ellipse">
            <a:avLst/>
          </a:prstGeom>
          <a:solidFill>
            <a:srgbClr val="DC2626"/>
          </a:solidFill>
          <a:ln w="12700">
            <a:solidFill>
              <a:srgbClr val="DC2626"/>
            </a:solidFill>
            <a:prstDash val="solid"/>
          </a:ln>
        </p:spPr>
      </p:sp>
      <p:sp>
        <p:nvSpPr>
          <p:cNvPr id="22" name="Text 18"/>
          <p:cNvSpPr/>
          <p:nvPr/>
        </p:nvSpPr>
        <p:spPr>
          <a:xfrm>
            <a:off x="1234440" y="4389120"/>
            <a:ext cx="475488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Altered Mental Status</a:t>
            </a:r>
            <a:endParaRPr lang="en-US" sz="1200" dirty="0"/>
          </a:p>
        </p:txBody>
      </p:sp>
      <p:sp>
        <p:nvSpPr>
          <p:cNvPr id="23" name="Text 19"/>
          <p:cNvSpPr/>
          <p:nvPr/>
        </p:nvSpPr>
        <p:spPr>
          <a:xfrm>
            <a:off x="1234440" y="4617720"/>
            <a:ext cx="475488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Agitation → delirium → coma</a:t>
            </a:r>
            <a:endParaRPr lang="en-US" sz="1050" dirty="0"/>
          </a:p>
        </p:txBody>
      </p:sp>
      <p:sp>
        <p:nvSpPr>
          <p:cNvPr id="24" name="Shape 20"/>
          <p:cNvSpPr/>
          <p:nvPr/>
        </p:nvSpPr>
        <p:spPr>
          <a:xfrm>
            <a:off x="914400" y="5029200"/>
            <a:ext cx="182880" cy="182880"/>
          </a:xfrm>
          <a:prstGeom prst="ellipse">
            <a:avLst/>
          </a:prstGeom>
          <a:solidFill>
            <a:srgbClr val="DC2626"/>
          </a:solidFill>
          <a:ln w="12700">
            <a:solidFill>
              <a:srgbClr val="DC2626"/>
            </a:solidFill>
            <a:prstDash val="solid"/>
          </a:ln>
        </p:spPr>
      </p:sp>
      <p:sp>
        <p:nvSpPr>
          <p:cNvPr id="25" name="Text 21"/>
          <p:cNvSpPr/>
          <p:nvPr/>
        </p:nvSpPr>
        <p:spPr>
          <a:xfrm>
            <a:off x="1234440" y="4937760"/>
            <a:ext cx="475488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GI Symptoms</a:t>
            </a:r>
            <a:endParaRPr lang="en-US" sz="1200" dirty="0"/>
          </a:p>
        </p:txBody>
      </p:sp>
      <p:sp>
        <p:nvSpPr>
          <p:cNvPr id="26" name="Text 22"/>
          <p:cNvSpPr/>
          <p:nvPr/>
        </p:nvSpPr>
        <p:spPr>
          <a:xfrm>
            <a:off x="1234440" y="5166360"/>
            <a:ext cx="475488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N/V, diarrhea, abdominal pain</a:t>
            </a:r>
            <a:endParaRPr lang="en-US" sz="1050" dirty="0"/>
          </a:p>
        </p:txBody>
      </p:sp>
      <p:sp>
        <p:nvSpPr>
          <p:cNvPr id="27" name="Shape 23"/>
          <p:cNvSpPr/>
          <p:nvPr/>
        </p:nvSpPr>
        <p:spPr>
          <a:xfrm>
            <a:off x="914400" y="5577840"/>
            <a:ext cx="182880" cy="182880"/>
          </a:xfrm>
          <a:prstGeom prst="ellipse">
            <a:avLst/>
          </a:prstGeom>
          <a:solidFill>
            <a:srgbClr val="DC2626"/>
          </a:solidFill>
          <a:ln w="12700">
            <a:solidFill>
              <a:srgbClr val="DC2626"/>
            </a:solidFill>
            <a:prstDash val="solid"/>
          </a:ln>
        </p:spPr>
      </p:sp>
      <p:sp>
        <p:nvSpPr>
          <p:cNvPr id="28" name="Text 24"/>
          <p:cNvSpPr/>
          <p:nvPr/>
        </p:nvSpPr>
        <p:spPr>
          <a:xfrm>
            <a:off x="1234440" y="5486400"/>
            <a:ext cx="475488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Cardiovascular Collapse</a:t>
            </a:r>
            <a:endParaRPr lang="en-US" sz="1200" dirty="0"/>
          </a:p>
        </p:txBody>
      </p:sp>
      <p:sp>
        <p:nvSpPr>
          <p:cNvPr id="29" name="Text 25"/>
          <p:cNvSpPr/>
          <p:nvPr/>
        </p:nvSpPr>
        <p:spPr>
          <a:xfrm>
            <a:off x="1234440" y="5715000"/>
            <a:ext cx="475488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Heart failure, pulmonary edema</a:t>
            </a:r>
            <a:endParaRPr lang="en-US" sz="1050" dirty="0"/>
          </a:p>
        </p:txBody>
      </p:sp>
      <p:sp>
        <p:nvSpPr>
          <p:cNvPr id="30" name="Shape 26"/>
          <p:cNvSpPr/>
          <p:nvPr/>
        </p:nvSpPr>
        <p:spPr>
          <a:xfrm>
            <a:off x="6263640" y="2103120"/>
            <a:ext cx="5166360" cy="411480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1" name="Shape 27"/>
          <p:cNvSpPr/>
          <p:nvPr/>
        </p:nvSpPr>
        <p:spPr>
          <a:xfrm>
            <a:off x="6263640" y="2103120"/>
            <a:ext cx="5166360" cy="502920"/>
          </a:xfrm>
          <a:prstGeom prst="rect">
            <a:avLst/>
          </a:prstGeom>
          <a:solidFill>
            <a:srgbClr val="0F4C5C"/>
          </a:solidFill>
          <a:ln w="12700">
            <a:solidFill>
              <a:srgbClr val="0F4C5C"/>
            </a:solidFill>
            <a:prstDash val="solid"/>
          </a:ln>
        </p:spPr>
      </p:sp>
      <p:pic>
        <p:nvPicPr>
          <p:cNvPr id="32" name="Image 2" descr="preencoded.png">    </p:cNvPr>
          <p:cNvPicPr>
            <a:picLocks noChangeAspect="1"/>
          </p:cNvPicPr>
          <p:nvPr/>
        </p:nvPicPr>
        <p:blipFill>
          <a:blip r:embed="rId3"/>
          <a:stretch>
            <a:fillRect/>
          </a:stretch>
        </p:blipFill>
        <p:spPr>
          <a:xfrm>
            <a:off x="6400800" y="2176272"/>
            <a:ext cx="347472" cy="347472"/>
          </a:xfrm>
          <a:prstGeom prst="rect">
            <a:avLst/>
          </a:prstGeom>
        </p:spPr>
      </p:pic>
      <p:sp>
        <p:nvSpPr>
          <p:cNvPr id="33" name="Text 28"/>
          <p:cNvSpPr/>
          <p:nvPr/>
        </p:nvSpPr>
        <p:spPr>
          <a:xfrm>
            <a:off x="6812280" y="2103120"/>
            <a:ext cx="45720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Emergency Treatment</a:t>
            </a:r>
            <a:endParaRPr lang="en-US" sz="1400" dirty="0"/>
          </a:p>
        </p:txBody>
      </p:sp>
      <p:sp>
        <p:nvSpPr>
          <p:cNvPr id="34" name="Shape 29"/>
          <p:cNvSpPr/>
          <p:nvPr/>
        </p:nvSpPr>
        <p:spPr>
          <a:xfrm>
            <a:off x="6446520" y="2834640"/>
            <a:ext cx="182880" cy="182880"/>
          </a:xfrm>
          <a:prstGeom prst="ellipse">
            <a:avLst/>
          </a:prstGeom>
          <a:solidFill>
            <a:srgbClr val="0F4C5C"/>
          </a:solidFill>
          <a:ln w="12700">
            <a:solidFill>
              <a:srgbClr val="0F4C5C"/>
            </a:solidFill>
            <a:prstDash val="solid"/>
          </a:ln>
        </p:spPr>
      </p:sp>
      <p:sp>
        <p:nvSpPr>
          <p:cNvPr id="35" name="Text 30"/>
          <p:cNvSpPr/>
          <p:nvPr/>
        </p:nvSpPr>
        <p:spPr>
          <a:xfrm>
            <a:off x="6766560" y="2743200"/>
            <a:ext cx="457200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Beta Blockers</a:t>
            </a:r>
            <a:endParaRPr lang="en-US" sz="1200" dirty="0"/>
          </a:p>
        </p:txBody>
      </p:sp>
      <p:sp>
        <p:nvSpPr>
          <p:cNvPr id="36" name="Text 31"/>
          <p:cNvSpPr/>
          <p:nvPr/>
        </p:nvSpPr>
        <p:spPr>
          <a:xfrm>
            <a:off x="6766560" y="2971800"/>
            <a:ext cx="457200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Propranolol IV — controls HR, tremor, anxiety</a:t>
            </a:r>
            <a:endParaRPr lang="en-US" sz="1050" dirty="0"/>
          </a:p>
        </p:txBody>
      </p:sp>
      <p:sp>
        <p:nvSpPr>
          <p:cNvPr id="37" name="Shape 32"/>
          <p:cNvSpPr/>
          <p:nvPr/>
        </p:nvSpPr>
        <p:spPr>
          <a:xfrm>
            <a:off x="6446520" y="3383280"/>
            <a:ext cx="182880" cy="182880"/>
          </a:xfrm>
          <a:prstGeom prst="ellipse">
            <a:avLst/>
          </a:prstGeom>
          <a:solidFill>
            <a:srgbClr val="0F4C5C"/>
          </a:solidFill>
          <a:ln w="12700">
            <a:solidFill>
              <a:srgbClr val="0F4C5C"/>
            </a:solidFill>
            <a:prstDash val="solid"/>
          </a:ln>
        </p:spPr>
      </p:sp>
      <p:sp>
        <p:nvSpPr>
          <p:cNvPr id="38" name="Text 33"/>
          <p:cNvSpPr/>
          <p:nvPr/>
        </p:nvSpPr>
        <p:spPr>
          <a:xfrm>
            <a:off x="6766560" y="3291840"/>
            <a:ext cx="457200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PTU (Propylthiouracil)</a:t>
            </a:r>
            <a:endParaRPr lang="en-US" sz="1200" dirty="0"/>
          </a:p>
        </p:txBody>
      </p:sp>
      <p:sp>
        <p:nvSpPr>
          <p:cNvPr id="39" name="Text 34"/>
          <p:cNvSpPr/>
          <p:nvPr/>
        </p:nvSpPr>
        <p:spPr>
          <a:xfrm>
            <a:off x="6766560" y="3520440"/>
            <a:ext cx="457200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First-line — blocks synthesis + T4→T3 conversion</a:t>
            </a:r>
            <a:endParaRPr lang="en-US" sz="1050" dirty="0"/>
          </a:p>
        </p:txBody>
      </p:sp>
      <p:sp>
        <p:nvSpPr>
          <p:cNvPr id="40" name="Shape 35"/>
          <p:cNvSpPr/>
          <p:nvPr/>
        </p:nvSpPr>
        <p:spPr>
          <a:xfrm>
            <a:off x="6446520" y="3931920"/>
            <a:ext cx="182880" cy="182880"/>
          </a:xfrm>
          <a:prstGeom prst="ellipse">
            <a:avLst/>
          </a:prstGeom>
          <a:solidFill>
            <a:srgbClr val="0F4C5C"/>
          </a:solidFill>
          <a:ln w="12700">
            <a:solidFill>
              <a:srgbClr val="0F4C5C"/>
            </a:solidFill>
            <a:prstDash val="solid"/>
          </a:ln>
        </p:spPr>
      </p:sp>
      <p:sp>
        <p:nvSpPr>
          <p:cNvPr id="41" name="Text 36"/>
          <p:cNvSpPr/>
          <p:nvPr/>
        </p:nvSpPr>
        <p:spPr>
          <a:xfrm>
            <a:off x="6766560" y="3840480"/>
            <a:ext cx="457200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Iodine (SSKI, Lugol's)</a:t>
            </a:r>
            <a:endParaRPr lang="en-US" sz="1200" dirty="0"/>
          </a:p>
        </p:txBody>
      </p:sp>
      <p:sp>
        <p:nvSpPr>
          <p:cNvPr id="42" name="Text 37"/>
          <p:cNvSpPr/>
          <p:nvPr/>
        </p:nvSpPr>
        <p:spPr>
          <a:xfrm>
            <a:off x="6766560" y="4069080"/>
            <a:ext cx="457200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Given AFTER PTU — inhibits hormone release</a:t>
            </a:r>
            <a:endParaRPr lang="en-US" sz="1050" dirty="0"/>
          </a:p>
        </p:txBody>
      </p:sp>
      <p:sp>
        <p:nvSpPr>
          <p:cNvPr id="43" name="Shape 38"/>
          <p:cNvSpPr/>
          <p:nvPr/>
        </p:nvSpPr>
        <p:spPr>
          <a:xfrm>
            <a:off x="6446520" y="4480560"/>
            <a:ext cx="182880" cy="182880"/>
          </a:xfrm>
          <a:prstGeom prst="ellipse">
            <a:avLst/>
          </a:prstGeom>
          <a:solidFill>
            <a:srgbClr val="0F4C5C"/>
          </a:solidFill>
          <a:ln w="12700">
            <a:solidFill>
              <a:srgbClr val="0F4C5C"/>
            </a:solidFill>
            <a:prstDash val="solid"/>
          </a:ln>
        </p:spPr>
      </p:sp>
      <p:sp>
        <p:nvSpPr>
          <p:cNvPr id="44" name="Text 39"/>
          <p:cNvSpPr/>
          <p:nvPr/>
        </p:nvSpPr>
        <p:spPr>
          <a:xfrm>
            <a:off x="6766560" y="4389120"/>
            <a:ext cx="457200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Corticosteroids</a:t>
            </a:r>
            <a:endParaRPr lang="en-US" sz="1200" dirty="0"/>
          </a:p>
        </p:txBody>
      </p:sp>
      <p:sp>
        <p:nvSpPr>
          <p:cNvPr id="45" name="Text 40"/>
          <p:cNvSpPr/>
          <p:nvPr/>
        </p:nvSpPr>
        <p:spPr>
          <a:xfrm>
            <a:off x="6766560" y="4617720"/>
            <a:ext cx="457200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Hydrocortisone — blocks T4→T3 conversion</a:t>
            </a:r>
            <a:endParaRPr lang="en-US" sz="1050" dirty="0"/>
          </a:p>
        </p:txBody>
      </p:sp>
      <p:sp>
        <p:nvSpPr>
          <p:cNvPr id="46" name="Shape 41"/>
          <p:cNvSpPr/>
          <p:nvPr/>
        </p:nvSpPr>
        <p:spPr>
          <a:xfrm>
            <a:off x="6446520" y="5029200"/>
            <a:ext cx="182880" cy="182880"/>
          </a:xfrm>
          <a:prstGeom prst="ellipse">
            <a:avLst/>
          </a:prstGeom>
          <a:solidFill>
            <a:srgbClr val="0F4C5C"/>
          </a:solidFill>
          <a:ln w="12700">
            <a:solidFill>
              <a:srgbClr val="0F4C5C"/>
            </a:solidFill>
            <a:prstDash val="solid"/>
          </a:ln>
        </p:spPr>
      </p:sp>
      <p:sp>
        <p:nvSpPr>
          <p:cNvPr id="47" name="Text 42"/>
          <p:cNvSpPr/>
          <p:nvPr/>
        </p:nvSpPr>
        <p:spPr>
          <a:xfrm>
            <a:off x="6766560" y="4937760"/>
            <a:ext cx="457200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Cooling Measures</a:t>
            </a:r>
            <a:endParaRPr lang="en-US" sz="1200" dirty="0"/>
          </a:p>
        </p:txBody>
      </p:sp>
      <p:sp>
        <p:nvSpPr>
          <p:cNvPr id="48" name="Text 43"/>
          <p:cNvSpPr/>
          <p:nvPr/>
        </p:nvSpPr>
        <p:spPr>
          <a:xfrm>
            <a:off x="6766560" y="5166360"/>
            <a:ext cx="457200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Ice packs, cooling blanket — NO aspirin (↑ free T4)</a:t>
            </a:r>
            <a:endParaRPr lang="en-US" sz="1050" dirty="0"/>
          </a:p>
        </p:txBody>
      </p:sp>
      <p:sp>
        <p:nvSpPr>
          <p:cNvPr id="49" name="Shape 44"/>
          <p:cNvSpPr/>
          <p:nvPr/>
        </p:nvSpPr>
        <p:spPr>
          <a:xfrm>
            <a:off x="6446520" y="5577840"/>
            <a:ext cx="182880" cy="182880"/>
          </a:xfrm>
          <a:prstGeom prst="ellipse">
            <a:avLst/>
          </a:prstGeom>
          <a:solidFill>
            <a:srgbClr val="0F4C5C"/>
          </a:solidFill>
          <a:ln w="12700">
            <a:solidFill>
              <a:srgbClr val="0F4C5C"/>
            </a:solidFill>
            <a:prstDash val="solid"/>
          </a:ln>
        </p:spPr>
      </p:sp>
      <p:sp>
        <p:nvSpPr>
          <p:cNvPr id="50" name="Text 45"/>
          <p:cNvSpPr/>
          <p:nvPr/>
        </p:nvSpPr>
        <p:spPr>
          <a:xfrm>
            <a:off x="6766560" y="5486400"/>
            <a:ext cx="457200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IV Fluids + O₂</a:t>
            </a:r>
            <a:endParaRPr lang="en-US" sz="1200" dirty="0"/>
          </a:p>
        </p:txBody>
      </p:sp>
      <p:sp>
        <p:nvSpPr>
          <p:cNvPr id="51" name="Text 46"/>
          <p:cNvSpPr/>
          <p:nvPr/>
        </p:nvSpPr>
        <p:spPr>
          <a:xfrm>
            <a:off x="6766560" y="5715000"/>
            <a:ext cx="4572000" cy="2743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Restore hemodynamics, support cardiac function</a:t>
            </a:r>
            <a:endParaRPr lang="en-US" sz="1050" dirty="0"/>
          </a:p>
        </p:txBody>
      </p:sp>
      <p:sp>
        <p:nvSpPr>
          <p:cNvPr id="52" name="Text 47"/>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53" name="Text 48"/>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Antithyroid Medications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Four main classes used to treat hyperthyroidism</a:t>
            </a:r>
            <a:endParaRPr lang="en-US" sz="1400" dirty="0"/>
          </a:p>
        </p:txBody>
      </p:sp>
      <p:sp>
        <p:nvSpPr>
          <p:cNvPr id="5" name="Shape 3"/>
          <p:cNvSpPr/>
          <p:nvPr/>
        </p:nvSpPr>
        <p:spPr>
          <a:xfrm>
            <a:off x="731520" y="1417320"/>
            <a:ext cx="2606040" cy="4892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2606040" cy="868680"/>
          </a:xfrm>
          <a:prstGeom prst="rect">
            <a:avLst/>
          </a:prstGeom>
          <a:solidFill>
            <a:srgbClr val="0F4C5C"/>
          </a:solidFill>
          <a:ln w="12700">
            <a:solidFill>
              <a:srgbClr val="0F4C5C"/>
            </a:solidFill>
            <a:prstDash val="solid"/>
          </a:ln>
        </p:spPr>
      </p:sp>
      <p:sp>
        <p:nvSpPr>
          <p:cNvPr id="7" name="Text 5"/>
          <p:cNvSpPr/>
          <p:nvPr/>
        </p:nvSpPr>
        <p:spPr>
          <a:xfrm>
            <a:off x="822960" y="1463040"/>
            <a:ext cx="24231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Methimazole</a:t>
            </a:r>
            <a:endParaRPr lang="en-US" sz="1600" dirty="0"/>
          </a:p>
        </p:txBody>
      </p:sp>
      <p:sp>
        <p:nvSpPr>
          <p:cNvPr id="8" name="Text 6"/>
          <p:cNvSpPr/>
          <p:nvPr/>
        </p:nvSpPr>
        <p:spPr>
          <a:xfrm>
            <a:off x="822960" y="1874520"/>
            <a:ext cx="2423160" cy="32004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(Tapazole)</a:t>
            </a:r>
            <a:endParaRPr lang="en-US" sz="1100" dirty="0"/>
          </a:p>
        </p:txBody>
      </p:sp>
      <p:sp>
        <p:nvSpPr>
          <p:cNvPr id="9" name="Text 7"/>
          <p:cNvSpPr/>
          <p:nvPr/>
        </p:nvSpPr>
        <p:spPr>
          <a:xfrm>
            <a:off x="868680" y="242316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ACTION</a:t>
            </a:r>
            <a:endParaRPr lang="en-US" sz="1000" dirty="0"/>
          </a:p>
        </p:txBody>
      </p:sp>
      <p:sp>
        <p:nvSpPr>
          <p:cNvPr id="10" name="Text 8"/>
          <p:cNvSpPr/>
          <p:nvPr/>
        </p:nvSpPr>
        <p:spPr>
          <a:xfrm>
            <a:off x="868680" y="2697480"/>
            <a:ext cx="2331720" cy="6858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Blocks thyroid hormone synthesis</a:t>
            </a:r>
            <a:endParaRPr lang="en-US" sz="1100" dirty="0"/>
          </a:p>
        </p:txBody>
      </p:sp>
      <p:sp>
        <p:nvSpPr>
          <p:cNvPr id="11" name="Shape 9"/>
          <p:cNvSpPr/>
          <p:nvPr/>
        </p:nvSpPr>
        <p:spPr>
          <a:xfrm>
            <a:off x="868680" y="3429000"/>
            <a:ext cx="2331720" cy="0"/>
          </a:xfrm>
          <a:prstGeom prst="line">
            <a:avLst/>
          </a:prstGeom>
          <a:noFill/>
          <a:ln w="6350">
            <a:solidFill>
              <a:srgbClr val="CBD5E1"/>
            </a:solidFill>
            <a:prstDash val="solid"/>
          </a:ln>
        </p:spPr>
      </p:sp>
      <p:sp>
        <p:nvSpPr>
          <p:cNvPr id="12" name="Text 10"/>
          <p:cNvSpPr/>
          <p:nvPr/>
        </p:nvSpPr>
        <p:spPr>
          <a:xfrm>
            <a:off x="868680" y="352044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KEY TEACHING</a:t>
            </a:r>
            <a:endParaRPr lang="en-US" sz="1000" dirty="0"/>
          </a:p>
        </p:txBody>
      </p:sp>
      <p:sp>
        <p:nvSpPr>
          <p:cNvPr id="13" name="Text 11"/>
          <p:cNvSpPr/>
          <p:nvPr/>
        </p:nvSpPr>
        <p:spPr>
          <a:xfrm>
            <a:off x="868680" y="3794760"/>
            <a:ext cx="2331720" cy="246888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First-line for non-pregnant adults • Monitor CBC (agranulocytosis) • Report sore throat, fever</a:t>
            </a:r>
            <a:endParaRPr lang="en-US" sz="1050" dirty="0"/>
          </a:p>
        </p:txBody>
      </p:sp>
      <p:sp>
        <p:nvSpPr>
          <p:cNvPr id="14" name="Shape 12"/>
          <p:cNvSpPr/>
          <p:nvPr/>
        </p:nvSpPr>
        <p:spPr>
          <a:xfrm>
            <a:off x="3429000" y="1417320"/>
            <a:ext cx="2606040" cy="4892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5" name="Shape 13"/>
          <p:cNvSpPr/>
          <p:nvPr/>
        </p:nvSpPr>
        <p:spPr>
          <a:xfrm>
            <a:off x="3429000" y="1417320"/>
            <a:ext cx="2606040" cy="868680"/>
          </a:xfrm>
          <a:prstGeom prst="rect">
            <a:avLst/>
          </a:prstGeom>
          <a:solidFill>
            <a:srgbClr val="E36414"/>
          </a:solidFill>
          <a:ln w="12700">
            <a:solidFill>
              <a:srgbClr val="E36414"/>
            </a:solidFill>
            <a:prstDash val="solid"/>
          </a:ln>
        </p:spPr>
      </p:sp>
      <p:sp>
        <p:nvSpPr>
          <p:cNvPr id="16" name="Text 14"/>
          <p:cNvSpPr/>
          <p:nvPr/>
        </p:nvSpPr>
        <p:spPr>
          <a:xfrm>
            <a:off x="3520440" y="1463040"/>
            <a:ext cx="24231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PTU</a:t>
            </a:r>
            <a:endParaRPr lang="en-US" sz="1600" dirty="0"/>
          </a:p>
        </p:txBody>
      </p:sp>
      <p:sp>
        <p:nvSpPr>
          <p:cNvPr id="17" name="Text 15"/>
          <p:cNvSpPr/>
          <p:nvPr/>
        </p:nvSpPr>
        <p:spPr>
          <a:xfrm>
            <a:off x="3520440" y="1874520"/>
            <a:ext cx="2423160" cy="32004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(Propylthiouracil)</a:t>
            </a:r>
            <a:endParaRPr lang="en-US" sz="1100" dirty="0"/>
          </a:p>
        </p:txBody>
      </p:sp>
      <p:sp>
        <p:nvSpPr>
          <p:cNvPr id="18" name="Text 16"/>
          <p:cNvSpPr/>
          <p:nvPr/>
        </p:nvSpPr>
        <p:spPr>
          <a:xfrm>
            <a:off x="3566160" y="242316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ACTION</a:t>
            </a:r>
            <a:endParaRPr lang="en-US" sz="1000" dirty="0"/>
          </a:p>
        </p:txBody>
      </p:sp>
      <p:sp>
        <p:nvSpPr>
          <p:cNvPr id="19" name="Text 17"/>
          <p:cNvSpPr/>
          <p:nvPr/>
        </p:nvSpPr>
        <p:spPr>
          <a:xfrm>
            <a:off x="3566160" y="2697480"/>
            <a:ext cx="2331720" cy="6858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Blocks synthesis + T4→T3 conversion</a:t>
            </a:r>
            <a:endParaRPr lang="en-US" sz="1100" dirty="0"/>
          </a:p>
        </p:txBody>
      </p:sp>
      <p:sp>
        <p:nvSpPr>
          <p:cNvPr id="20" name="Shape 18"/>
          <p:cNvSpPr/>
          <p:nvPr/>
        </p:nvSpPr>
        <p:spPr>
          <a:xfrm>
            <a:off x="3566160" y="3429000"/>
            <a:ext cx="2331720" cy="0"/>
          </a:xfrm>
          <a:prstGeom prst="line">
            <a:avLst/>
          </a:prstGeom>
          <a:noFill/>
          <a:ln w="6350">
            <a:solidFill>
              <a:srgbClr val="CBD5E1"/>
            </a:solidFill>
            <a:prstDash val="solid"/>
          </a:ln>
        </p:spPr>
      </p:sp>
      <p:sp>
        <p:nvSpPr>
          <p:cNvPr id="21" name="Text 19"/>
          <p:cNvSpPr/>
          <p:nvPr/>
        </p:nvSpPr>
        <p:spPr>
          <a:xfrm>
            <a:off x="3566160" y="352044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KEY TEACHING</a:t>
            </a:r>
            <a:endParaRPr lang="en-US" sz="1000" dirty="0"/>
          </a:p>
        </p:txBody>
      </p:sp>
      <p:sp>
        <p:nvSpPr>
          <p:cNvPr id="22" name="Text 20"/>
          <p:cNvSpPr/>
          <p:nvPr/>
        </p:nvSpPr>
        <p:spPr>
          <a:xfrm>
            <a:off x="3566160" y="3794760"/>
            <a:ext cx="2331720" cy="246888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Preferred in 1st-trimester pregnancy + thyroid storm • Black box: hepatotoxicity • Monitor LFTs</a:t>
            </a:r>
            <a:endParaRPr lang="en-US" sz="1050" dirty="0"/>
          </a:p>
        </p:txBody>
      </p:sp>
      <p:sp>
        <p:nvSpPr>
          <p:cNvPr id="23" name="Shape 21"/>
          <p:cNvSpPr/>
          <p:nvPr/>
        </p:nvSpPr>
        <p:spPr>
          <a:xfrm>
            <a:off x="6126480" y="1417320"/>
            <a:ext cx="2606040" cy="4892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4" name="Shape 22"/>
          <p:cNvSpPr/>
          <p:nvPr/>
        </p:nvSpPr>
        <p:spPr>
          <a:xfrm>
            <a:off x="6126480" y="1417320"/>
            <a:ext cx="2606040" cy="868680"/>
          </a:xfrm>
          <a:prstGeom prst="rect">
            <a:avLst/>
          </a:prstGeom>
          <a:solidFill>
            <a:srgbClr val="155E75"/>
          </a:solidFill>
          <a:ln w="12700">
            <a:solidFill>
              <a:srgbClr val="155E75"/>
            </a:solidFill>
            <a:prstDash val="solid"/>
          </a:ln>
        </p:spPr>
      </p:sp>
      <p:sp>
        <p:nvSpPr>
          <p:cNvPr id="25" name="Text 23"/>
          <p:cNvSpPr/>
          <p:nvPr/>
        </p:nvSpPr>
        <p:spPr>
          <a:xfrm>
            <a:off x="6217920" y="1463040"/>
            <a:ext cx="24231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Iodine Solutions</a:t>
            </a:r>
            <a:endParaRPr lang="en-US" sz="1600" dirty="0"/>
          </a:p>
        </p:txBody>
      </p:sp>
      <p:sp>
        <p:nvSpPr>
          <p:cNvPr id="26" name="Text 24"/>
          <p:cNvSpPr/>
          <p:nvPr/>
        </p:nvSpPr>
        <p:spPr>
          <a:xfrm>
            <a:off x="6217920" y="1874520"/>
            <a:ext cx="2423160" cy="32004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SSKI, Lugol's</a:t>
            </a:r>
            <a:endParaRPr lang="en-US" sz="1100" dirty="0"/>
          </a:p>
        </p:txBody>
      </p:sp>
      <p:sp>
        <p:nvSpPr>
          <p:cNvPr id="27" name="Text 25"/>
          <p:cNvSpPr/>
          <p:nvPr/>
        </p:nvSpPr>
        <p:spPr>
          <a:xfrm>
            <a:off x="6263640" y="242316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ACTION</a:t>
            </a:r>
            <a:endParaRPr lang="en-US" sz="1000" dirty="0"/>
          </a:p>
        </p:txBody>
      </p:sp>
      <p:sp>
        <p:nvSpPr>
          <p:cNvPr id="28" name="Text 26"/>
          <p:cNvSpPr/>
          <p:nvPr/>
        </p:nvSpPr>
        <p:spPr>
          <a:xfrm>
            <a:off x="6263640" y="2697480"/>
            <a:ext cx="2331720" cy="6858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Inhibits hormone release from gland</a:t>
            </a:r>
            <a:endParaRPr lang="en-US" sz="1100" dirty="0"/>
          </a:p>
        </p:txBody>
      </p:sp>
      <p:sp>
        <p:nvSpPr>
          <p:cNvPr id="29" name="Shape 27"/>
          <p:cNvSpPr/>
          <p:nvPr/>
        </p:nvSpPr>
        <p:spPr>
          <a:xfrm>
            <a:off x="6263640" y="3429000"/>
            <a:ext cx="2331720" cy="0"/>
          </a:xfrm>
          <a:prstGeom prst="line">
            <a:avLst/>
          </a:prstGeom>
          <a:noFill/>
          <a:ln w="6350">
            <a:solidFill>
              <a:srgbClr val="CBD5E1"/>
            </a:solidFill>
            <a:prstDash val="solid"/>
          </a:ln>
        </p:spPr>
      </p:sp>
      <p:sp>
        <p:nvSpPr>
          <p:cNvPr id="30" name="Text 28"/>
          <p:cNvSpPr/>
          <p:nvPr/>
        </p:nvSpPr>
        <p:spPr>
          <a:xfrm>
            <a:off x="6263640" y="352044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KEY TEACHING</a:t>
            </a:r>
            <a:endParaRPr lang="en-US" sz="1000" dirty="0"/>
          </a:p>
        </p:txBody>
      </p:sp>
      <p:sp>
        <p:nvSpPr>
          <p:cNvPr id="31" name="Text 29"/>
          <p:cNvSpPr/>
          <p:nvPr/>
        </p:nvSpPr>
        <p:spPr>
          <a:xfrm>
            <a:off x="6263640" y="3794760"/>
            <a:ext cx="2331720" cy="246888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Short-term use (pre-op, storm) • Dilute in juice, sip through straw • Stains teeth</a:t>
            </a:r>
            <a:endParaRPr lang="en-US" sz="1050" dirty="0"/>
          </a:p>
        </p:txBody>
      </p:sp>
      <p:sp>
        <p:nvSpPr>
          <p:cNvPr id="32" name="Shape 30"/>
          <p:cNvSpPr/>
          <p:nvPr/>
        </p:nvSpPr>
        <p:spPr>
          <a:xfrm>
            <a:off x="8823960" y="1417320"/>
            <a:ext cx="2606040" cy="489204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3" name="Shape 31"/>
          <p:cNvSpPr/>
          <p:nvPr/>
        </p:nvSpPr>
        <p:spPr>
          <a:xfrm>
            <a:off x="8823960" y="1417320"/>
            <a:ext cx="2606040" cy="868680"/>
          </a:xfrm>
          <a:prstGeom prst="rect">
            <a:avLst/>
          </a:prstGeom>
          <a:solidFill>
            <a:srgbClr val="DC2626"/>
          </a:solidFill>
          <a:ln w="12700">
            <a:solidFill>
              <a:srgbClr val="DC2626"/>
            </a:solidFill>
            <a:prstDash val="solid"/>
          </a:ln>
        </p:spPr>
      </p:sp>
      <p:sp>
        <p:nvSpPr>
          <p:cNvPr id="34" name="Text 32"/>
          <p:cNvSpPr/>
          <p:nvPr/>
        </p:nvSpPr>
        <p:spPr>
          <a:xfrm>
            <a:off x="8915400" y="1463040"/>
            <a:ext cx="24231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Radioactive Iodine</a:t>
            </a:r>
            <a:endParaRPr lang="en-US" sz="1600" dirty="0"/>
          </a:p>
        </p:txBody>
      </p:sp>
      <p:sp>
        <p:nvSpPr>
          <p:cNvPr id="35" name="Text 33"/>
          <p:cNvSpPr/>
          <p:nvPr/>
        </p:nvSpPr>
        <p:spPr>
          <a:xfrm>
            <a:off x="8915400" y="1874520"/>
            <a:ext cx="2423160" cy="32004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I-131</a:t>
            </a:r>
            <a:endParaRPr lang="en-US" sz="1100" dirty="0"/>
          </a:p>
        </p:txBody>
      </p:sp>
      <p:sp>
        <p:nvSpPr>
          <p:cNvPr id="36" name="Text 34"/>
          <p:cNvSpPr/>
          <p:nvPr/>
        </p:nvSpPr>
        <p:spPr>
          <a:xfrm>
            <a:off x="8961120" y="242316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ACTION</a:t>
            </a:r>
            <a:endParaRPr lang="en-US" sz="1000" dirty="0"/>
          </a:p>
        </p:txBody>
      </p:sp>
      <p:sp>
        <p:nvSpPr>
          <p:cNvPr id="37" name="Text 35"/>
          <p:cNvSpPr/>
          <p:nvPr/>
        </p:nvSpPr>
        <p:spPr>
          <a:xfrm>
            <a:off x="8961120" y="2697480"/>
            <a:ext cx="2331720" cy="6858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Destroys thyroid tissue permanently</a:t>
            </a:r>
            <a:endParaRPr lang="en-US" sz="1100" dirty="0"/>
          </a:p>
        </p:txBody>
      </p:sp>
      <p:sp>
        <p:nvSpPr>
          <p:cNvPr id="38" name="Shape 36"/>
          <p:cNvSpPr/>
          <p:nvPr/>
        </p:nvSpPr>
        <p:spPr>
          <a:xfrm>
            <a:off x="8961120" y="3429000"/>
            <a:ext cx="2331720" cy="0"/>
          </a:xfrm>
          <a:prstGeom prst="line">
            <a:avLst/>
          </a:prstGeom>
          <a:noFill/>
          <a:ln w="6350">
            <a:solidFill>
              <a:srgbClr val="CBD5E1"/>
            </a:solidFill>
            <a:prstDash val="solid"/>
          </a:ln>
        </p:spPr>
      </p:sp>
      <p:sp>
        <p:nvSpPr>
          <p:cNvPr id="39" name="Text 37"/>
          <p:cNvSpPr/>
          <p:nvPr/>
        </p:nvSpPr>
        <p:spPr>
          <a:xfrm>
            <a:off x="8961120" y="3520440"/>
            <a:ext cx="2331720" cy="274320"/>
          </a:xfrm>
          <a:prstGeom prst="rect">
            <a:avLst/>
          </a:prstGeom>
          <a:noFill/>
          <a:ln/>
        </p:spPr>
        <p:txBody>
          <a:bodyPr wrap="square" lIns="0" tIns="0" rIns="0" bIns="0" rtlCol="0" anchor="t"/>
          <a:lstStyle/>
          <a:p>
            <a:pPr indent="0" marL="0">
              <a:buNone/>
            </a:pPr>
            <a:r>
              <a:rPr lang="en-US" sz="1000" b="1" dirty="0">
                <a:solidFill>
                  <a:srgbClr val="E36414"/>
                </a:solidFill>
                <a:latin typeface="Georgia" pitchFamily="34" charset="0"/>
                <a:ea typeface="Georgia" pitchFamily="34" charset="-122"/>
                <a:cs typeface="Georgia" pitchFamily="34" charset="-120"/>
              </a:rPr>
              <a:t>KEY TEACHING</a:t>
            </a:r>
            <a:endParaRPr lang="en-US" sz="1000" dirty="0"/>
          </a:p>
        </p:txBody>
      </p:sp>
      <p:sp>
        <p:nvSpPr>
          <p:cNvPr id="40" name="Text 38"/>
          <p:cNvSpPr/>
          <p:nvPr/>
        </p:nvSpPr>
        <p:spPr>
          <a:xfrm>
            <a:off x="8961120" y="3794760"/>
            <a:ext cx="2331720" cy="246888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Radiation precautions x 1 week • Avoid pregnant women &amp; children • Leads to lifelong hypothyroidism</a:t>
            </a:r>
            <a:endParaRPr lang="en-US" sz="1050" dirty="0"/>
          </a:p>
        </p:txBody>
      </p:sp>
      <p:sp>
        <p:nvSpPr>
          <p:cNvPr id="41" name="Text 39"/>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2" name="Text 40"/>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Thyroidectomy — Post-Op Nursing Priorities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Life-threatening complications must be anticipated</a:t>
            </a:r>
            <a:endParaRPr lang="en-US" sz="1400" dirty="0"/>
          </a:p>
        </p:txBody>
      </p:sp>
      <p:sp>
        <p:nvSpPr>
          <p:cNvPr id="5" name="Shape 3"/>
          <p:cNvSpPr/>
          <p:nvPr/>
        </p:nvSpPr>
        <p:spPr>
          <a:xfrm>
            <a:off x="731520" y="1417320"/>
            <a:ext cx="10698480" cy="868680"/>
          </a:xfrm>
          <a:prstGeom prst="rect">
            <a:avLst/>
          </a:prstGeom>
          <a:solidFill>
            <a:srgbClr val="0F4C5C"/>
          </a:solidFill>
          <a:ln w="12700">
            <a:solidFill>
              <a:srgbClr val="0F4C5C"/>
            </a:solidFill>
            <a:prstDash val="solid"/>
          </a:ln>
          <a:effectLst>
            <a:outerShdw sx="100000" sy="100000" kx="0" ky="0" algn="bl" rotWithShape="0" blurRad="127000" dist="254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14400" y="1554480"/>
            <a:ext cx="548640" cy="548640"/>
          </a:xfrm>
          <a:prstGeom prst="rect">
            <a:avLst/>
          </a:prstGeom>
        </p:spPr>
      </p:pic>
      <p:sp>
        <p:nvSpPr>
          <p:cNvPr id="7" name="Text 4"/>
          <p:cNvSpPr/>
          <p:nvPr/>
        </p:nvSpPr>
        <p:spPr>
          <a:xfrm>
            <a:off x="1600200" y="1463040"/>
            <a:ext cx="9738360" cy="36576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AT THE BEDSIDE AT ALL TIMES</a:t>
            </a:r>
            <a:endParaRPr lang="en-US" sz="1400" dirty="0"/>
          </a:p>
        </p:txBody>
      </p:sp>
      <p:sp>
        <p:nvSpPr>
          <p:cNvPr id="8" name="Text 5"/>
          <p:cNvSpPr/>
          <p:nvPr/>
        </p:nvSpPr>
        <p:spPr>
          <a:xfrm>
            <a:off x="1600200" y="1828800"/>
            <a:ext cx="97383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Tracheostomy set    •    Oxygen + suction    •    IV Calcium Gluconate    •    Keep HOB elevated 30–45°</a:t>
            </a:r>
            <a:endParaRPr lang="en-US" sz="1200" dirty="0"/>
          </a:p>
        </p:txBody>
      </p:sp>
      <p:sp>
        <p:nvSpPr>
          <p:cNvPr id="9" name="Shape 6"/>
          <p:cNvSpPr/>
          <p:nvPr/>
        </p:nvSpPr>
        <p:spPr>
          <a:xfrm>
            <a:off x="731520" y="2514600"/>
            <a:ext cx="2468880" cy="34747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0" name="Shape 7"/>
          <p:cNvSpPr/>
          <p:nvPr/>
        </p:nvSpPr>
        <p:spPr>
          <a:xfrm>
            <a:off x="731520" y="2514600"/>
            <a:ext cx="2468880" cy="73152"/>
          </a:xfrm>
          <a:prstGeom prst="rect">
            <a:avLst/>
          </a:prstGeom>
          <a:solidFill>
            <a:srgbClr val="DC2626"/>
          </a:solidFill>
          <a:ln w="12700">
            <a:solidFill>
              <a:srgbClr val="DC2626"/>
            </a:solidFill>
            <a:prstDash val="solid"/>
          </a:ln>
        </p:spPr>
      </p:sp>
      <p:sp>
        <p:nvSpPr>
          <p:cNvPr id="11" name="Shape 8"/>
          <p:cNvSpPr/>
          <p:nvPr/>
        </p:nvSpPr>
        <p:spPr>
          <a:xfrm>
            <a:off x="1600200" y="2834640"/>
            <a:ext cx="731520" cy="731520"/>
          </a:xfrm>
          <a:prstGeom prst="ellipse">
            <a:avLst/>
          </a:prstGeom>
          <a:solidFill>
            <a:srgbClr val="FEF3C7"/>
          </a:solidFill>
          <a:ln w="19050">
            <a:solidFill>
              <a:srgbClr val="DC2626"/>
            </a:solidFill>
            <a:prstDash val="solid"/>
          </a:ln>
        </p:spPr>
      </p:sp>
      <p:pic>
        <p:nvPicPr>
          <p:cNvPr id="12" name="Image 1" descr="preencoded.png">    </p:cNvPr>
          <p:cNvPicPr>
            <a:picLocks noChangeAspect="1"/>
          </p:cNvPicPr>
          <p:nvPr/>
        </p:nvPicPr>
        <p:blipFill>
          <a:blip r:embed="rId2"/>
          <a:stretch>
            <a:fillRect/>
          </a:stretch>
        </p:blipFill>
        <p:spPr>
          <a:xfrm>
            <a:off x="1737360" y="2971800"/>
            <a:ext cx="457200" cy="457200"/>
          </a:xfrm>
          <a:prstGeom prst="rect">
            <a:avLst/>
          </a:prstGeom>
        </p:spPr>
      </p:pic>
      <p:sp>
        <p:nvSpPr>
          <p:cNvPr id="13" name="Text 9"/>
          <p:cNvSpPr/>
          <p:nvPr/>
        </p:nvSpPr>
        <p:spPr>
          <a:xfrm>
            <a:off x="822960" y="3657600"/>
            <a:ext cx="2286000" cy="457200"/>
          </a:xfrm>
          <a:prstGeom prst="rect">
            <a:avLst/>
          </a:prstGeom>
          <a:noFill/>
          <a:ln/>
        </p:spPr>
        <p:txBody>
          <a:bodyPr wrap="square" lIns="0" tIns="0" rIns="0" bIns="0" rtlCol="0" anchor="ctr"/>
          <a:lstStyle/>
          <a:p>
            <a:pPr algn="ctr" indent="0" marL="0">
              <a:buNone/>
            </a:pPr>
            <a:r>
              <a:rPr lang="en-US" sz="1500" b="1" dirty="0">
                <a:solidFill>
                  <a:srgbClr val="DC2626"/>
                </a:solidFill>
                <a:latin typeface="Georgia" pitchFamily="34" charset="0"/>
                <a:ea typeface="Georgia" pitchFamily="34" charset="-122"/>
                <a:cs typeface="Georgia" pitchFamily="34" charset="-120"/>
              </a:rPr>
              <a:t>Hemorrhage</a:t>
            </a:r>
            <a:endParaRPr lang="en-US" sz="1500" dirty="0"/>
          </a:p>
        </p:txBody>
      </p:sp>
      <p:sp>
        <p:nvSpPr>
          <p:cNvPr id="14" name="Text 10"/>
          <p:cNvSpPr/>
          <p:nvPr/>
        </p:nvSpPr>
        <p:spPr>
          <a:xfrm>
            <a:off x="914400" y="4160520"/>
            <a:ext cx="2103120" cy="173736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Check POSTERIOR neck / behind dressing — blood pools there. Excessive drainage, neck swelling, difficulty swallowing.</a:t>
            </a:r>
            <a:endParaRPr lang="en-US" sz="1100" dirty="0"/>
          </a:p>
        </p:txBody>
      </p:sp>
      <p:sp>
        <p:nvSpPr>
          <p:cNvPr id="15" name="Shape 11"/>
          <p:cNvSpPr/>
          <p:nvPr/>
        </p:nvSpPr>
        <p:spPr>
          <a:xfrm>
            <a:off x="3474720" y="2514600"/>
            <a:ext cx="2468880" cy="34747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6" name="Shape 12"/>
          <p:cNvSpPr/>
          <p:nvPr/>
        </p:nvSpPr>
        <p:spPr>
          <a:xfrm>
            <a:off x="3474720" y="2514600"/>
            <a:ext cx="2468880" cy="73152"/>
          </a:xfrm>
          <a:prstGeom prst="rect">
            <a:avLst/>
          </a:prstGeom>
          <a:solidFill>
            <a:srgbClr val="E36414"/>
          </a:solidFill>
          <a:ln w="12700">
            <a:solidFill>
              <a:srgbClr val="E36414"/>
            </a:solidFill>
            <a:prstDash val="solid"/>
          </a:ln>
        </p:spPr>
      </p:sp>
      <p:sp>
        <p:nvSpPr>
          <p:cNvPr id="17" name="Shape 13"/>
          <p:cNvSpPr/>
          <p:nvPr/>
        </p:nvSpPr>
        <p:spPr>
          <a:xfrm>
            <a:off x="4343400" y="2834640"/>
            <a:ext cx="731520" cy="731520"/>
          </a:xfrm>
          <a:prstGeom prst="ellipse">
            <a:avLst/>
          </a:prstGeom>
          <a:solidFill>
            <a:srgbClr val="FEF3C7"/>
          </a:solidFill>
          <a:ln w="19050">
            <a:solidFill>
              <a:srgbClr val="E36414"/>
            </a:solidFill>
            <a:prstDash val="solid"/>
          </a:ln>
        </p:spPr>
      </p:sp>
      <p:pic>
        <p:nvPicPr>
          <p:cNvPr id="18" name="Image 2" descr="preencoded.png">    </p:cNvPr>
          <p:cNvPicPr>
            <a:picLocks noChangeAspect="1"/>
          </p:cNvPicPr>
          <p:nvPr/>
        </p:nvPicPr>
        <p:blipFill>
          <a:blip r:embed="rId3"/>
          <a:stretch>
            <a:fillRect/>
          </a:stretch>
        </p:blipFill>
        <p:spPr>
          <a:xfrm>
            <a:off x="4480560" y="2971800"/>
            <a:ext cx="457200" cy="457200"/>
          </a:xfrm>
          <a:prstGeom prst="rect">
            <a:avLst/>
          </a:prstGeom>
        </p:spPr>
      </p:pic>
      <p:sp>
        <p:nvSpPr>
          <p:cNvPr id="19" name="Text 14"/>
          <p:cNvSpPr/>
          <p:nvPr/>
        </p:nvSpPr>
        <p:spPr>
          <a:xfrm>
            <a:off x="3566160" y="3657600"/>
            <a:ext cx="2286000" cy="457200"/>
          </a:xfrm>
          <a:prstGeom prst="rect">
            <a:avLst/>
          </a:prstGeom>
          <a:noFill/>
          <a:ln/>
        </p:spPr>
        <p:txBody>
          <a:bodyPr wrap="square" lIns="0" tIns="0" rIns="0" bIns="0" rtlCol="0" anchor="ctr"/>
          <a:lstStyle/>
          <a:p>
            <a:pPr algn="ctr" indent="0" marL="0">
              <a:buNone/>
            </a:pPr>
            <a:r>
              <a:rPr lang="en-US" sz="1500" b="1" dirty="0">
                <a:solidFill>
                  <a:srgbClr val="E36414"/>
                </a:solidFill>
                <a:latin typeface="Georgia" pitchFamily="34" charset="0"/>
                <a:ea typeface="Georgia" pitchFamily="34" charset="-122"/>
                <a:cs typeface="Georgia" pitchFamily="34" charset="-120"/>
              </a:rPr>
              <a:t>Airway Obstruction</a:t>
            </a:r>
            <a:endParaRPr lang="en-US" sz="1500" dirty="0"/>
          </a:p>
        </p:txBody>
      </p:sp>
      <p:sp>
        <p:nvSpPr>
          <p:cNvPr id="20" name="Text 15"/>
          <p:cNvSpPr/>
          <p:nvPr/>
        </p:nvSpPr>
        <p:spPr>
          <a:xfrm>
            <a:off x="3657600" y="4160520"/>
            <a:ext cx="2103120" cy="173736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From swelling, bleeding, or laryngeal nerve damage. Stridor, hoarseness, dyspnea. Call provider immediately.</a:t>
            </a:r>
            <a:endParaRPr lang="en-US" sz="1100" dirty="0"/>
          </a:p>
        </p:txBody>
      </p:sp>
      <p:sp>
        <p:nvSpPr>
          <p:cNvPr id="21" name="Shape 16"/>
          <p:cNvSpPr/>
          <p:nvPr/>
        </p:nvSpPr>
        <p:spPr>
          <a:xfrm>
            <a:off x="6217920" y="2514600"/>
            <a:ext cx="2468880" cy="34747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2" name="Shape 17"/>
          <p:cNvSpPr/>
          <p:nvPr/>
        </p:nvSpPr>
        <p:spPr>
          <a:xfrm>
            <a:off x="6217920" y="2514600"/>
            <a:ext cx="2468880" cy="73152"/>
          </a:xfrm>
          <a:prstGeom prst="rect">
            <a:avLst/>
          </a:prstGeom>
          <a:solidFill>
            <a:srgbClr val="155E75"/>
          </a:solidFill>
          <a:ln w="12700">
            <a:solidFill>
              <a:srgbClr val="155E75"/>
            </a:solidFill>
            <a:prstDash val="solid"/>
          </a:ln>
        </p:spPr>
      </p:sp>
      <p:sp>
        <p:nvSpPr>
          <p:cNvPr id="23" name="Shape 18"/>
          <p:cNvSpPr/>
          <p:nvPr/>
        </p:nvSpPr>
        <p:spPr>
          <a:xfrm>
            <a:off x="7086600" y="2834640"/>
            <a:ext cx="731520" cy="731520"/>
          </a:xfrm>
          <a:prstGeom prst="ellipse">
            <a:avLst/>
          </a:prstGeom>
          <a:solidFill>
            <a:srgbClr val="FEF3C7"/>
          </a:solidFill>
          <a:ln w="19050">
            <a:solidFill>
              <a:srgbClr val="155E75"/>
            </a:solidFill>
            <a:prstDash val="solid"/>
          </a:ln>
        </p:spPr>
      </p:sp>
      <p:pic>
        <p:nvPicPr>
          <p:cNvPr id="24" name="Image 3" descr="preencoded.png">    </p:cNvPr>
          <p:cNvPicPr>
            <a:picLocks noChangeAspect="1"/>
          </p:cNvPicPr>
          <p:nvPr/>
        </p:nvPicPr>
        <p:blipFill>
          <a:blip r:embed="rId4"/>
          <a:stretch>
            <a:fillRect/>
          </a:stretch>
        </p:blipFill>
        <p:spPr>
          <a:xfrm>
            <a:off x="7223760" y="2971800"/>
            <a:ext cx="457200" cy="457200"/>
          </a:xfrm>
          <a:prstGeom prst="rect">
            <a:avLst/>
          </a:prstGeom>
        </p:spPr>
      </p:pic>
      <p:sp>
        <p:nvSpPr>
          <p:cNvPr id="25" name="Text 19"/>
          <p:cNvSpPr/>
          <p:nvPr/>
        </p:nvSpPr>
        <p:spPr>
          <a:xfrm>
            <a:off x="6309360" y="3657600"/>
            <a:ext cx="2286000" cy="457200"/>
          </a:xfrm>
          <a:prstGeom prst="rect">
            <a:avLst/>
          </a:prstGeom>
          <a:noFill/>
          <a:ln/>
        </p:spPr>
        <p:txBody>
          <a:bodyPr wrap="square" lIns="0" tIns="0" rIns="0" bIns="0" rtlCol="0" anchor="ctr"/>
          <a:lstStyle/>
          <a:p>
            <a:pPr algn="ctr" indent="0" marL="0">
              <a:buNone/>
            </a:pPr>
            <a:r>
              <a:rPr lang="en-US" sz="1500" b="1" dirty="0">
                <a:solidFill>
                  <a:srgbClr val="155E75"/>
                </a:solidFill>
                <a:latin typeface="Georgia" pitchFamily="34" charset="0"/>
                <a:ea typeface="Georgia" pitchFamily="34" charset="-122"/>
                <a:cs typeface="Georgia" pitchFamily="34" charset="-120"/>
              </a:rPr>
              <a:t>Tetany (↓Calcium)</a:t>
            </a:r>
            <a:endParaRPr lang="en-US" sz="1500" dirty="0"/>
          </a:p>
        </p:txBody>
      </p:sp>
      <p:sp>
        <p:nvSpPr>
          <p:cNvPr id="26" name="Text 20"/>
          <p:cNvSpPr/>
          <p:nvPr/>
        </p:nvSpPr>
        <p:spPr>
          <a:xfrm>
            <a:off x="6400800" y="4160520"/>
            <a:ext cx="2103120" cy="173736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Accidental parathyroid removal → hypocalcemia. Check Trousseau's + Chvostek's signs. Tingling lips/fingers.</a:t>
            </a:r>
            <a:endParaRPr lang="en-US" sz="1100" dirty="0"/>
          </a:p>
        </p:txBody>
      </p:sp>
      <p:sp>
        <p:nvSpPr>
          <p:cNvPr id="27" name="Shape 21"/>
          <p:cNvSpPr/>
          <p:nvPr/>
        </p:nvSpPr>
        <p:spPr>
          <a:xfrm>
            <a:off x="8961120" y="2514600"/>
            <a:ext cx="2468880" cy="34747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8" name="Shape 22"/>
          <p:cNvSpPr/>
          <p:nvPr/>
        </p:nvSpPr>
        <p:spPr>
          <a:xfrm>
            <a:off x="8961120" y="2514600"/>
            <a:ext cx="2468880" cy="73152"/>
          </a:xfrm>
          <a:prstGeom prst="rect">
            <a:avLst/>
          </a:prstGeom>
          <a:solidFill>
            <a:srgbClr val="0F4C5C"/>
          </a:solidFill>
          <a:ln w="12700">
            <a:solidFill>
              <a:srgbClr val="0F4C5C"/>
            </a:solidFill>
            <a:prstDash val="solid"/>
          </a:ln>
        </p:spPr>
      </p:sp>
      <p:sp>
        <p:nvSpPr>
          <p:cNvPr id="29" name="Shape 23"/>
          <p:cNvSpPr/>
          <p:nvPr/>
        </p:nvSpPr>
        <p:spPr>
          <a:xfrm>
            <a:off x="9829800" y="2834640"/>
            <a:ext cx="731520" cy="731520"/>
          </a:xfrm>
          <a:prstGeom prst="ellipse">
            <a:avLst/>
          </a:prstGeom>
          <a:solidFill>
            <a:srgbClr val="FEF3C7"/>
          </a:solidFill>
          <a:ln w="19050">
            <a:solidFill>
              <a:srgbClr val="0F4C5C"/>
            </a:solidFill>
            <a:prstDash val="solid"/>
          </a:ln>
        </p:spPr>
      </p:sp>
      <p:pic>
        <p:nvPicPr>
          <p:cNvPr id="30" name="Image 4" descr="preencoded.png">    </p:cNvPr>
          <p:cNvPicPr>
            <a:picLocks noChangeAspect="1"/>
          </p:cNvPicPr>
          <p:nvPr/>
        </p:nvPicPr>
        <p:blipFill>
          <a:blip r:embed="rId5"/>
          <a:stretch>
            <a:fillRect/>
          </a:stretch>
        </p:blipFill>
        <p:spPr>
          <a:xfrm>
            <a:off x="9966960" y="2971800"/>
            <a:ext cx="457200" cy="457200"/>
          </a:xfrm>
          <a:prstGeom prst="rect">
            <a:avLst/>
          </a:prstGeom>
        </p:spPr>
      </p:pic>
      <p:sp>
        <p:nvSpPr>
          <p:cNvPr id="31" name="Text 24"/>
          <p:cNvSpPr/>
          <p:nvPr/>
        </p:nvSpPr>
        <p:spPr>
          <a:xfrm>
            <a:off x="9052560" y="3657600"/>
            <a:ext cx="2286000" cy="457200"/>
          </a:xfrm>
          <a:prstGeom prst="rect">
            <a:avLst/>
          </a:prstGeom>
          <a:noFill/>
          <a:ln/>
        </p:spPr>
        <p:txBody>
          <a:bodyPr wrap="square" lIns="0" tIns="0" rIns="0" bIns="0" rtlCol="0" anchor="ctr"/>
          <a:lstStyle/>
          <a:p>
            <a:pPr algn="ctr" indent="0" marL="0">
              <a:buNone/>
            </a:pPr>
            <a:r>
              <a:rPr lang="en-US" sz="1500" b="1" dirty="0">
                <a:solidFill>
                  <a:srgbClr val="0F4C5C"/>
                </a:solidFill>
                <a:latin typeface="Georgia" pitchFamily="34" charset="0"/>
                <a:ea typeface="Georgia" pitchFamily="34" charset="-122"/>
                <a:cs typeface="Georgia" pitchFamily="34" charset="-120"/>
              </a:rPr>
              <a:t>Thyroid Storm</a:t>
            </a:r>
            <a:endParaRPr lang="en-US" sz="1500" dirty="0"/>
          </a:p>
        </p:txBody>
      </p:sp>
      <p:sp>
        <p:nvSpPr>
          <p:cNvPr id="32" name="Text 25"/>
          <p:cNvSpPr/>
          <p:nvPr/>
        </p:nvSpPr>
        <p:spPr>
          <a:xfrm>
            <a:off x="9144000" y="4160520"/>
            <a:ext cx="2103120" cy="173736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Release of hormone during manipulation → crisis. Fever, tachycardia, AMS. Rare but life-threatening.</a:t>
            </a:r>
            <a:endParaRPr lang="en-US" sz="1100" dirty="0"/>
          </a:p>
        </p:txBody>
      </p:sp>
      <p:sp>
        <p:nvSpPr>
          <p:cNvPr id="33" name="Text 26"/>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4" name="Text 27"/>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Hypoparathyroidism</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 PTH → ↓ Calcium + ↑ Phosphorus</a:t>
            </a:r>
            <a:endParaRPr lang="en-US" sz="1400" dirty="0"/>
          </a:p>
        </p:txBody>
      </p:sp>
      <p:sp>
        <p:nvSpPr>
          <p:cNvPr id="5" name="Shape 3"/>
          <p:cNvSpPr/>
          <p:nvPr/>
        </p:nvSpPr>
        <p:spPr>
          <a:xfrm>
            <a:off x="731520" y="1417320"/>
            <a:ext cx="53492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5349240" cy="50292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868680" y="1490472"/>
            <a:ext cx="347472" cy="347472"/>
          </a:xfrm>
          <a:prstGeom prst="rect">
            <a:avLst/>
          </a:prstGeom>
        </p:spPr>
      </p:pic>
      <p:sp>
        <p:nvSpPr>
          <p:cNvPr id="8" name="Text 5"/>
          <p:cNvSpPr/>
          <p:nvPr/>
        </p:nvSpPr>
        <p:spPr>
          <a:xfrm>
            <a:off x="1280160" y="1417320"/>
            <a:ext cx="48006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Pathophysiology</a:t>
            </a:r>
            <a:endParaRPr lang="en-US" sz="1400" dirty="0"/>
          </a:p>
        </p:txBody>
      </p:sp>
      <p:sp>
        <p:nvSpPr>
          <p:cNvPr id="9" name="Text 6"/>
          <p:cNvSpPr/>
          <p:nvPr/>
        </p:nvSpPr>
        <p:spPr>
          <a:xfrm>
            <a:off x="914400" y="2057400"/>
            <a:ext cx="498348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Most common cause: accidental removal or damage to parathyroid glands during thyroidectomy.</a:t>
            </a:r>
            <a:endParaRPr lang="en-US" sz="1150" dirty="0"/>
          </a:p>
        </p:txBody>
      </p:sp>
      <p:sp>
        <p:nvSpPr>
          <p:cNvPr id="10" name="Shape 7"/>
          <p:cNvSpPr/>
          <p:nvPr/>
        </p:nvSpPr>
        <p:spPr>
          <a:xfrm>
            <a:off x="914400" y="2788920"/>
            <a:ext cx="4983480" cy="1371600"/>
          </a:xfrm>
          <a:prstGeom prst="rect">
            <a:avLst/>
          </a:prstGeom>
          <a:solidFill>
            <a:srgbClr val="E0F2FE"/>
          </a:solidFill>
          <a:ln w="6350">
            <a:solidFill>
              <a:srgbClr val="0F4C5C"/>
            </a:solidFill>
            <a:prstDash val="solid"/>
          </a:ln>
        </p:spPr>
      </p:sp>
      <p:sp>
        <p:nvSpPr>
          <p:cNvPr id="11" name="Text 8"/>
          <p:cNvSpPr/>
          <p:nvPr/>
        </p:nvSpPr>
        <p:spPr>
          <a:xfrm>
            <a:off x="1051560" y="2834640"/>
            <a:ext cx="4709160" cy="274320"/>
          </a:xfrm>
          <a:prstGeom prst="rect">
            <a:avLst/>
          </a:prstGeom>
          <a:noFill/>
          <a:ln/>
        </p:spPr>
        <p:txBody>
          <a:bodyPr wrap="square" lIns="0" tIns="0" rIns="0" bIns="0" rtlCol="0" anchor="ctr"/>
          <a:lstStyle/>
          <a:p>
            <a:pPr indent="0" marL="0">
              <a:buNone/>
            </a:pPr>
            <a:r>
              <a:rPr lang="en-US" sz="1050" b="1" dirty="0">
                <a:solidFill>
                  <a:srgbClr val="0F4C5C"/>
                </a:solidFill>
                <a:latin typeface="Georgia" pitchFamily="34" charset="0"/>
                <a:ea typeface="Georgia" pitchFamily="34" charset="-122"/>
                <a:cs typeface="Georgia" pitchFamily="34" charset="-120"/>
              </a:rPr>
              <a:t>LAB PATTERN</a:t>
            </a:r>
            <a:endParaRPr lang="en-US" sz="1050" dirty="0"/>
          </a:p>
        </p:txBody>
      </p:sp>
      <p:sp>
        <p:nvSpPr>
          <p:cNvPr id="12" name="Text 9"/>
          <p:cNvSpPr/>
          <p:nvPr/>
        </p:nvSpPr>
        <p:spPr>
          <a:xfrm>
            <a:off x="1051560" y="3108960"/>
            <a:ext cx="4709160" cy="100584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Serum Calcium   (normal 9.0–10.5 mg/dL)</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 Serum Phosphorus   (normal 3.0–4.5 mg/dL)</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 PTH level</a:t>
            </a:r>
            <a:endParaRPr lang="en-US" sz="1150" dirty="0"/>
          </a:p>
        </p:txBody>
      </p:sp>
      <p:sp>
        <p:nvSpPr>
          <p:cNvPr id="13" name="Text 10"/>
          <p:cNvSpPr/>
          <p:nvPr/>
        </p:nvSpPr>
        <p:spPr>
          <a:xfrm>
            <a:off x="914400" y="4297680"/>
            <a:ext cx="4983480" cy="457200"/>
          </a:xfrm>
          <a:prstGeom prst="rect">
            <a:avLst/>
          </a:prstGeom>
          <a:noFill/>
          <a:ln/>
        </p:spPr>
        <p:txBody>
          <a:bodyPr wrap="square" lIns="0" tIns="0" rIns="0" bIns="0" rtlCol="0" anchor="ctr"/>
          <a:lstStyle/>
          <a:p>
            <a:pPr algn="ctr" indent="0" marL="0">
              <a:buNone/>
            </a:pPr>
            <a:r>
              <a:rPr lang="en-US" sz="1100" i="1" dirty="0">
                <a:solidFill>
                  <a:srgbClr val="E36414"/>
                </a:solidFill>
                <a:latin typeface="Calibri" pitchFamily="34" charset="0"/>
                <a:ea typeface="Calibri" pitchFamily="34" charset="-122"/>
                <a:cs typeface="Calibri" pitchFamily="34" charset="-120"/>
              </a:rPr>
              <a:t>Remember: Calcium and Phosphorus have an INVERSE relationship (see-saw)</a:t>
            </a:r>
            <a:endParaRPr lang="en-US" sz="1100" dirty="0"/>
          </a:p>
        </p:txBody>
      </p:sp>
      <p:sp>
        <p:nvSpPr>
          <p:cNvPr id="14" name="Text 11"/>
          <p:cNvSpPr/>
          <p:nvPr/>
        </p:nvSpPr>
        <p:spPr>
          <a:xfrm>
            <a:off x="914400" y="4892040"/>
            <a:ext cx="4983480" cy="274320"/>
          </a:xfrm>
          <a:prstGeom prst="rect">
            <a:avLst/>
          </a:prstGeom>
          <a:noFill/>
          <a:ln/>
        </p:spPr>
        <p:txBody>
          <a:bodyPr wrap="square" lIns="0" tIns="0" rIns="0" bIns="0" rtlCol="0" anchor="ctr"/>
          <a:lstStyle/>
          <a:p>
            <a:pPr indent="0" marL="0">
              <a:buNone/>
            </a:pPr>
            <a:r>
              <a:rPr lang="en-US" sz="1100" b="1" dirty="0">
                <a:solidFill>
                  <a:srgbClr val="0F4C5C"/>
                </a:solidFill>
                <a:latin typeface="Georgia" pitchFamily="34" charset="0"/>
                <a:ea typeface="Georgia" pitchFamily="34" charset="-122"/>
                <a:cs typeface="Georgia" pitchFamily="34" charset="-120"/>
              </a:rPr>
              <a:t>TREATMENT</a:t>
            </a:r>
            <a:endParaRPr lang="en-US" sz="1100" dirty="0"/>
          </a:p>
        </p:txBody>
      </p:sp>
      <p:sp>
        <p:nvSpPr>
          <p:cNvPr id="15" name="Text 12"/>
          <p:cNvSpPr/>
          <p:nvPr/>
        </p:nvSpPr>
        <p:spPr>
          <a:xfrm>
            <a:off x="914400" y="5166360"/>
            <a:ext cx="4983480" cy="10058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Calcium gluconate IV (acute), oral calcium + vitamin D lifelong, high-calcium / low-phosphorus diet</a:t>
            </a:r>
            <a:endParaRPr lang="en-US" sz="1100" dirty="0"/>
          </a:p>
        </p:txBody>
      </p:sp>
      <p:sp>
        <p:nvSpPr>
          <p:cNvPr id="16" name="Shape 13"/>
          <p:cNvSpPr/>
          <p:nvPr/>
        </p:nvSpPr>
        <p:spPr>
          <a:xfrm>
            <a:off x="6263640" y="1417320"/>
            <a:ext cx="516636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7" name="Shape 14"/>
          <p:cNvSpPr/>
          <p:nvPr/>
        </p:nvSpPr>
        <p:spPr>
          <a:xfrm>
            <a:off x="6263640" y="1417320"/>
            <a:ext cx="5166360" cy="502920"/>
          </a:xfrm>
          <a:prstGeom prst="rect">
            <a:avLst/>
          </a:prstGeom>
          <a:solidFill>
            <a:srgbClr val="DC2626"/>
          </a:solidFill>
          <a:ln w="12700">
            <a:solidFill>
              <a:srgbClr val="DC2626"/>
            </a:solidFill>
            <a:prstDash val="solid"/>
          </a:ln>
        </p:spPr>
      </p:sp>
      <p:pic>
        <p:nvPicPr>
          <p:cNvPr id="18" name="Image 1" descr="preencoded.png">    </p:cNvPr>
          <p:cNvPicPr>
            <a:picLocks noChangeAspect="1"/>
          </p:cNvPicPr>
          <p:nvPr/>
        </p:nvPicPr>
        <p:blipFill>
          <a:blip r:embed="rId2"/>
          <a:stretch>
            <a:fillRect/>
          </a:stretch>
        </p:blipFill>
        <p:spPr>
          <a:xfrm>
            <a:off x="6400800" y="1490472"/>
            <a:ext cx="347472" cy="347472"/>
          </a:xfrm>
          <a:prstGeom prst="rect">
            <a:avLst/>
          </a:prstGeom>
        </p:spPr>
      </p:pic>
      <p:sp>
        <p:nvSpPr>
          <p:cNvPr id="19" name="Text 15"/>
          <p:cNvSpPr/>
          <p:nvPr/>
        </p:nvSpPr>
        <p:spPr>
          <a:xfrm>
            <a:off x="6812280" y="1417320"/>
            <a:ext cx="461772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Signs of Hypocalcemia — TETANY</a:t>
            </a:r>
            <a:endParaRPr lang="en-US" sz="1300" dirty="0"/>
          </a:p>
        </p:txBody>
      </p:sp>
      <p:sp>
        <p:nvSpPr>
          <p:cNvPr id="20" name="Shape 16"/>
          <p:cNvSpPr/>
          <p:nvPr/>
        </p:nvSpPr>
        <p:spPr>
          <a:xfrm>
            <a:off x="6446520" y="2176272"/>
            <a:ext cx="182880" cy="182880"/>
          </a:xfrm>
          <a:prstGeom prst="ellipse">
            <a:avLst/>
          </a:prstGeom>
          <a:solidFill>
            <a:srgbClr val="DC2626"/>
          </a:solidFill>
          <a:ln w="12700">
            <a:solidFill>
              <a:srgbClr val="DC2626"/>
            </a:solidFill>
            <a:prstDash val="solid"/>
          </a:ln>
        </p:spPr>
      </p:sp>
      <p:sp>
        <p:nvSpPr>
          <p:cNvPr id="21" name="Text 17"/>
          <p:cNvSpPr/>
          <p:nvPr/>
        </p:nvSpPr>
        <p:spPr>
          <a:xfrm>
            <a:off x="6766560" y="2103120"/>
            <a:ext cx="4572000" cy="228600"/>
          </a:xfrm>
          <a:prstGeom prst="rect">
            <a:avLst/>
          </a:prstGeom>
          <a:noFill/>
          <a:ln/>
        </p:spPr>
        <p:txBody>
          <a:bodyPr wrap="square" lIns="0" tIns="0" rIns="0" bIns="0" rtlCol="0" anchor="ctr"/>
          <a:lstStyle/>
          <a:p>
            <a:pPr indent="0" marL="0">
              <a:buNone/>
            </a:pPr>
            <a:r>
              <a:rPr lang="en-US" sz="1150" b="1" dirty="0">
                <a:solidFill>
                  <a:srgbClr val="1E293B"/>
                </a:solidFill>
                <a:latin typeface="Georgia" pitchFamily="34" charset="0"/>
                <a:ea typeface="Georgia" pitchFamily="34" charset="-122"/>
                <a:cs typeface="Georgia" pitchFamily="34" charset="-120"/>
              </a:rPr>
              <a:t>Trousseau's Sign</a:t>
            </a:r>
            <a:endParaRPr lang="en-US" sz="1150" dirty="0"/>
          </a:p>
        </p:txBody>
      </p:sp>
      <p:sp>
        <p:nvSpPr>
          <p:cNvPr id="22" name="Text 18"/>
          <p:cNvSpPr/>
          <p:nvPr/>
        </p:nvSpPr>
        <p:spPr>
          <a:xfrm>
            <a:off x="6766560" y="2331720"/>
            <a:ext cx="457200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Carpal spasm when BP cuff inflated &gt; systolic x 3 min</a:t>
            </a:r>
            <a:endParaRPr lang="en-US" sz="1000" dirty="0"/>
          </a:p>
        </p:txBody>
      </p:sp>
      <p:sp>
        <p:nvSpPr>
          <p:cNvPr id="23" name="Shape 19"/>
          <p:cNvSpPr/>
          <p:nvPr/>
        </p:nvSpPr>
        <p:spPr>
          <a:xfrm>
            <a:off x="6446520" y="2752344"/>
            <a:ext cx="182880" cy="182880"/>
          </a:xfrm>
          <a:prstGeom prst="ellipse">
            <a:avLst/>
          </a:prstGeom>
          <a:solidFill>
            <a:srgbClr val="DC2626"/>
          </a:solidFill>
          <a:ln w="12700">
            <a:solidFill>
              <a:srgbClr val="DC2626"/>
            </a:solidFill>
            <a:prstDash val="solid"/>
          </a:ln>
        </p:spPr>
      </p:sp>
      <p:sp>
        <p:nvSpPr>
          <p:cNvPr id="24" name="Text 20"/>
          <p:cNvSpPr/>
          <p:nvPr/>
        </p:nvSpPr>
        <p:spPr>
          <a:xfrm>
            <a:off x="6766560" y="2679192"/>
            <a:ext cx="4572000" cy="228600"/>
          </a:xfrm>
          <a:prstGeom prst="rect">
            <a:avLst/>
          </a:prstGeom>
          <a:noFill/>
          <a:ln/>
        </p:spPr>
        <p:txBody>
          <a:bodyPr wrap="square" lIns="0" tIns="0" rIns="0" bIns="0" rtlCol="0" anchor="ctr"/>
          <a:lstStyle/>
          <a:p>
            <a:pPr indent="0" marL="0">
              <a:buNone/>
            </a:pPr>
            <a:r>
              <a:rPr lang="en-US" sz="1150" b="1" dirty="0">
                <a:solidFill>
                  <a:srgbClr val="1E293B"/>
                </a:solidFill>
                <a:latin typeface="Georgia" pitchFamily="34" charset="0"/>
                <a:ea typeface="Georgia" pitchFamily="34" charset="-122"/>
                <a:cs typeface="Georgia" pitchFamily="34" charset="-120"/>
              </a:rPr>
              <a:t>Chvostek's Sign</a:t>
            </a:r>
            <a:endParaRPr lang="en-US" sz="1150" dirty="0"/>
          </a:p>
        </p:txBody>
      </p:sp>
      <p:sp>
        <p:nvSpPr>
          <p:cNvPr id="25" name="Text 21"/>
          <p:cNvSpPr/>
          <p:nvPr/>
        </p:nvSpPr>
        <p:spPr>
          <a:xfrm>
            <a:off x="6766560" y="2907792"/>
            <a:ext cx="457200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Facial twitching when tapping over facial nerve (cheek)</a:t>
            </a:r>
            <a:endParaRPr lang="en-US" sz="1000" dirty="0"/>
          </a:p>
        </p:txBody>
      </p:sp>
      <p:sp>
        <p:nvSpPr>
          <p:cNvPr id="26" name="Shape 22"/>
          <p:cNvSpPr/>
          <p:nvPr/>
        </p:nvSpPr>
        <p:spPr>
          <a:xfrm>
            <a:off x="6446520" y="3328416"/>
            <a:ext cx="182880" cy="182880"/>
          </a:xfrm>
          <a:prstGeom prst="ellipse">
            <a:avLst/>
          </a:prstGeom>
          <a:solidFill>
            <a:srgbClr val="DC2626"/>
          </a:solidFill>
          <a:ln w="12700">
            <a:solidFill>
              <a:srgbClr val="DC2626"/>
            </a:solidFill>
            <a:prstDash val="solid"/>
          </a:ln>
        </p:spPr>
      </p:sp>
      <p:sp>
        <p:nvSpPr>
          <p:cNvPr id="27" name="Text 23"/>
          <p:cNvSpPr/>
          <p:nvPr/>
        </p:nvSpPr>
        <p:spPr>
          <a:xfrm>
            <a:off x="6766560" y="3255264"/>
            <a:ext cx="4572000" cy="228600"/>
          </a:xfrm>
          <a:prstGeom prst="rect">
            <a:avLst/>
          </a:prstGeom>
          <a:noFill/>
          <a:ln/>
        </p:spPr>
        <p:txBody>
          <a:bodyPr wrap="square" lIns="0" tIns="0" rIns="0" bIns="0" rtlCol="0" anchor="ctr"/>
          <a:lstStyle/>
          <a:p>
            <a:pPr indent="0" marL="0">
              <a:buNone/>
            </a:pPr>
            <a:r>
              <a:rPr lang="en-US" sz="1150" b="1" dirty="0">
                <a:solidFill>
                  <a:srgbClr val="1E293B"/>
                </a:solidFill>
                <a:latin typeface="Georgia" pitchFamily="34" charset="0"/>
                <a:ea typeface="Georgia" pitchFamily="34" charset="-122"/>
                <a:cs typeface="Georgia" pitchFamily="34" charset="-120"/>
              </a:rPr>
              <a:t>Numbness / Tingling</a:t>
            </a:r>
            <a:endParaRPr lang="en-US" sz="1150" dirty="0"/>
          </a:p>
        </p:txBody>
      </p:sp>
      <p:sp>
        <p:nvSpPr>
          <p:cNvPr id="28" name="Text 24"/>
          <p:cNvSpPr/>
          <p:nvPr/>
        </p:nvSpPr>
        <p:spPr>
          <a:xfrm>
            <a:off x="6766560" y="3483864"/>
            <a:ext cx="457200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Perioral, fingers, toes — earliest symptom</a:t>
            </a:r>
            <a:endParaRPr lang="en-US" sz="1000" dirty="0"/>
          </a:p>
        </p:txBody>
      </p:sp>
      <p:sp>
        <p:nvSpPr>
          <p:cNvPr id="29" name="Shape 25"/>
          <p:cNvSpPr/>
          <p:nvPr/>
        </p:nvSpPr>
        <p:spPr>
          <a:xfrm>
            <a:off x="6446520" y="3904488"/>
            <a:ext cx="182880" cy="182880"/>
          </a:xfrm>
          <a:prstGeom prst="ellipse">
            <a:avLst/>
          </a:prstGeom>
          <a:solidFill>
            <a:srgbClr val="DC2626"/>
          </a:solidFill>
          <a:ln w="12700">
            <a:solidFill>
              <a:srgbClr val="DC2626"/>
            </a:solidFill>
            <a:prstDash val="solid"/>
          </a:ln>
        </p:spPr>
      </p:sp>
      <p:sp>
        <p:nvSpPr>
          <p:cNvPr id="30" name="Text 26"/>
          <p:cNvSpPr/>
          <p:nvPr/>
        </p:nvSpPr>
        <p:spPr>
          <a:xfrm>
            <a:off x="6766560" y="3831336"/>
            <a:ext cx="4572000" cy="228600"/>
          </a:xfrm>
          <a:prstGeom prst="rect">
            <a:avLst/>
          </a:prstGeom>
          <a:noFill/>
          <a:ln/>
        </p:spPr>
        <p:txBody>
          <a:bodyPr wrap="square" lIns="0" tIns="0" rIns="0" bIns="0" rtlCol="0" anchor="ctr"/>
          <a:lstStyle/>
          <a:p>
            <a:pPr indent="0" marL="0">
              <a:buNone/>
            </a:pPr>
            <a:r>
              <a:rPr lang="en-US" sz="1150" b="1" dirty="0">
                <a:solidFill>
                  <a:srgbClr val="1E293B"/>
                </a:solidFill>
                <a:latin typeface="Georgia" pitchFamily="34" charset="0"/>
                <a:ea typeface="Georgia" pitchFamily="34" charset="-122"/>
                <a:cs typeface="Georgia" pitchFamily="34" charset="-120"/>
              </a:rPr>
              <a:t>Muscle Cramps / Spasms</a:t>
            </a:r>
            <a:endParaRPr lang="en-US" sz="1150" dirty="0"/>
          </a:p>
        </p:txBody>
      </p:sp>
      <p:sp>
        <p:nvSpPr>
          <p:cNvPr id="31" name="Text 27"/>
          <p:cNvSpPr/>
          <p:nvPr/>
        </p:nvSpPr>
        <p:spPr>
          <a:xfrm>
            <a:off x="6766560" y="4059936"/>
            <a:ext cx="457200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Especially hands ("main d'accoucheur")</a:t>
            </a:r>
            <a:endParaRPr lang="en-US" sz="1000" dirty="0"/>
          </a:p>
        </p:txBody>
      </p:sp>
      <p:sp>
        <p:nvSpPr>
          <p:cNvPr id="32" name="Shape 28"/>
          <p:cNvSpPr/>
          <p:nvPr/>
        </p:nvSpPr>
        <p:spPr>
          <a:xfrm>
            <a:off x="6446520" y="4480560"/>
            <a:ext cx="182880" cy="182880"/>
          </a:xfrm>
          <a:prstGeom prst="ellipse">
            <a:avLst/>
          </a:prstGeom>
          <a:solidFill>
            <a:srgbClr val="DC2626"/>
          </a:solidFill>
          <a:ln w="12700">
            <a:solidFill>
              <a:srgbClr val="DC2626"/>
            </a:solidFill>
            <a:prstDash val="solid"/>
          </a:ln>
        </p:spPr>
      </p:sp>
      <p:sp>
        <p:nvSpPr>
          <p:cNvPr id="33" name="Text 29"/>
          <p:cNvSpPr/>
          <p:nvPr/>
        </p:nvSpPr>
        <p:spPr>
          <a:xfrm>
            <a:off x="6766560" y="4407408"/>
            <a:ext cx="4572000" cy="228600"/>
          </a:xfrm>
          <a:prstGeom prst="rect">
            <a:avLst/>
          </a:prstGeom>
          <a:noFill/>
          <a:ln/>
        </p:spPr>
        <p:txBody>
          <a:bodyPr wrap="square" lIns="0" tIns="0" rIns="0" bIns="0" rtlCol="0" anchor="ctr"/>
          <a:lstStyle/>
          <a:p>
            <a:pPr indent="0" marL="0">
              <a:buNone/>
            </a:pPr>
            <a:r>
              <a:rPr lang="en-US" sz="1150" b="1" dirty="0">
                <a:solidFill>
                  <a:srgbClr val="1E293B"/>
                </a:solidFill>
                <a:latin typeface="Georgia" pitchFamily="34" charset="0"/>
                <a:ea typeface="Georgia" pitchFamily="34" charset="-122"/>
                <a:cs typeface="Georgia" pitchFamily="34" charset="-120"/>
              </a:rPr>
              <a:t>Laryngospasm</a:t>
            </a:r>
            <a:endParaRPr lang="en-US" sz="1150" dirty="0"/>
          </a:p>
        </p:txBody>
      </p:sp>
      <p:sp>
        <p:nvSpPr>
          <p:cNvPr id="34" name="Text 30"/>
          <p:cNvSpPr/>
          <p:nvPr/>
        </p:nvSpPr>
        <p:spPr>
          <a:xfrm>
            <a:off x="6766560" y="4636008"/>
            <a:ext cx="457200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Respiratory emergency — stridor, airway closure</a:t>
            </a:r>
            <a:endParaRPr lang="en-US" sz="1000" dirty="0"/>
          </a:p>
        </p:txBody>
      </p:sp>
      <p:sp>
        <p:nvSpPr>
          <p:cNvPr id="35" name="Shape 31"/>
          <p:cNvSpPr/>
          <p:nvPr/>
        </p:nvSpPr>
        <p:spPr>
          <a:xfrm>
            <a:off x="6446520" y="5056632"/>
            <a:ext cx="182880" cy="182880"/>
          </a:xfrm>
          <a:prstGeom prst="ellipse">
            <a:avLst/>
          </a:prstGeom>
          <a:solidFill>
            <a:srgbClr val="DC2626"/>
          </a:solidFill>
          <a:ln w="12700">
            <a:solidFill>
              <a:srgbClr val="DC2626"/>
            </a:solidFill>
            <a:prstDash val="solid"/>
          </a:ln>
        </p:spPr>
      </p:sp>
      <p:sp>
        <p:nvSpPr>
          <p:cNvPr id="36" name="Text 32"/>
          <p:cNvSpPr/>
          <p:nvPr/>
        </p:nvSpPr>
        <p:spPr>
          <a:xfrm>
            <a:off x="6766560" y="4983480"/>
            <a:ext cx="4572000" cy="228600"/>
          </a:xfrm>
          <a:prstGeom prst="rect">
            <a:avLst/>
          </a:prstGeom>
          <a:noFill/>
          <a:ln/>
        </p:spPr>
        <p:txBody>
          <a:bodyPr wrap="square" lIns="0" tIns="0" rIns="0" bIns="0" rtlCol="0" anchor="ctr"/>
          <a:lstStyle/>
          <a:p>
            <a:pPr indent="0" marL="0">
              <a:buNone/>
            </a:pPr>
            <a:r>
              <a:rPr lang="en-US" sz="1150" b="1" dirty="0">
                <a:solidFill>
                  <a:srgbClr val="1E293B"/>
                </a:solidFill>
                <a:latin typeface="Georgia" pitchFamily="34" charset="0"/>
                <a:ea typeface="Georgia" pitchFamily="34" charset="-122"/>
                <a:cs typeface="Georgia" pitchFamily="34" charset="-120"/>
              </a:rPr>
              <a:t>Seizures</a:t>
            </a:r>
            <a:endParaRPr lang="en-US" sz="1150" dirty="0"/>
          </a:p>
        </p:txBody>
      </p:sp>
      <p:sp>
        <p:nvSpPr>
          <p:cNvPr id="37" name="Text 33"/>
          <p:cNvSpPr/>
          <p:nvPr/>
        </p:nvSpPr>
        <p:spPr>
          <a:xfrm>
            <a:off x="6766560" y="5212080"/>
            <a:ext cx="457200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Late, severe hypocalcemia finding</a:t>
            </a:r>
            <a:endParaRPr lang="en-US" sz="1000" dirty="0"/>
          </a:p>
        </p:txBody>
      </p:sp>
      <p:sp>
        <p:nvSpPr>
          <p:cNvPr id="38" name="Shape 34"/>
          <p:cNvSpPr/>
          <p:nvPr/>
        </p:nvSpPr>
        <p:spPr>
          <a:xfrm>
            <a:off x="6446520" y="5632704"/>
            <a:ext cx="182880" cy="182880"/>
          </a:xfrm>
          <a:prstGeom prst="ellipse">
            <a:avLst/>
          </a:prstGeom>
          <a:solidFill>
            <a:srgbClr val="DC2626"/>
          </a:solidFill>
          <a:ln w="12700">
            <a:solidFill>
              <a:srgbClr val="DC2626"/>
            </a:solidFill>
            <a:prstDash val="solid"/>
          </a:ln>
        </p:spPr>
      </p:sp>
      <p:sp>
        <p:nvSpPr>
          <p:cNvPr id="39" name="Text 35"/>
          <p:cNvSpPr/>
          <p:nvPr/>
        </p:nvSpPr>
        <p:spPr>
          <a:xfrm>
            <a:off x="6766560" y="5559552"/>
            <a:ext cx="4572000" cy="228600"/>
          </a:xfrm>
          <a:prstGeom prst="rect">
            <a:avLst/>
          </a:prstGeom>
          <a:noFill/>
          <a:ln/>
        </p:spPr>
        <p:txBody>
          <a:bodyPr wrap="square" lIns="0" tIns="0" rIns="0" bIns="0" rtlCol="0" anchor="ctr"/>
          <a:lstStyle/>
          <a:p>
            <a:pPr indent="0" marL="0">
              <a:buNone/>
            </a:pPr>
            <a:r>
              <a:rPr lang="en-US" sz="1150" b="1" dirty="0">
                <a:solidFill>
                  <a:srgbClr val="1E293B"/>
                </a:solidFill>
                <a:latin typeface="Georgia" pitchFamily="34" charset="0"/>
                <a:ea typeface="Georgia" pitchFamily="34" charset="-122"/>
                <a:cs typeface="Georgia" pitchFamily="34" charset="-120"/>
              </a:rPr>
              <a:t>Prolonged QT</a:t>
            </a:r>
            <a:endParaRPr lang="en-US" sz="1150" dirty="0"/>
          </a:p>
        </p:txBody>
      </p:sp>
      <p:sp>
        <p:nvSpPr>
          <p:cNvPr id="40" name="Text 36"/>
          <p:cNvSpPr/>
          <p:nvPr/>
        </p:nvSpPr>
        <p:spPr>
          <a:xfrm>
            <a:off x="6766560" y="5788152"/>
            <a:ext cx="457200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ECG change — risk of arrhythmia</a:t>
            </a:r>
            <a:endParaRPr lang="en-US" sz="1000" dirty="0"/>
          </a:p>
        </p:txBody>
      </p:sp>
      <p:sp>
        <p:nvSpPr>
          <p:cNvPr id="41" name="Text 37"/>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2" name="Text 38"/>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Hyperparathyroidism</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 PTH → ↑ Calcium + ↓ Phosphorus</a:t>
            </a:r>
            <a:endParaRPr lang="en-US" sz="1400" dirty="0"/>
          </a:p>
        </p:txBody>
      </p:sp>
      <p:sp>
        <p:nvSpPr>
          <p:cNvPr id="5" name="Shape 3"/>
          <p:cNvSpPr/>
          <p:nvPr/>
        </p:nvSpPr>
        <p:spPr>
          <a:xfrm>
            <a:off x="731520" y="1417320"/>
            <a:ext cx="53492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5349240" cy="50292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868680" y="1490472"/>
            <a:ext cx="347472" cy="347472"/>
          </a:xfrm>
          <a:prstGeom prst="rect">
            <a:avLst/>
          </a:prstGeom>
        </p:spPr>
      </p:pic>
      <p:sp>
        <p:nvSpPr>
          <p:cNvPr id="8" name="Text 5"/>
          <p:cNvSpPr/>
          <p:nvPr/>
        </p:nvSpPr>
        <p:spPr>
          <a:xfrm>
            <a:off x="1280160" y="1417320"/>
            <a:ext cx="48006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Pathophysiology</a:t>
            </a:r>
            <a:endParaRPr lang="en-US" sz="1400" dirty="0"/>
          </a:p>
        </p:txBody>
      </p:sp>
      <p:sp>
        <p:nvSpPr>
          <p:cNvPr id="9" name="Text 6"/>
          <p:cNvSpPr/>
          <p:nvPr/>
        </p:nvSpPr>
        <p:spPr>
          <a:xfrm>
            <a:off x="914400" y="2057400"/>
            <a:ext cx="4983480" cy="9144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Excess PTH pulls calcium out of bones → hypercalcemia and brittle bones. Cause: parathyroid adenoma (most common), hyperplasia, or CKD (secondary).</a:t>
            </a:r>
            <a:endParaRPr lang="en-US" sz="1150" dirty="0"/>
          </a:p>
        </p:txBody>
      </p:sp>
      <p:sp>
        <p:nvSpPr>
          <p:cNvPr id="10" name="Shape 7"/>
          <p:cNvSpPr/>
          <p:nvPr/>
        </p:nvSpPr>
        <p:spPr>
          <a:xfrm>
            <a:off x="914400" y="3063240"/>
            <a:ext cx="4983480" cy="1371600"/>
          </a:xfrm>
          <a:prstGeom prst="rect">
            <a:avLst/>
          </a:prstGeom>
          <a:solidFill>
            <a:srgbClr val="E0F2FE"/>
          </a:solidFill>
          <a:ln w="6350">
            <a:solidFill>
              <a:srgbClr val="0F4C5C"/>
            </a:solidFill>
            <a:prstDash val="solid"/>
          </a:ln>
        </p:spPr>
      </p:sp>
      <p:sp>
        <p:nvSpPr>
          <p:cNvPr id="11" name="Text 8"/>
          <p:cNvSpPr/>
          <p:nvPr/>
        </p:nvSpPr>
        <p:spPr>
          <a:xfrm>
            <a:off x="1051560" y="3108960"/>
            <a:ext cx="4709160" cy="274320"/>
          </a:xfrm>
          <a:prstGeom prst="rect">
            <a:avLst/>
          </a:prstGeom>
          <a:noFill/>
          <a:ln/>
        </p:spPr>
        <p:txBody>
          <a:bodyPr wrap="square" lIns="0" tIns="0" rIns="0" bIns="0" rtlCol="0" anchor="ctr"/>
          <a:lstStyle/>
          <a:p>
            <a:pPr indent="0" marL="0">
              <a:buNone/>
            </a:pPr>
            <a:r>
              <a:rPr lang="en-US" sz="1050" b="1" dirty="0">
                <a:solidFill>
                  <a:srgbClr val="0F4C5C"/>
                </a:solidFill>
                <a:latin typeface="Georgia" pitchFamily="34" charset="0"/>
                <a:ea typeface="Georgia" pitchFamily="34" charset="-122"/>
                <a:cs typeface="Georgia" pitchFamily="34" charset="-120"/>
              </a:rPr>
              <a:t>LAB PATTERN</a:t>
            </a:r>
            <a:endParaRPr lang="en-US" sz="1050" dirty="0"/>
          </a:p>
        </p:txBody>
      </p:sp>
      <p:sp>
        <p:nvSpPr>
          <p:cNvPr id="12" name="Text 9"/>
          <p:cNvSpPr/>
          <p:nvPr/>
        </p:nvSpPr>
        <p:spPr>
          <a:xfrm>
            <a:off x="1051560" y="3383280"/>
            <a:ext cx="4709160" cy="100584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Serum Calcium   (&gt; 10.5 mg/dL)</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 Serum Phosphorus   (&lt; 3.0 mg/dL)</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 PTH level</a:t>
            </a:r>
            <a:endParaRPr lang="en-US" sz="1150" dirty="0"/>
          </a:p>
        </p:txBody>
      </p:sp>
      <p:sp>
        <p:nvSpPr>
          <p:cNvPr id="13" name="Text 10"/>
          <p:cNvSpPr/>
          <p:nvPr/>
        </p:nvSpPr>
        <p:spPr>
          <a:xfrm>
            <a:off x="914400" y="4572000"/>
            <a:ext cx="4983480" cy="274320"/>
          </a:xfrm>
          <a:prstGeom prst="rect">
            <a:avLst/>
          </a:prstGeom>
          <a:noFill/>
          <a:ln/>
        </p:spPr>
        <p:txBody>
          <a:bodyPr wrap="square" lIns="0" tIns="0" rIns="0" bIns="0" rtlCol="0" anchor="ctr"/>
          <a:lstStyle/>
          <a:p>
            <a:pPr indent="0" marL="0">
              <a:buNone/>
            </a:pPr>
            <a:r>
              <a:rPr lang="en-US" sz="1100" b="1" dirty="0">
                <a:solidFill>
                  <a:srgbClr val="0F4C5C"/>
                </a:solidFill>
                <a:latin typeface="Georgia" pitchFamily="34" charset="0"/>
                <a:ea typeface="Georgia" pitchFamily="34" charset="-122"/>
                <a:cs typeface="Georgia" pitchFamily="34" charset="-120"/>
              </a:rPr>
              <a:t>TREATMENT</a:t>
            </a:r>
            <a:endParaRPr lang="en-US" sz="1100" dirty="0"/>
          </a:p>
        </p:txBody>
      </p:sp>
      <p:sp>
        <p:nvSpPr>
          <p:cNvPr id="14" name="Text 11"/>
          <p:cNvSpPr/>
          <p:nvPr/>
        </p:nvSpPr>
        <p:spPr>
          <a:xfrm>
            <a:off x="914400" y="4846320"/>
            <a:ext cx="4983480" cy="12801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Parathyroidectomy (definitive), IV fluids + furosemide (promote Ca excretion), calcitonin, bisphosphonates, cinacalcet</a:t>
            </a:r>
            <a:endParaRPr lang="en-US" sz="1100" dirty="0"/>
          </a:p>
        </p:txBody>
      </p:sp>
      <p:sp>
        <p:nvSpPr>
          <p:cNvPr id="15" name="Shape 12"/>
          <p:cNvSpPr/>
          <p:nvPr/>
        </p:nvSpPr>
        <p:spPr>
          <a:xfrm>
            <a:off x="6263640" y="1417320"/>
            <a:ext cx="516636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6" name="Shape 13"/>
          <p:cNvSpPr/>
          <p:nvPr/>
        </p:nvSpPr>
        <p:spPr>
          <a:xfrm>
            <a:off x="6263640" y="1417320"/>
            <a:ext cx="5166360" cy="502920"/>
          </a:xfrm>
          <a:prstGeom prst="rect">
            <a:avLst/>
          </a:prstGeom>
          <a:solidFill>
            <a:srgbClr val="E36414"/>
          </a:solidFill>
          <a:ln w="12700">
            <a:solidFill>
              <a:srgbClr val="E36414"/>
            </a:solidFill>
            <a:prstDash val="solid"/>
          </a:ln>
        </p:spPr>
      </p:sp>
      <p:pic>
        <p:nvPicPr>
          <p:cNvPr id="17" name="Image 1" descr="preencoded.png">    </p:cNvPr>
          <p:cNvPicPr>
            <a:picLocks noChangeAspect="1"/>
          </p:cNvPicPr>
          <p:nvPr/>
        </p:nvPicPr>
        <p:blipFill>
          <a:blip r:embed="rId2"/>
          <a:stretch>
            <a:fillRect/>
          </a:stretch>
        </p:blipFill>
        <p:spPr>
          <a:xfrm>
            <a:off x="6400800" y="1490472"/>
            <a:ext cx="347472" cy="347472"/>
          </a:xfrm>
          <a:prstGeom prst="rect">
            <a:avLst/>
          </a:prstGeom>
        </p:spPr>
      </p:pic>
      <p:sp>
        <p:nvSpPr>
          <p:cNvPr id="18" name="Text 14"/>
          <p:cNvSpPr/>
          <p:nvPr/>
        </p:nvSpPr>
        <p:spPr>
          <a:xfrm>
            <a:off x="6812280" y="1417320"/>
            <a:ext cx="461772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Mnemonic: Stones, Bones, Groans, Moans</a:t>
            </a:r>
            <a:endParaRPr lang="en-US" sz="1300" dirty="0"/>
          </a:p>
        </p:txBody>
      </p:sp>
      <p:sp>
        <p:nvSpPr>
          <p:cNvPr id="19" name="Shape 15"/>
          <p:cNvSpPr/>
          <p:nvPr/>
        </p:nvSpPr>
        <p:spPr>
          <a:xfrm>
            <a:off x="6492240" y="2194560"/>
            <a:ext cx="109728" cy="822960"/>
          </a:xfrm>
          <a:prstGeom prst="rect">
            <a:avLst/>
          </a:prstGeom>
          <a:solidFill>
            <a:srgbClr val="0F4C5C"/>
          </a:solidFill>
          <a:ln w="12700">
            <a:solidFill>
              <a:srgbClr val="0F4C5C"/>
            </a:solidFill>
            <a:prstDash val="solid"/>
          </a:ln>
        </p:spPr>
      </p:sp>
      <p:sp>
        <p:nvSpPr>
          <p:cNvPr id="20" name="Text 16"/>
          <p:cNvSpPr/>
          <p:nvPr/>
        </p:nvSpPr>
        <p:spPr>
          <a:xfrm>
            <a:off x="6720840" y="2194560"/>
            <a:ext cx="4480560" cy="347472"/>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STONES</a:t>
            </a:r>
            <a:endParaRPr lang="en-US" sz="1500" dirty="0"/>
          </a:p>
        </p:txBody>
      </p:sp>
      <p:sp>
        <p:nvSpPr>
          <p:cNvPr id="21" name="Text 17"/>
          <p:cNvSpPr/>
          <p:nvPr/>
        </p:nvSpPr>
        <p:spPr>
          <a:xfrm>
            <a:off x="6720840" y="2542032"/>
            <a:ext cx="448056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Kidney stones (hypercalciuria) — flank pain, hematuria</a:t>
            </a:r>
            <a:endParaRPr lang="en-US" sz="1100" dirty="0"/>
          </a:p>
        </p:txBody>
      </p:sp>
      <p:sp>
        <p:nvSpPr>
          <p:cNvPr id="22" name="Shape 18"/>
          <p:cNvSpPr/>
          <p:nvPr/>
        </p:nvSpPr>
        <p:spPr>
          <a:xfrm>
            <a:off x="6492240" y="3200400"/>
            <a:ext cx="109728" cy="822960"/>
          </a:xfrm>
          <a:prstGeom prst="rect">
            <a:avLst/>
          </a:prstGeom>
          <a:solidFill>
            <a:srgbClr val="155E75"/>
          </a:solidFill>
          <a:ln w="12700">
            <a:solidFill>
              <a:srgbClr val="155E75"/>
            </a:solidFill>
            <a:prstDash val="solid"/>
          </a:ln>
        </p:spPr>
      </p:sp>
      <p:sp>
        <p:nvSpPr>
          <p:cNvPr id="23" name="Text 19"/>
          <p:cNvSpPr/>
          <p:nvPr/>
        </p:nvSpPr>
        <p:spPr>
          <a:xfrm>
            <a:off x="6720840" y="3200400"/>
            <a:ext cx="4480560" cy="347472"/>
          </a:xfrm>
          <a:prstGeom prst="rect">
            <a:avLst/>
          </a:prstGeom>
          <a:noFill/>
          <a:ln/>
        </p:spPr>
        <p:txBody>
          <a:bodyPr wrap="square" lIns="0" tIns="0" rIns="0" bIns="0" rtlCol="0" anchor="ctr"/>
          <a:lstStyle/>
          <a:p>
            <a:pPr indent="0" marL="0">
              <a:buNone/>
            </a:pPr>
            <a:r>
              <a:rPr lang="en-US" sz="1500" b="1" dirty="0">
                <a:solidFill>
                  <a:srgbClr val="155E75"/>
                </a:solidFill>
                <a:latin typeface="Georgia" pitchFamily="34" charset="0"/>
                <a:ea typeface="Georgia" pitchFamily="34" charset="-122"/>
                <a:cs typeface="Georgia" pitchFamily="34" charset="-120"/>
              </a:rPr>
              <a:t>BONES</a:t>
            </a:r>
            <a:endParaRPr lang="en-US" sz="1500" dirty="0"/>
          </a:p>
        </p:txBody>
      </p:sp>
      <p:sp>
        <p:nvSpPr>
          <p:cNvPr id="24" name="Text 20"/>
          <p:cNvSpPr/>
          <p:nvPr/>
        </p:nvSpPr>
        <p:spPr>
          <a:xfrm>
            <a:off x="6720840" y="3547872"/>
            <a:ext cx="448056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Bone pain, fractures, osteoporosis — Ca leached from skeleton</a:t>
            </a:r>
            <a:endParaRPr lang="en-US" sz="1100" dirty="0"/>
          </a:p>
        </p:txBody>
      </p:sp>
      <p:sp>
        <p:nvSpPr>
          <p:cNvPr id="25" name="Shape 21"/>
          <p:cNvSpPr/>
          <p:nvPr/>
        </p:nvSpPr>
        <p:spPr>
          <a:xfrm>
            <a:off x="6492240" y="4206240"/>
            <a:ext cx="109728" cy="822960"/>
          </a:xfrm>
          <a:prstGeom prst="rect">
            <a:avLst/>
          </a:prstGeom>
          <a:solidFill>
            <a:srgbClr val="E36414"/>
          </a:solidFill>
          <a:ln w="12700">
            <a:solidFill>
              <a:srgbClr val="E36414"/>
            </a:solidFill>
            <a:prstDash val="solid"/>
          </a:ln>
        </p:spPr>
      </p:sp>
      <p:sp>
        <p:nvSpPr>
          <p:cNvPr id="26" name="Text 22"/>
          <p:cNvSpPr/>
          <p:nvPr/>
        </p:nvSpPr>
        <p:spPr>
          <a:xfrm>
            <a:off x="6720840" y="4206240"/>
            <a:ext cx="4480560" cy="347472"/>
          </a:xfrm>
          <a:prstGeom prst="rect">
            <a:avLst/>
          </a:prstGeom>
          <a:noFill/>
          <a:ln/>
        </p:spPr>
        <p:txBody>
          <a:bodyPr wrap="square" lIns="0" tIns="0" rIns="0" bIns="0" rtlCol="0" anchor="ctr"/>
          <a:lstStyle/>
          <a:p>
            <a:pPr indent="0" marL="0">
              <a:buNone/>
            </a:pPr>
            <a:r>
              <a:rPr lang="en-US" sz="1500" b="1" dirty="0">
                <a:solidFill>
                  <a:srgbClr val="E36414"/>
                </a:solidFill>
                <a:latin typeface="Georgia" pitchFamily="34" charset="0"/>
                <a:ea typeface="Georgia" pitchFamily="34" charset="-122"/>
                <a:cs typeface="Georgia" pitchFamily="34" charset="-120"/>
              </a:rPr>
              <a:t>GROANS</a:t>
            </a:r>
            <a:endParaRPr lang="en-US" sz="1500" dirty="0"/>
          </a:p>
        </p:txBody>
      </p:sp>
      <p:sp>
        <p:nvSpPr>
          <p:cNvPr id="27" name="Text 23"/>
          <p:cNvSpPr/>
          <p:nvPr/>
        </p:nvSpPr>
        <p:spPr>
          <a:xfrm>
            <a:off x="6720840" y="4553712"/>
            <a:ext cx="448056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Abdominal groans — constipation, N/V, peptic ulcers, pancreatitis</a:t>
            </a:r>
            <a:endParaRPr lang="en-US" sz="1100" dirty="0"/>
          </a:p>
        </p:txBody>
      </p:sp>
      <p:sp>
        <p:nvSpPr>
          <p:cNvPr id="28" name="Shape 24"/>
          <p:cNvSpPr/>
          <p:nvPr/>
        </p:nvSpPr>
        <p:spPr>
          <a:xfrm>
            <a:off x="6492240" y="5212080"/>
            <a:ext cx="109728" cy="822960"/>
          </a:xfrm>
          <a:prstGeom prst="rect">
            <a:avLst/>
          </a:prstGeom>
          <a:solidFill>
            <a:srgbClr val="FB8500"/>
          </a:solidFill>
          <a:ln w="12700">
            <a:solidFill>
              <a:srgbClr val="FB8500"/>
            </a:solidFill>
            <a:prstDash val="solid"/>
          </a:ln>
        </p:spPr>
      </p:sp>
      <p:sp>
        <p:nvSpPr>
          <p:cNvPr id="29" name="Text 25"/>
          <p:cNvSpPr/>
          <p:nvPr/>
        </p:nvSpPr>
        <p:spPr>
          <a:xfrm>
            <a:off x="6720840" y="5212080"/>
            <a:ext cx="4480560" cy="347472"/>
          </a:xfrm>
          <a:prstGeom prst="rect">
            <a:avLst/>
          </a:prstGeom>
          <a:noFill/>
          <a:ln/>
        </p:spPr>
        <p:txBody>
          <a:bodyPr wrap="square" lIns="0" tIns="0" rIns="0" bIns="0" rtlCol="0" anchor="ctr"/>
          <a:lstStyle/>
          <a:p>
            <a:pPr indent="0" marL="0">
              <a:buNone/>
            </a:pPr>
            <a:r>
              <a:rPr lang="en-US" sz="1500" b="1" dirty="0">
                <a:solidFill>
                  <a:srgbClr val="FB8500"/>
                </a:solidFill>
                <a:latin typeface="Georgia" pitchFamily="34" charset="0"/>
                <a:ea typeface="Georgia" pitchFamily="34" charset="-122"/>
                <a:cs typeface="Georgia" pitchFamily="34" charset="-120"/>
              </a:rPr>
              <a:t>MOANS</a:t>
            </a:r>
            <a:endParaRPr lang="en-US" sz="1500" dirty="0"/>
          </a:p>
        </p:txBody>
      </p:sp>
      <p:sp>
        <p:nvSpPr>
          <p:cNvPr id="30" name="Text 26"/>
          <p:cNvSpPr/>
          <p:nvPr/>
        </p:nvSpPr>
        <p:spPr>
          <a:xfrm>
            <a:off x="6720840" y="5559552"/>
            <a:ext cx="448056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Psychiatric moans — depression, fatigue, confusion, lethargy</a:t>
            </a:r>
            <a:endParaRPr lang="en-US" sz="1100" dirty="0"/>
          </a:p>
        </p:txBody>
      </p:sp>
      <p:sp>
        <p:nvSpPr>
          <p:cNvPr id="31" name="Text 27"/>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2" name="Text 28"/>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Parathyroid Medications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Calcium replacement (hypo) and calcium-lowering agents (hyper)</a:t>
            </a:r>
            <a:endParaRPr lang="en-US" sz="1400" dirty="0"/>
          </a:p>
        </p:txBody>
      </p:sp>
      <p:sp>
        <p:nvSpPr>
          <p:cNvPr id="5" name="Shape 3"/>
          <p:cNvSpPr/>
          <p:nvPr/>
        </p:nvSpPr>
        <p:spPr>
          <a:xfrm>
            <a:off x="731520" y="1417320"/>
            <a:ext cx="53492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5349240" cy="64008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868680" y="1554480"/>
            <a:ext cx="365760" cy="365760"/>
          </a:xfrm>
          <a:prstGeom prst="rect">
            <a:avLst/>
          </a:prstGeom>
        </p:spPr>
      </p:pic>
      <p:sp>
        <p:nvSpPr>
          <p:cNvPr id="8" name="Text 5"/>
          <p:cNvSpPr/>
          <p:nvPr/>
        </p:nvSpPr>
        <p:spPr>
          <a:xfrm>
            <a:off x="1325880" y="1417320"/>
            <a:ext cx="4754880" cy="6400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RAISE CALCIUM (Hypoparathyroidism)</a:t>
            </a:r>
            <a:endParaRPr lang="en-US" sz="1300" dirty="0"/>
          </a:p>
        </p:txBody>
      </p:sp>
      <p:sp>
        <p:nvSpPr>
          <p:cNvPr id="9" name="Text 6"/>
          <p:cNvSpPr/>
          <p:nvPr/>
        </p:nvSpPr>
        <p:spPr>
          <a:xfrm>
            <a:off x="914400" y="2194560"/>
            <a:ext cx="4983480" cy="320040"/>
          </a:xfrm>
          <a:prstGeom prst="rect">
            <a:avLst/>
          </a:prstGeom>
          <a:noFill/>
          <a:ln/>
        </p:spPr>
        <p:txBody>
          <a:bodyPr wrap="square" lIns="0" tIns="0" rIns="0" bIns="0" rtlCol="0" anchor="ctr"/>
          <a:lstStyle/>
          <a:p>
            <a:pPr indent="0" marL="0">
              <a:buNone/>
            </a:pPr>
            <a:r>
              <a:rPr lang="en-US" sz="1300" b="1" dirty="0">
                <a:solidFill>
                  <a:srgbClr val="0F4C5C"/>
                </a:solidFill>
                <a:latin typeface="Georgia" pitchFamily="34" charset="0"/>
                <a:ea typeface="Georgia" pitchFamily="34" charset="-122"/>
                <a:cs typeface="Georgia" pitchFamily="34" charset="-120"/>
              </a:rPr>
              <a:t>Calcium Gluconate IV</a:t>
            </a:r>
            <a:endParaRPr lang="en-US" sz="1300" dirty="0"/>
          </a:p>
        </p:txBody>
      </p:sp>
      <p:sp>
        <p:nvSpPr>
          <p:cNvPr id="10" name="Text 7"/>
          <p:cNvSpPr/>
          <p:nvPr/>
        </p:nvSpPr>
        <p:spPr>
          <a:xfrm>
            <a:off x="914400" y="2487168"/>
            <a:ext cx="4983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Acute severe hypocalcemia / tetany. Give slowly; monitor ECG.</a:t>
            </a:r>
            <a:endParaRPr lang="en-US" sz="1100" dirty="0"/>
          </a:p>
        </p:txBody>
      </p:sp>
      <p:sp>
        <p:nvSpPr>
          <p:cNvPr id="11" name="Text 8"/>
          <p:cNvSpPr/>
          <p:nvPr/>
        </p:nvSpPr>
        <p:spPr>
          <a:xfrm>
            <a:off x="914400" y="3108960"/>
            <a:ext cx="4983480" cy="320040"/>
          </a:xfrm>
          <a:prstGeom prst="rect">
            <a:avLst/>
          </a:prstGeom>
          <a:noFill/>
          <a:ln/>
        </p:spPr>
        <p:txBody>
          <a:bodyPr wrap="square" lIns="0" tIns="0" rIns="0" bIns="0" rtlCol="0" anchor="ctr"/>
          <a:lstStyle/>
          <a:p>
            <a:pPr indent="0" marL="0">
              <a:buNone/>
            </a:pPr>
            <a:r>
              <a:rPr lang="en-US" sz="1300" b="1" dirty="0">
                <a:solidFill>
                  <a:srgbClr val="0F4C5C"/>
                </a:solidFill>
                <a:latin typeface="Georgia" pitchFamily="34" charset="0"/>
                <a:ea typeface="Georgia" pitchFamily="34" charset="-122"/>
                <a:cs typeface="Georgia" pitchFamily="34" charset="-120"/>
              </a:rPr>
              <a:t>Calcium Carbonate PO</a:t>
            </a:r>
            <a:endParaRPr lang="en-US" sz="1300" dirty="0"/>
          </a:p>
        </p:txBody>
      </p:sp>
      <p:sp>
        <p:nvSpPr>
          <p:cNvPr id="12" name="Text 9"/>
          <p:cNvSpPr/>
          <p:nvPr/>
        </p:nvSpPr>
        <p:spPr>
          <a:xfrm>
            <a:off x="914400" y="3401568"/>
            <a:ext cx="4983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Tums, Os-Cal. Take with meals. Monitor for constipation.</a:t>
            </a:r>
            <a:endParaRPr lang="en-US" sz="1100" dirty="0"/>
          </a:p>
        </p:txBody>
      </p:sp>
      <p:sp>
        <p:nvSpPr>
          <p:cNvPr id="13" name="Text 10"/>
          <p:cNvSpPr/>
          <p:nvPr/>
        </p:nvSpPr>
        <p:spPr>
          <a:xfrm>
            <a:off x="914400" y="4023360"/>
            <a:ext cx="4983480" cy="320040"/>
          </a:xfrm>
          <a:prstGeom prst="rect">
            <a:avLst/>
          </a:prstGeom>
          <a:noFill/>
          <a:ln/>
        </p:spPr>
        <p:txBody>
          <a:bodyPr wrap="square" lIns="0" tIns="0" rIns="0" bIns="0" rtlCol="0" anchor="ctr"/>
          <a:lstStyle/>
          <a:p>
            <a:pPr indent="0" marL="0">
              <a:buNone/>
            </a:pPr>
            <a:r>
              <a:rPr lang="en-US" sz="1300" b="1" dirty="0">
                <a:solidFill>
                  <a:srgbClr val="0F4C5C"/>
                </a:solidFill>
                <a:latin typeface="Georgia" pitchFamily="34" charset="0"/>
                <a:ea typeface="Georgia" pitchFamily="34" charset="-122"/>
                <a:cs typeface="Georgia" pitchFamily="34" charset="-120"/>
              </a:rPr>
              <a:t>Calcitriol (Vitamin D)</a:t>
            </a:r>
            <a:endParaRPr lang="en-US" sz="1300" dirty="0"/>
          </a:p>
        </p:txBody>
      </p:sp>
      <p:sp>
        <p:nvSpPr>
          <p:cNvPr id="14" name="Text 11"/>
          <p:cNvSpPr/>
          <p:nvPr/>
        </p:nvSpPr>
        <p:spPr>
          <a:xfrm>
            <a:off x="914400" y="4315968"/>
            <a:ext cx="4983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Active form of vitamin D — enhances intestinal Ca absorption.</a:t>
            </a:r>
            <a:endParaRPr lang="en-US" sz="1100" dirty="0"/>
          </a:p>
        </p:txBody>
      </p:sp>
      <p:sp>
        <p:nvSpPr>
          <p:cNvPr id="15" name="Text 12"/>
          <p:cNvSpPr/>
          <p:nvPr/>
        </p:nvSpPr>
        <p:spPr>
          <a:xfrm>
            <a:off x="914400" y="4937760"/>
            <a:ext cx="4983480" cy="320040"/>
          </a:xfrm>
          <a:prstGeom prst="rect">
            <a:avLst/>
          </a:prstGeom>
          <a:noFill/>
          <a:ln/>
        </p:spPr>
        <p:txBody>
          <a:bodyPr wrap="square" lIns="0" tIns="0" rIns="0" bIns="0" rtlCol="0" anchor="ctr"/>
          <a:lstStyle/>
          <a:p>
            <a:pPr indent="0" marL="0">
              <a:buNone/>
            </a:pPr>
            <a:r>
              <a:rPr lang="en-US" sz="1300" b="1" dirty="0">
                <a:solidFill>
                  <a:srgbClr val="0F4C5C"/>
                </a:solidFill>
                <a:latin typeface="Georgia" pitchFamily="34" charset="0"/>
                <a:ea typeface="Georgia" pitchFamily="34" charset="-122"/>
                <a:cs typeface="Georgia" pitchFamily="34" charset="-120"/>
              </a:rPr>
              <a:t>Phosphate Binders</a:t>
            </a:r>
            <a:endParaRPr lang="en-US" sz="1300" dirty="0"/>
          </a:p>
        </p:txBody>
      </p:sp>
      <p:sp>
        <p:nvSpPr>
          <p:cNvPr id="16" name="Text 13"/>
          <p:cNvSpPr/>
          <p:nvPr/>
        </p:nvSpPr>
        <p:spPr>
          <a:xfrm>
            <a:off x="914400" y="5230368"/>
            <a:ext cx="4983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If phosphorus is very high (e.g. sevelamer).</a:t>
            </a:r>
            <a:endParaRPr lang="en-US" sz="1100" dirty="0"/>
          </a:p>
        </p:txBody>
      </p:sp>
      <p:sp>
        <p:nvSpPr>
          <p:cNvPr id="17" name="Shape 14"/>
          <p:cNvSpPr/>
          <p:nvPr/>
        </p:nvSpPr>
        <p:spPr>
          <a:xfrm>
            <a:off x="6263640" y="1417320"/>
            <a:ext cx="516636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8" name="Shape 15"/>
          <p:cNvSpPr/>
          <p:nvPr/>
        </p:nvSpPr>
        <p:spPr>
          <a:xfrm>
            <a:off x="6263640" y="1417320"/>
            <a:ext cx="5166360" cy="640080"/>
          </a:xfrm>
          <a:prstGeom prst="rect">
            <a:avLst/>
          </a:prstGeom>
          <a:solidFill>
            <a:srgbClr val="E36414"/>
          </a:solidFill>
          <a:ln w="12700">
            <a:solidFill>
              <a:srgbClr val="E36414"/>
            </a:solidFill>
            <a:prstDash val="solid"/>
          </a:ln>
        </p:spPr>
      </p:sp>
      <p:pic>
        <p:nvPicPr>
          <p:cNvPr id="19" name="Image 1" descr="preencoded.png">    </p:cNvPr>
          <p:cNvPicPr>
            <a:picLocks noChangeAspect="1"/>
          </p:cNvPicPr>
          <p:nvPr/>
        </p:nvPicPr>
        <p:blipFill>
          <a:blip r:embed="rId2"/>
          <a:stretch>
            <a:fillRect/>
          </a:stretch>
        </p:blipFill>
        <p:spPr>
          <a:xfrm>
            <a:off x="6400800" y="1554480"/>
            <a:ext cx="365760" cy="365760"/>
          </a:xfrm>
          <a:prstGeom prst="rect">
            <a:avLst/>
          </a:prstGeom>
        </p:spPr>
      </p:pic>
      <p:sp>
        <p:nvSpPr>
          <p:cNvPr id="20" name="Text 16"/>
          <p:cNvSpPr/>
          <p:nvPr/>
        </p:nvSpPr>
        <p:spPr>
          <a:xfrm>
            <a:off x="6858000" y="1417320"/>
            <a:ext cx="4572000" cy="6400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LOWER CALCIUM (Hyperparathyroidism)</a:t>
            </a:r>
            <a:endParaRPr lang="en-US" sz="1300" dirty="0"/>
          </a:p>
        </p:txBody>
      </p:sp>
      <p:sp>
        <p:nvSpPr>
          <p:cNvPr id="21" name="Text 17"/>
          <p:cNvSpPr/>
          <p:nvPr/>
        </p:nvSpPr>
        <p:spPr>
          <a:xfrm>
            <a:off x="6446520" y="2194560"/>
            <a:ext cx="4800600" cy="320040"/>
          </a:xfrm>
          <a:prstGeom prst="rect">
            <a:avLst/>
          </a:prstGeom>
          <a:noFill/>
          <a:ln/>
        </p:spPr>
        <p:txBody>
          <a:bodyPr wrap="square" lIns="0" tIns="0" rIns="0" bIns="0" rtlCol="0" anchor="ctr"/>
          <a:lstStyle/>
          <a:p>
            <a:pPr indent="0" marL="0">
              <a:buNone/>
            </a:pPr>
            <a:r>
              <a:rPr lang="en-US" sz="1300" b="1" dirty="0">
                <a:solidFill>
                  <a:srgbClr val="E36414"/>
                </a:solidFill>
                <a:latin typeface="Georgia" pitchFamily="34" charset="0"/>
                <a:ea typeface="Georgia" pitchFamily="34" charset="-122"/>
                <a:cs typeface="Georgia" pitchFamily="34" charset="-120"/>
              </a:rPr>
              <a:t>Calcitonin (Miacalcin)</a:t>
            </a:r>
            <a:endParaRPr lang="en-US" sz="1300" dirty="0"/>
          </a:p>
        </p:txBody>
      </p:sp>
      <p:sp>
        <p:nvSpPr>
          <p:cNvPr id="22" name="Text 18"/>
          <p:cNvSpPr/>
          <p:nvPr/>
        </p:nvSpPr>
        <p:spPr>
          <a:xfrm>
            <a:off x="6446520" y="2487168"/>
            <a:ext cx="480060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Inhibits bone resorption → lowers Ca. Intranasal or SubQ.</a:t>
            </a:r>
            <a:endParaRPr lang="en-US" sz="1100" dirty="0"/>
          </a:p>
        </p:txBody>
      </p:sp>
      <p:sp>
        <p:nvSpPr>
          <p:cNvPr id="23" name="Text 19"/>
          <p:cNvSpPr/>
          <p:nvPr/>
        </p:nvSpPr>
        <p:spPr>
          <a:xfrm>
            <a:off x="6446520" y="3108960"/>
            <a:ext cx="4800600" cy="320040"/>
          </a:xfrm>
          <a:prstGeom prst="rect">
            <a:avLst/>
          </a:prstGeom>
          <a:noFill/>
          <a:ln/>
        </p:spPr>
        <p:txBody>
          <a:bodyPr wrap="square" lIns="0" tIns="0" rIns="0" bIns="0" rtlCol="0" anchor="ctr"/>
          <a:lstStyle/>
          <a:p>
            <a:pPr indent="0" marL="0">
              <a:buNone/>
            </a:pPr>
            <a:r>
              <a:rPr lang="en-US" sz="1300" b="1" dirty="0">
                <a:solidFill>
                  <a:srgbClr val="E36414"/>
                </a:solidFill>
                <a:latin typeface="Georgia" pitchFamily="34" charset="0"/>
                <a:ea typeface="Georgia" pitchFamily="34" charset="-122"/>
                <a:cs typeface="Georgia" pitchFamily="34" charset="-120"/>
              </a:rPr>
              <a:t>Bisphosphonates</a:t>
            </a:r>
            <a:endParaRPr lang="en-US" sz="1300" dirty="0"/>
          </a:p>
        </p:txBody>
      </p:sp>
      <p:sp>
        <p:nvSpPr>
          <p:cNvPr id="24" name="Text 20"/>
          <p:cNvSpPr/>
          <p:nvPr/>
        </p:nvSpPr>
        <p:spPr>
          <a:xfrm>
            <a:off x="6446520" y="3401568"/>
            <a:ext cx="480060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Alendronate, pamidronate, zoledronic acid — inhibit osteoclasts.</a:t>
            </a:r>
            <a:endParaRPr lang="en-US" sz="1100" dirty="0"/>
          </a:p>
        </p:txBody>
      </p:sp>
      <p:sp>
        <p:nvSpPr>
          <p:cNvPr id="25" name="Text 21"/>
          <p:cNvSpPr/>
          <p:nvPr/>
        </p:nvSpPr>
        <p:spPr>
          <a:xfrm>
            <a:off x="6446520" y="4023360"/>
            <a:ext cx="4800600" cy="320040"/>
          </a:xfrm>
          <a:prstGeom prst="rect">
            <a:avLst/>
          </a:prstGeom>
          <a:noFill/>
          <a:ln/>
        </p:spPr>
        <p:txBody>
          <a:bodyPr wrap="square" lIns="0" tIns="0" rIns="0" bIns="0" rtlCol="0" anchor="ctr"/>
          <a:lstStyle/>
          <a:p>
            <a:pPr indent="0" marL="0">
              <a:buNone/>
            </a:pPr>
            <a:r>
              <a:rPr lang="en-US" sz="1300" b="1" dirty="0">
                <a:solidFill>
                  <a:srgbClr val="E36414"/>
                </a:solidFill>
                <a:latin typeface="Georgia" pitchFamily="34" charset="0"/>
                <a:ea typeface="Georgia" pitchFamily="34" charset="-122"/>
                <a:cs typeface="Georgia" pitchFamily="34" charset="-120"/>
              </a:rPr>
              <a:t>Cinacalcet (Sensipar)</a:t>
            </a:r>
            <a:endParaRPr lang="en-US" sz="1300" dirty="0"/>
          </a:p>
        </p:txBody>
      </p:sp>
      <p:sp>
        <p:nvSpPr>
          <p:cNvPr id="26" name="Text 22"/>
          <p:cNvSpPr/>
          <p:nvPr/>
        </p:nvSpPr>
        <p:spPr>
          <a:xfrm>
            <a:off x="6446520" y="4315968"/>
            <a:ext cx="480060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Calcimimetic — ↓ PTH secretion. Used in secondary hyperpara.</a:t>
            </a:r>
            <a:endParaRPr lang="en-US" sz="1100" dirty="0"/>
          </a:p>
        </p:txBody>
      </p:sp>
      <p:sp>
        <p:nvSpPr>
          <p:cNvPr id="27" name="Text 23"/>
          <p:cNvSpPr/>
          <p:nvPr/>
        </p:nvSpPr>
        <p:spPr>
          <a:xfrm>
            <a:off x="6446520" y="4937760"/>
            <a:ext cx="4800600" cy="320040"/>
          </a:xfrm>
          <a:prstGeom prst="rect">
            <a:avLst/>
          </a:prstGeom>
          <a:noFill/>
          <a:ln/>
        </p:spPr>
        <p:txBody>
          <a:bodyPr wrap="square" lIns="0" tIns="0" rIns="0" bIns="0" rtlCol="0" anchor="ctr"/>
          <a:lstStyle/>
          <a:p>
            <a:pPr indent="0" marL="0">
              <a:buNone/>
            </a:pPr>
            <a:r>
              <a:rPr lang="en-US" sz="1300" b="1" dirty="0">
                <a:solidFill>
                  <a:srgbClr val="E36414"/>
                </a:solidFill>
                <a:latin typeface="Georgia" pitchFamily="34" charset="0"/>
                <a:ea typeface="Georgia" pitchFamily="34" charset="-122"/>
                <a:cs typeface="Georgia" pitchFamily="34" charset="-120"/>
              </a:rPr>
              <a:t>IV NS + Furosemide</a:t>
            </a:r>
            <a:endParaRPr lang="en-US" sz="1300" dirty="0"/>
          </a:p>
        </p:txBody>
      </p:sp>
      <p:sp>
        <p:nvSpPr>
          <p:cNvPr id="28" name="Text 24"/>
          <p:cNvSpPr/>
          <p:nvPr/>
        </p:nvSpPr>
        <p:spPr>
          <a:xfrm>
            <a:off x="6446520" y="5230368"/>
            <a:ext cx="480060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Dilute and excrete calcium. AVOID thiazides (↑ Ca retention).</a:t>
            </a:r>
            <a:endParaRPr lang="en-US" sz="1100" dirty="0"/>
          </a:p>
        </p:txBody>
      </p:sp>
      <p:sp>
        <p:nvSpPr>
          <p:cNvPr id="29" name="Text 2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0" name="Text 2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Diabetes Mellitus — Overview</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 disorder of insulin deficiency or resistance — chronic hyperglycemia</a:t>
            </a:r>
            <a:endParaRPr lang="en-US" sz="1400" dirty="0"/>
          </a:p>
        </p:txBody>
      </p:sp>
      <p:sp>
        <p:nvSpPr>
          <p:cNvPr id="5" name="Shape 3"/>
          <p:cNvSpPr/>
          <p:nvPr/>
        </p:nvSpPr>
        <p:spPr>
          <a:xfrm>
            <a:off x="731520" y="1417320"/>
            <a:ext cx="53492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5349240" cy="50292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868680" y="1490472"/>
            <a:ext cx="347472" cy="347472"/>
          </a:xfrm>
          <a:prstGeom prst="rect">
            <a:avLst/>
          </a:prstGeom>
        </p:spPr>
      </p:pic>
      <p:sp>
        <p:nvSpPr>
          <p:cNvPr id="8" name="Text 5"/>
          <p:cNvSpPr/>
          <p:nvPr/>
        </p:nvSpPr>
        <p:spPr>
          <a:xfrm>
            <a:off x="1280160" y="1417320"/>
            <a:ext cx="48006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What is Diabetes?</a:t>
            </a:r>
            <a:endParaRPr lang="en-US" sz="1400" dirty="0"/>
          </a:p>
        </p:txBody>
      </p:sp>
      <p:sp>
        <p:nvSpPr>
          <p:cNvPr id="9" name="Text 6"/>
          <p:cNvSpPr/>
          <p:nvPr/>
        </p:nvSpPr>
        <p:spPr>
          <a:xfrm>
            <a:off x="914400" y="2057400"/>
            <a:ext cx="4983480" cy="13716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Insulin is the "key" that unlocks cells so glucose can enter for energy. In diabetes, the key is missing (Type 1) or the lock is damaged (Type 2). Glucose stays in the bloodstream → hyperglycemia.</a:t>
            </a:r>
            <a:endParaRPr lang="en-US" sz="1200" dirty="0"/>
          </a:p>
        </p:txBody>
      </p:sp>
      <p:sp>
        <p:nvSpPr>
          <p:cNvPr id="10" name="Text 7"/>
          <p:cNvSpPr/>
          <p:nvPr/>
        </p:nvSpPr>
        <p:spPr>
          <a:xfrm>
            <a:off x="914400" y="3520440"/>
            <a:ext cx="4983480" cy="274320"/>
          </a:xfrm>
          <a:prstGeom prst="rect">
            <a:avLst/>
          </a:prstGeom>
          <a:noFill/>
          <a:ln/>
        </p:spPr>
        <p:txBody>
          <a:bodyPr wrap="square" lIns="0" tIns="0" rIns="0" bIns="0" rtlCol="0" anchor="ctr"/>
          <a:lstStyle/>
          <a:p>
            <a:pPr indent="0" marL="0">
              <a:buNone/>
            </a:pPr>
            <a:r>
              <a:rPr lang="en-US" sz="1100" b="1" dirty="0">
                <a:solidFill>
                  <a:srgbClr val="0F4C5C"/>
                </a:solidFill>
                <a:latin typeface="Georgia" pitchFamily="34" charset="0"/>
                <a:ea typeface="Georgia" pitchFamily="34" charset="-122"/>
                <a:cs typeface="Georgia" pitchFamily="34" charset="-120"/>
              </a:rPr>
              <a:t>CLASSIC 3 Ps OF HYPERGLYCEMIA</a:t>
            </a:r>
            <a:endParaRPr lang="en-US" sz="1100" dirty="0"/>
          </a:p>
        </p:txBody>
      </p:sp>
      <p:sp>
        <p:nvSpPr>
          <p:cNvPr id="11" name="Shape 8"/>
          <p:cNvSpPr/>
          <p:nvPr/>
        </p:nvSpPr>
        <p:spPr>
          <a:xfrm>
            <a:off x="1005840" y="3931920"/>
            <a:ext cx="320040" cy="320040"/>
          </a:xfrm>
          <a:prstGeom prst="ellipse">
            <a:avLst/>
          </a:prstGeom>
          <a:solidFill>
            <a:srgbClr val="E36414"/>
          </a:solidFill>
          <a:ln w="12700">
            <a:solidFill>
              <a:srgbClr val="E36414"/>
            </a:solidFill>
            <a:prstDash val="solid"/>
          </a:ln>
        </p:spPr>
      </p:sp>
      <p:sp>
        <p:nvSpPr>
          <p:cNvPr id="12" name="Text 9"/>
          <p:cNvSpPr/>
          <p:nvPr/>
        </p:nvSpPr>
        <p:spPr>
          <a:xfrm>
            <a:off x="1005840" y="391363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a:t>
            </a:r>
            <a:endParaRPr lang="en-US" sz="1400" dirty="0"/>
          </a:p>
        </p:txBody>
      </p:sp>
      <p:sp>
        <p:nvSpPr>
          <p:cNvPr id="13" name="Text 10"/>
          <p:cNvSpPr/>
          <p:nvPr/>
        </p:nvSpPr>
        <p:spPr>
          <a:xfrm>
            <a:off x="1463040" y="3840480"/>
            <a:ext cx="4572000" cy="274320"/>
          </a:xfrm>
          <a:prstGeom prst="rect">
            <a:avLst/>
          </a:prstGeom>
          <a:noFill/>
          <a:ln/>
        </p:spPr>
        <p:txBody>
          <a:bodyPr wrap="square" lIns="0" tIns="0" rIns="0" bIns="0" rtlCol="0" anchor="ctr"/>
          <a:lstStyle/>
          <a:p>
            <a:pPr indent="0" marL="0">
              <a:buNone/>
            </a:pPr>
            <a:r>
              <a:rPr lang="en-US" sz="1250" b="1" dirty="0">
                <a:solidFill>
                  <a:srgbClr val="1E293B"/>
                </a:solidFill>
                <a:latin typeface="Georgia" pitchFamily="34" charset="0"/>
                <a:ea typeface="Georgia" pitchFamily="34" charset="-122"/>
                <a:cs typeface="Georgia" pitchFamily="34" charset="-120"/>
              </a:rPr>
              <a:t>Polyuria</a:t>
            </a:r>
            <a:endParaRPr lang="en-US" sz="1250" dirty="0"/>
          </a:p>
        </p:txBody>
      </p:sp>
      <p:sp>
        <p:nvSpPr>
          <p:cNvPr id="14" name="Text 11"/>
          <p:cNvSpPr/>
          <p:nvPr/>
        </p:nvSpPr>
        <p:spPr>
          <a:xfrm>
            <a:off x="1463040" y="4114800"/>
            <a:ext cx="4572000" cy="320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Excess urination — glucose pulls water</a:t>
            </a:r>
            <a:endParaRPr lang="en-US" sz="1050" dirty="0"/>
          </a:p>
        </p:txBody>
      </p:sp>
      <p:sp>
        <p:nvSpPr>
          <p:cNvPr id="15" name="Shape 12"/>
          <p:cNvSpPr/>
          <p:nvPr/>
        </p:nvSpPr>
        <p:spPr>
          <a:xfrm>
            <a:off x="1005840" y="4617720"/>
            <a:ext cx="320040" cy="320040"/>
          </a:xfrm>
          <a:prstGeom prst="ellipse">
            <a:avLst/>
          </a:prstGeom>
          <a:solidFill>
            <a:srgbClr val="E36414"/>
          </a:solidFill>
          <a:ln w="12700">
            <a:solidFill>
              <a:srgbClr val="E36414"/>
            </a:solidFill>
            <a:prstDash val="solid"/>
          </a:ln>
        </p:spPr>
      </p:sp>
      <p:sp>
        <p:nvSpPr>
          <p:cNvPr id="16" name="Text 13"/>
          <p:cNvSpPr/>
          <p:nvPr/>
        </p:nvSpPr>
        <p:spPr>
          <a:xfrm>
            <a:off x="1005840" y="459943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a:t>
            </a:r>
            <a:endParaRPr lang="en-US" sz="1400" dirty="0"/>
          </a:p>
        </p:txBody>
      </p:sp>
      <p:sp>
        <p:nvSpPr>
          <p:cNvPr id="17" name="Text 14"/>
          <p:cNvSpPr/>
          <p:nvPr/>
        </p:nvSpPr>
        <p:spPr>
          <a:xfrm>
            <a:off x="1463040" y="4526280"/>
            <a:ext cx="4572000" cy="274320"/>
          </a:xfrm>
          <a:prstGeom prst="rect">
            <a:avLst/>
          </a:prstGeom>
          <a:noFill/>
          <a:ln/>
        </p:spPr>
        <p:txBody>
          <a:bodyPr wrap="square" lIns="0" tIns="0" rIns="0" bIns="0" rtlCol="0" anchor="ctr"/>
          <a:lstStyle/>
          <a:p>
            <a:pPr indent="0" marL="0">
              <a:buNone/>
            </a:pPr>
            <a:r>
              <a:rPr lang="en-US" sz="1250" b="1" dirty="0">
                <a:solidFill>
                  <a:srgbClr val="1E293B"/>
                </a:solidFill>
                <a:latin typeface="Georgia" pitchFamily="34" charset="0"/>
                <a:ea typeface="Georgia" pitchFamily="34" charset="-122"/>
                <a:cs typeface="Georgia" pitchFamily="34" charset="-120"/>
              </a:rPr>
              <a:t>Polydipsia</a:t>
            </a:r>
            <a:endParaRPr lang="en-US" sz="1250" dirty="0"/>
          </a:p>
        </p:txBody>
      </p:sp>
      <p:sp>
        <p:nvSpPr>
          <p:cNvPr id="18" name="Text 15"/>
          <p:cNvSpPr/>
          <p:nvPr/>
        </p:nvSpPr>
        <p:spPr>
          <a:xfrm>
            <a:off x="1463040" y="4800600"/>
            <a:ext cx="4572000" cy="320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Excessive thirst — from dehydration</a:t>
            </a:r>
            <a:endParaRPr lang="en-US" sz="1050" dirty="0"/>
          </a:p>
        </p:txBody>
      </p:sp>
      <p:sp>
        <p:nvSpPr>
          <p:cNvPr id="19" name="Shape 16"/>
          <p:cNvSpPr/>
          <p:nvPr/>
        </p:nvSpPr>
        <p:spPr>
          <a:xfrm>
            <a:off x="1005840" y="5303520"/>
            <a:ext cx="320040" cy="320040"/>
          </a:xfrm>
          <a:prstGeom prst="ellipse">
            <a:avLst/>
          </a:prstGeom>
          <a:solidFill>
            <a:srgbClr val="E36414"/>
          </a:solidFill>
          <a:ln w="12700">
            <a:solidFill>
              <a:srgbClr val="E36414"/>
            </a:solidFill>
            <a:prstDash val="solid"/>
          </a:ln>
        </p:spPr>
      </p:sp>
      <p:sp>
        <p:nvSpPr>
          <p:cNvPr id="20" name="Text 17"/>
          <p:cNvSpPr/>
          <p:nvPr/>
        </p:nvSpPr>
        <p:spPr>
          <a:xfrm>
            <a:off x="1005840" y="528523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a:t>
            </a:r>
            <a:endParaRPr lang="en-US" sz="1400" dirty="0"/>
          </a:p>
        </p:txBody>
      </p:sp>
      <p:sp>
        <p:nvSpPr>
          <p:cNvPr id="21" name="Text 18"/>
          <p:cNvSpPr/>
          <p:nvPr/>
        </p:nvSpPr>
        <p:spPr>
          <a:xfrm>
            <a:off x="1463040" y="5212080"/>
            <a:ext cx="4572000" cy="274320"/>
          </a:xfrm>
          <a:prstGeom prst="rect">
            <a:avLst/>
          </a:prstGeom>
          <a:noFill/>
          <a:ln/>
        </p:spPr>
        <p:txBody>
          <a:bodyPr wrap="square" lIns="0" tIns="0" rIns="0" bIns="0" rtlCol="0" anchor="ctr"/>
          <a:lstStyle/>
          <a:p>
            <a:pPr indent="0" marL="0">
              <a:buNone/>
            </a:pPr>
            <a:r>
              <a:rPr lang="en-US" sz="1250" b="1" dirty="0">
                <a:solidFill>
                  <a:srgbClr val="1E293B"/>
                </a:solidFill>
                <a:latin typeface="Georgia" pitchFamily="34" charset="0"/>
                <a:ea typeface="Georgia" pitchFamily="34" charset="-122"/>
                <a:cs typeface="Georgia" pitchFamily="34" charset="-120"/>
              </a:rPr>
              <a:t>Polyphagia</a:t>
            </a:r>
            <a:endParaRPr lang="en-US" sz="1250" dirty="0"/>
          </a:p>
        </p:txBody>
      </p:sp>
      <p:sp>
        <p:nvSpPr>
          <p:cNvPr id="22" name="Text 19"/>
          <p:cNvSpPr/>
          <p:nvPr/>
        </p:nvSpPr>
        <p:spPr>
          <a:xfrm>
            <a:off x="1463040" y="5486400"/>
            <a:ext cx="4572000" cy="320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Excessive hunger — cells are starving</a:t>
            </a:r>
            <a:endParaRPr lang="en-US" sz="1050" dirty="0"/>
          </a:p>
        </p:txBody>
      </p:sp>
      <p:sp>
        <p:nvSpPr>
          <p:cNvPr id="23" name="Shape 20"/>
          <p:cNvSpPr/>
          <p:nvPr/>
        </p:nvSpPr>
        <p:spPr>
          <a:xfrm>
            <a:off x="6263640" y="1417320"/>
            <a:ext cx="516636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4" name="Shape 21"/>
          <p:cNvSpPr/>
          <p:nvPr/>
        </p:nvSpPr>
        <p:spPr>
          <a:xfrm>
            <a:off x="6263640" y="1417320"/>
            <a:ext cx="5166360" cy="502920"/>
          </a:xfrm>
          <a:prstGeom prst="rect">
            <a:avLst/>
          </a:prstGeom>
          <a:solidFill>
            <a:srgbClr val="E36414"/>
          </a:solidFill>
          <a:ln w="12700">
            <a:solidFill>
              <a:srgbClr val="E36414"/>
            </a:solidFill>
            <a:prstDash val="solid"/>
          </a:ln>
        </p:spPr>
      </p:sp>
      <p:pic>
        <p:nvPicPr>
          <p:cNvPr id="25" name="Image 1" descr="preencoded.png">    </p:cNvPr>
          <p:cNvPicPr>
            <a:picLocks noChangeAspect="1"/>
          </p:cNvPicPr>
          <p:nvPr/>
        </p:nvPicPr>
        <p:blipFill>
          <a:blip r:embed="rId2"/>
          <a:stretch>
            <a:fillRect/>
          </a:stretch>
        </p:blipFill>
        <p:spPr>
          <a:xfrm>
            <a:off x="6400800" y="1490472"/>
            <a:ext cx="347472" cy="347472"/>
          </a:xfrm>
          <a:prstGeom prst="rect">
            <a:avLst/>
          </a:prstGeom>
        </p:spPr>
      </p:pic>
      <p:sp>
        <p:nvSpPr>
          <p:cNvPr id="26" name="Text 22"/>
          <p:cNvSpPr/>
          <p:nvPr/>
        </p:nvSpPr>
        <p:spPr>
          <a:xfrm>
            <a:off x="6812280" y="1417320"/>
            <a:ext cx="461772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Diagnostic Criteria (ADA)</a:t>
            </a:r>
            <a:endParaRPr lang="en-US" sz="1400" dirty="0"/>
          </a:p>
        </p:txBody>
      </p:sp>
      <p:sp>
        <p:nvSpPr>
          <p:cNvPr id="27" name="Shape 23"/>
          <p:cNvSpPr/>
          <p:nvPr/>
        </p:nvSpPr>
        <p:spPr>
          <a:xfrm>
            <a:off x="6446520" y="2194560"/>
            <a:ext cx="4800600" cy="822960"/>
          </a:xfrm>
          <a:prstGeom prst="rect">
            <a:avLst/>
          </a:prstGeom>
          <a:solidFill>
            <a:srgbClr val="FEF3C7"/>
          </a:solidFill>
          <a:ln w="6350">
            <a:solidFill>
              <a:srgbClr val="E36414"/>
            </a:solidFill>
            <a:prstDash val="solid"/>
          </a:ln>
        </p:spPr>
      </p:sp>
      <p:sp>
        <p:nvSpPr>
          <p:cNvPr id="28" name="Text 24"/>
          <p:cNvSpPr/>
          <p:nvPr/>
        </p:nvSpPr>
        <p:spPr>
          <a:xfrm>
            <a:off x="6583680" y="2240280"/>
            <a:ext cx="2834640" cy="36576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Fasting Blood Glucose</a:t>
            </a:r>
            <a:endParaRPr lang="en-US" sz="1200" dirty="0"/>
          </a:p>
        </p:txBody>
      </p:sp>
      <p:sp>
        <p:nvSpPr>
          <p:cNvPr id="29" name="Text 25"/>
          <p:cNvSpPr/>
          <p:nvPr/>
        </p:nvSpPr>
        <p:spPr>
          <a:xfrm>
            <a:off x="6583680" y="2606040"/>
            <a:ext cx="283464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After 8-hour fast</a:t>
            </a:r>
            <a:endParaRPr lang="en-US" sz="1000" dirty="0"/>
          </a:p>
        </p:txBody>
      </p:sp>
      <p:sp>
        <p:nvSpPr>
          <p:cNvPr id="30" name="Text 26"/>
          <p:cNvSpPr/>
          <p:nvPr/>
        </p:nvSpPr>
        <p:spPr>
          <a:xfrm>
            <a:off x="9418320" y="2331720"/>
            <a:ext cx="1783080" cy="548640"/>
          </a:xfrm>
          <a:prstGeom prst="rect">
            <a:avLst/>
          </a:prstGeom>
          <a:noFill/>
          <a:ln/>
        </p:spPr>
        <p:txBody>
          <a:bodyPr wrap="square" lIns="0" tIns="0" rIns="0" bIns="0" rtlCol="0" anchor="ctr"/>
          <a:lstStyle/>
          <a:p>
            <a:pPr algn="ctr" indent="0" marL="0">
              <a:buNone/>
            </a:pPr>
            <a:r>
              <a:rPr lang="en-US" sz="1600" b="1" dirty="0">
                <a:solidFill>
                  <a:srgbClr val="DC2626"/>
                </a:solidFill>
                <a:latin typeface="Georgia" pitchFamily="34" charset="0"/>
                <a:ea typeface="Georgia" pitchFamily="34" charset="-122"/>
                <a:cs typeface="Georgia" pitchFamily="34" charset="-120"/>
              </a:rPr>
              <a:t>≥ 126 mg/dL</a:t>
            </a:r>
            <a:endParaRPr lang="en-US" sz="1600" dirty="0"/>
          </a:p>
        </p:txBody>
      </p:sp>
      <p:sp>
        <p:nvSpPr>
          <p:cNvPr id="31" name="Shape 27"/>
          <p:cNvSpPr/>
          <p:nvPr/>
        </p:nvSpPr>
        <p:spPr>
          <a:xfrm>
            <a:off x="6446520" y="3154680"/>
            <a:ext cx="4800600" cy="822960"/>
          </a:xfrm>
          <a:prstGeom prst="rect">
            <a:avLst/>
          </a:prstGeom>
          <a:solidFill>
            <a:srgbClr val="FEF3C7"/>
          </a:solidFill>
          <a:ln w="6350">
            <a:solidFill>
              <a:srgbClr val="E36414"/>
            </a:solidFill>
            <a:prstDash val="solid"/>
          </a:ln>
        </p:spPr>
      </p:sp>
      <p:sp>
        <p:nvSpPr>
          <p:cNvPr id="32" name="Text 28"/>
          <p:cNvSpPr/>
          <p:nvPr/>
        </p:nvSpPr>
        <p:spPr>
          <a:xfrm>
            <a:off x="6583680" y="3200400"/>
            <a:ext cx="2834640" cy="36576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2-Hour OGTT</a:t>
            </a:r>
            <a:endParaRPr lang="en-US" sz="1200" dirty="0"/>
          </a:p>
        </p:txBody>
      </p:sp>
      <p:sp>
        <p:nvSpPr>
          <p:cNvPr id="33" name="Text 29"/>
          <p:cNvSpPr/>
          <p:nvPr/>
        </p:nvSpPr>
        <p:spPr>
          <a:xfrm>
            <a:off x="6583680" y="3566160"/>
            <a:ext cx="283464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After 75g glucose load</a:t>
            </a:r>
            <a:endParaRPr lang="en-US" sz="1000" dirty="0"/>
          </a:p>
        </p:txBody>
      </p:sp>
      <p:sp>
        <p:nvSpPr>
          <p:cNvPr id="34" name="Text 30"/>
          <p:cNvSpPr/>
          <p:nvPr/>
        </p:nvSpPr>
        <p:spPr>
          <a:xfrm>
            <a:off x="9418320" y="3291840"/>
            <a:ext cx="1783080" cy="548640"/>
          </a:xfrm>
          <a:prstGeom prst="rect">
            <a:avLst/>
          </a:prstGeom>
          <a:noFill/>
          <a:ln/>
        </p:spPr>
        <p:txBody>
          <a:bodyPr wrap="square" lIns="0" tIns="0" rIns="0" bIns="0" rtlCol="0" anchor="ctr"/>
          <a:lstStyle/>
          <a:p>
            <a:pPr algn="ctr" indent="0" marL="0">
              <a:buNone/>
            </a:pPr>
            <a:r>
              <a:rPr lang="en-US" sz="1600" b="1" dirty="0">
                <a:solidFill>
                  <a:srgbClr val="DC2626"/>
                </a:solidFill>
                <a:latin typeface="Georgia" pitchFamily="34" charset="0"/>
                <a:ea typeface="Georgia" pitchFamily="34" charset="-122"/>
                <a:cs typeface="Georgia" pitchFamily="34" charset="-120"/>
              </a:rPr>
              <a:t>≥ 200 mg/dL</a:t>
            </a:r>
            <a:endParaRPr lang="en-US" sz="1600" dirty="0"/>
          </a:p>
        </p:txBody>
      </p:sp>
      <p:sp>
        <p:nvSpPr>
          <p:cNvPr id="35" name="Shape 31"/>
          <p:cNvSpPr/>
          <p:nvPr/>
        </p:nvSpPr>
        <p:spPr>
          <a:xfrm>
            <a:off x="6446520" y="4114800"/>
            <a:ext cx="4800600" cy="822960"/>
          </a:xfrm>
          <a:prstGeom prst="rect">
            <a:avLst/>
          </a:prstGeom>
          <a:solidFill>
            <a:srgbClr val="FEF3C7"/>
          </a:solidFill>
          <a:ln w="6350">
            <a:solidFill>
              <a:srgbClr val="E36414"/>
            </a:solidFill>
            <a:prstDash val="solid"/>
          </a:ln>
        </p:spPr>
      </p:sp>
      <p:sp>
        <p:nvSpPr>
          <p:cNvPr id="36" name="Text 32"/>
          <p:cNvSpPr/>
          <p:nvPr/>
        </p:nvSpPr>
        <p:spPr>
          <a:xfrm>
            <a:off x="6583680" y="4160520"/>
            <a:ext cx="2834640" cy="36576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Hemoglobin A1C</a:t>
            </a:r>
            <a:endParaRPr lang="en-US" sz="1200" dirty="0"/>
          </a:p>
        </p:txBody>
      </p:sp>
      <p:sp>
        <p:nvSpPr>
          <p:cNvPr id="37" name="Text 33"/>
          <p:cNvSpPr/>
          <p:nvPr/>
        </p:nvSpPr>
        <p:spPr>
          <a:xfrm>
            <a:off x="6583680" y="4526280"/>
            <a:ext cx="283464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Average 3-month glucose</a:t>
            </a:r>
            <a:endParaRPr lang="en-US" sz="1000" dirty="0"/>
          </a:p>
        </p:txBody>
      </p:sp>
      <p:sp>
        <p:nvSpPr>
          <p:cNvPr id="38" name="Text 34"/>
          <p:cNvSpPr/>
          <p:nvPr/>
        </p:nvSpPr>
        <p:spPr>
          <a:xfrm>
            <a:off x="9418320" y="4251960"/>
            <a:ext cx="1783080" cy="548640"/>
          </a:xfrm>
          <a:prstGeom prst="rect">
            <a:avLst/>
          </a:prstGeom>
          <a:noFill/>
          <a:ln/>
        </p:spPr>
        <p:txBody>
          <a:bodyPr wrap="square" lIns="0" tIns="0" rIns="0" bIns="0" rtlCol="0" anchor="ctr"/>
          <a:lstStyle/>
          <a:p>
            <a:pPr algn="ctr" indent="0" marL="0">
              <a:buNone/>
            </a:pPr>
            <a:r>
              <a:rPr lang="en-US" sz="1600" b="1" dirty="0">
                <a:solidFill>
                  <a:srgbClr val="DC2626"/>
                </a:solidFill>
                <a:latin typeface="Georgia" pitchFamily="34" charset="0"/>
                <a:ea typeface="Georgia" pitchFamily="34" charset="-122"/>
                <a:cs typeface="Georgia" pitchFamily="34" charset="-120"/>
              </a:rPr>
              <a:t>≥ 6.5%</a:t>
            </a:r>
            <a:endParaRPr lang="en-US" sz="1600" dirty="0"/>
          </a:p>
        </p:txBody>
      </p:sp>
      <p:sp>
        <p:nvSpPr>
          <p:cNvPr id="39" name="Shape 35"/>
          <p:cNvSpPr/>
          <p:nvPr/>
        </p:nvSpPr>
        <p:spPr>
          <a:xfrm>
            <a:off x="6446520" y="5074920"/>
            <a:ext cx="4800600" cy="822960"/>
          </a:xfrm>
          <a:prstGeom prst="rect">
            <a:avLst/>
          </a:prstGeom>
          <a:solidFill>
            <a:srgbClr val="FEF3C7"/>
          </a:solidFill>
          <a:ln w="6350">
            <a:solidFill>
              <a:srgbClr val="E36414"/>
            </a:solidFill>
            <a:prstDash val="solid"/>
          </a:ln>
        </p:spPr>
      </p:sp>
      <p:sp>
        <p:nvSpPr>
          <p:cNvPr id="40" name="Text 36"/>
          <p:cNvSpPr/>
          <p:nvPr/>
        </p:nvSpPr>
        <p:spPr>
          <a:xfrm>
            <a:off x="6583680" y="5120640"/>
            <a:ext cx="2834640" cy="36576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Random Glucose</a:t>
            </a:r>
            <a:endParaRPr lang="en-US" sz="1200" dirty="0"/>
          </a:p>
        </p:txBody>
      </p:sp>
      <p:sp>
        <p:nvSpPr>
          <p:cNvPr id="41" name="Text 37"/>
          <p:cNvSpPr/>
          <p:nvPr/>
        </p:nvSpPr>
        <p:spPr>
          <a:xfrm>
            <a:off x="6583680" y="5486400"/>
            <a:ext cx="283464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With classic symptoms</a:t>
            </a:r>
            <a:endParaRPr lang="en-US" sz="1000" dirty="0"/>
          </a:p>
        </p:txBody>
      </p:sp>
      <p:sp>
        <p:nvSpPr>
          <p:cNvPr id="42" name="Text 38"/>
          <p:cNvSpPr/>
          <p:nvPr/>
        </p:nvSpPr>
        <p:spPr>
          <a:xfrm>
            <a:off x="9418320" y="5212080"/>
            <a:ext cx="1783080" cy="548640"/>
          </a:xfrm>
          <a:prstGeom prst="rect">
            <a:avLst/>
          </a:prstGeom>
          <a:noFill/>
          <a:ln/>
        </p:spPr>
        <p:txBody>
          <a:bodyPr wrap="square" lIns="0" tIns="0" rIns="0" bIns="0" rtlCol="0" anchor="ctr"/>
          <a:lstStyle/>
          <a:p>
            <a:pPr algn="ctr" indent="0" marL="0">
              <a:buNone/>
            </a:pPr>
            <a:r>
              <a:rPr lang="en-US" sz="1600" b="1" dirty="0">
                <a:solidFill>
                  <a:srgbClr val="DC2626"/>
                </a:solidFill>
                <a:latin typeface="Georgia" pitchFamily="34" charset="0"/>
                <a:ea typeface="Georgia" pitchFamily="34" charset="-122"/>
                <a:cs typeface="Georgia" pitchFamily="34" charset="-120"/>
              </a:rPr>
              <a:t>≥ 200 mg/dL</a:t>
            </a:r>
            <a:endParaRPr lang="en-US" sz="1600" dirty="0"/>
          </a:p>
        </p:txBody>
      </p:sp>
      <p:sp>
        <p:nvSpPr>
          <p:cNvPr id="43" name="Text 39"/>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4" name="Text 40"/>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Type 1 Diabetes Mellitus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Autoimmune destruction of β-cells — absolute insulin deficiency</a:t>
            </a:r>
            <a:endParaRPr lang="en-US" sz="1400" dirty="0"/>
          </a:p>
        </p:txBody>
      </p:sp>
      <p:sp>
        <p:nvSpPr>
          <p:cNvPr id="5" name="Shape 3"/>
          <p:cNvSpPr/>
          <p:nvPr/>
        </p:nvSpPr>
        <p:spPr>
          <a:xfrm>
            <a:off x="731520" y="1417320"/>
            <a:ext cx="3383280" cy="21031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3383280" cy="91440"/>
          </a:xfrm>
          <a:prstGeom prst="rect">
            <a:avLst/>
          </a:prstGeom>
          <a:solidFill>
            <a:srgbClr val="0F4C5C"/>
          </a:solidFill>
          <a:ln w="12700">
            <a:solidFill>
              <a:srgbClr val="0F4C5C"/>
            </a:solidFill>
            <a:prstDash val="solid"/>
          </a:ln>
        </p:spPr>
      </p:sp>
      <p:sp>
        <p:nvSpPr>
          <p:cNvPr id="7" name="Shape 5"/>
          <p:cNvSpPr/>
          <p:nvPr/>
        </p:nvSpPr>
        <p:spPr>
          <a:xfrm>
            <a:off x="914400" y="1691640"/>
            <a:ext cx="640080" cy="640080"/>
          </a:xfrm>
          <a:prstGeom prst="ellipse">
            <a:avLst/>
          </a:prstGeom>
          <a:solidFill>
            <a:srgbClr val="E0F2FE"/>
          </a:solidFill>
          <a:ln w="12700">
            <a:solidFill>
              <a:srgbClr val="0F4C5C"/>
            </a:solidFill>
            <a:prstDash val="solid"/>
          </a:ln>
        </p:spPr>
      </p:sp>
      <p:pic>
        <p:nvPicPr>
          <p:cNvPr id="8" name="Image 0" descr="preencoded.png">    </p:cNvPr>
          <p:cNvPicPr>
            <a:picLocks noChangeAspect="1"/>
          </p:cNvPicPr>
          <p:nvPr/>
        </p:nvPicPr>
        <p:blipFill>
          <a:blip r:embed="rId1"/>
          <a:stretch>
            <a:fillRect/>
          </a:stretch>
        </p:blipFill>
        <p:spPr>
          <a:xfrm>
            <a:off x="1033272" y="1810512"/>
            <a:ext cx="402336" cy="402336"/>
          </a:xfrm>
          <a:prstGeom prst="rect">
            <a:avLst/>
          </a:prstGeom>
        </p:spPr>
      </p:pic>
      <p:sp>
        <p:nvSpPr>
          <p:cNvPr id="9" name="Text 6"/>
          <p:cNvSpPr/>
          <p:nvPr/>
        </p:nvSpPr>
        <p:spPr>
          <a:xfrm>
            <a:off x="1691640" y="1737360"/>
            <a:ext cx="228600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Cause</a:t>
            </a:r>
            <a:endParaRPr lang="en-US" sz="1500" dirty="0"/>
          </a:p>
        </p:txBody>
      </p:sp>
      <p:sp>
        <p:nvSpPr>
          <p:cNvPr id="10" name="Text 7"/>
          <p:cNvSpPr/>
          <p:nvPr/>
        </p:nvSpPr>
        <p:spPr>
          <a:xfrm>
            <a:off x="960120" y="2423160"/>
            <a:ext cx="2926080" cy="10515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Autoimmune destruction of pancreatic β-cells. Often triggered by viral illness in genetically susceptible individuals.</a:t>
            </a:r>
            <a:endParaRPr lang="en-US" sz="1100" dirty="0"/>
          </a:p>
        </p:txBody>
      </p:sp>
      <p:sp>
        <p:nvSpPr>
          <p:cNvPr id="11" name="Shape 8"/>
          <p:cNvSpPr/>
          <p:nvPr/>
        </p:nvSpPr>
        <p:spPr>
          <a:xfrm>
            <a:off x="4389120" y="1417320"/>
            <a:ext cx="3383280" cy="21031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2" name="Shape 9"/>
          <p:cNvSpPr/>
          <p:nvPr/>
        </p:nvSpPr>
        <p:spPr>
          <a:xfrm>
            <a:off x="4389120" y="1417320"/>
            <a:ext cx="3383280" cy="91440"/>
          </a:xfrm>
          <a:prstGeom prst="rect">
            <a:avLst/>
          </a:prstGeom>
          <a:solidFill>
            <a:srgbClr val="0F4C5C"/>
          </a:solidFill>
          <a:ln w="12700">
            <a:solidFill>
              <a:srgbClr val="0F4C5C"/>
            </a:solidFill>
            <a:prstDash val="solid"/>
          </a:ln>
        </p:spPr>
      </p:sp>
      <p:sp>
        <p:nvSpPr>
          <p:cNvPr id="13" name="Shape 10"/>
          <p:cNvSpPr/>
          <p:nvPr/>
        </p:nvSpPr>
        <p:spPr>
          <a:xfrm>
            <a:off x="4572000" y="1691640"/>
            <a:ext cx="640080" cy="640080"/>
          </a:xfrm>
          <a:prstGeom prst="ellipse">
            <a:avLst/>
          </a:prstGeom>
          <a:solidFill>
            <a:srgbClr val="E0F2FE"/>
          </a:solidFill>
          <a:ln w="12700">
            <a:solidFill>
              <a:srgbClr val="0F4C5C"/>
            </a:solidFill>
            <a:prstDash val="solid"/>
          </a:ln>
        </p:spPr>
      </p:sp>
      <p:pic>
        <p:nvPicPr>
          <p:cNvPr id="14" name="Image 1" descr="preencoded.png">    </p:cNvPr>
          <p:cNvPicPr>
            <a:picLocks noChangeAspect="1"/>
          </p:cNvPicPr>
          <p:nvPr/>
        </p:nvPicPr>
        <p:blipFill>
          <a:blip r:embed="rId2"/>
          <a:stretch>
            <a:fillRect/>
          </a:stretch>
        </p:blipFill>
        <p:spPr>
          <a:xfrm>
            <a:off x="4690872" y="1810512"/>
            <a:ext cx="402336" cy="402336"/>
          </a:xfrm>
          <a:prstGeom prst="rect">
            <a:avLst/>
          </a:prstGeom>
        </p:spPr>
      </p:pic>
      <p:sp>
        <p:nvSpPr>
          <p:cNvPr id="15" name="Text 11"/>
          <p:cNvSpPr/>
          <p:nvPr/>
        </p:nvSpPr>
        <p:spPr>
          <a:xfrm>
            <a:off x="5349240" y="1737360"/>
            <a:ext cx="228600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Onset</a:t>
            </a:r>
            <a:endParaRPr lang="en-US" sz="1500" dirty="0"/>
          </a:p>
        </p:txBody>
      </p:sp>
      <p:sp>
        <p:nvSpPr>
          <p:cNvPr id="16" name="Text 12"/>
          <p:cNvSpPr/>
          <p:nvPr/>
        </p:nvSpPr>
        <p:spPr>
          <a:xfrm>
            <a:off x="4617720" y="2423160"/>
            <a:ext cx="2926080" cy="10515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Abrupt, usually in childhood or adolescence. Patient is typically thin or normal weight.</a:t>
            </a:r>
            <a:endParaRPr lang="en-US" sz="1100" dirty="0"/>
          </a:p>
        </p:txBody>
      </p:sp>
      <p:sp>
        <p:nvSpPr>
          <p:cNvPr id="17" name="Shape 13"/>
          <p:cNvSpPr/>
          <p:nvPr/>
        </p:nvSpPr>
        <p:spPr>
          <a:xfrm>
            <a:off x="8046720" y="1417320"/>
            <a:ext cx="3383280" cy="21031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18" name="Shape 14"/>
          <p:cNvSpPr/>
          <p:nvPr/>
        </p:nvSpPr>
        <p:spPr>
          <a:xfrm>
            <a:off x="8046720" y="1417320"/>
            <a:ext cx="3383280" cy="91440"/>
          </a:xfrm>
          <a:prstGeom prst="rect">
            <a:avLst/>
          </a:prstGeom>
          <a:solidFill>
            <a:srgbClr val="0F4C5C"/>
          </a:solidFill>
          <a:ln w="12700">
            <a:solidFill>
              <a:srgbClr val="0F4C5C"/>
            </a:solidFill>
            <a:prstDash val="solid"/>
          </a:ln>
        </p:spPr>
      </p:sp>
      <p:sp>
        <p:nvSpPr>
          <p:cNvPr id="19" name="Shape 15"/>
          <p:cNvSpPr/>
          <p:nvPr/>
        </p:nvSpPr>
        <p:spPr>
          <a:xfrm>
            <a:off x="8229600" y="1691640"/>
            <a:ext cx="640080" cy="640080"/>
          </a:xfrm>
          <a:prstGeom prst="ellipse">
            <a:avLst/>
          </a:prstGeom>
          <a:solidFill>
            <a:srgbClr val="E0F2FE"/>
          </a:solidFill>
          <a:ln w="12700">
            <a:solidFill>
              <a:srgbClr val="0F4C5C"/>
            </a:solidFill>
            <a:prstDash val="solid"/>
          </a:ln>
        </p:spPr>
      </p:sp>
      <p:pic>
        <p:nvPicPr>
          <p:cNvPr id="20" name="Image 2" descr="preencoded.png">    </p:cNvPr>
          <p:cNvPicPr>
            <a:picLocks noChangeAspect="1"/>
          </p:cNvPicPr>
          <p:nvPr/>
        </p:nvPicPr>
        <p:blipFill>
          <a:blip r:embed="rId3"/>
          <a:stretch>
            <a:fillRect/>
          </a:stretch>
        </p:blipFill>
        <p:spPr>
          <a:xfrm>
            <a:off x="8348472" y="1810512"/>
            <a:ext cx="402336" cy="402336"/>
          </a:xfrm>
          <a:prstGeom prst="rect">
            <a:avLst/>
          </a:prstGeom>
        </p:spPr>
      </p:pic>
      <p:sp>
        <p:nvSpPr>
          <p:cNvPr id="21" name="Text 16"/>
          <p:cNvSpPr/>
          <p:nvPr/>
        </p:nvSpPr>
        <p:spPr>
          <a:xfrm>
            <a:off x="9006840" y="1737360"/>
            <a:ext cx="2286000" cy="365760"/>
          </a:xfrm>
          <a:prstGeom prst="rect">
            <a:avLst/>
          </a:prstGeom>
          <a:noFill/>
          <a:ln/>
        </p:spPr>
        <p:txBody>
          <a:bodyPr wrap="square" lIns="0" tIns="0" rIns="0" bIns="0" rtlCol="0" anchor="ctr"/>
          <a:lstStyle/>
          <a:p>
            <a:pPr indent="0" marL="0">
              <a:buNone/>
            </a:pPr>
            <a:r>
              <a:rPr lang="en-US" sz="1500" b="1" dirty="0">
                <a:solidFill>
                  <a:srgbClr val="0F4C5C"/>
                </a:solidFill>
                <a:latin typeface="Georgia" pitchFamily="34" charset="0"/>
                <a:ea typeface="Georgia" pitchFamily="34" charset="-122"/>
                <a:cs typeface="Georgia" pitchFamily="34" charset="-120"/>
              </a:rPr>
              <a:t>Insulin</a:t>
            </a:r>
            <a:endParaRPr lang="en-US" sz="1500" dirty="0"/>
          </a:p>
        </p:txBody>
      </p:sp>
      <p:sp>
        <p:nvSpPr>
          <p:cNvPr id="22" name="Text 17"/>
          <p:cNvSpPr/>
          <p:nvPr/>
        </p:nvSpPr>
        <p:spPr>
          <a:xfrm>
            <a:off x="8275320" y="2423160"/>
            <a:ext cx="2926080" cy="10515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Body produces little or NO insulin. Patient requires EXOGENOUS insulin for life — no oral meds alone.</a:t>
            </a:r>
            <a:endParaRPr lang="en-US" sz="1100" dirty="0"/>
          </a:p>
        </p:txBody>
      </p:sp>
      <p:sp>
        <p:nvSpPr>
          <p:cNvPr id="23" name="Shape 18"/>
          <p:cNvSpPr/>
          <p:nvPr/>
        </p:nvSpPr>
        <p:spPr>
          <a:xfrm>
            <a:off x="731520" y="3703320"/>
            <a:ext cx="10698480" cy="2560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4" name="Shape 19"/>
          <p:cNvSpPr/>
          <p:nvPr/>
        </p:nvSpPr>
        <p:spPr>
          <a:xfrm>
            <a:off x="731520" y="3703320"/>
            <a:ext cx="10698480" cy="502920"/>
          </a:xfrm>
          <a:prstGeom prst="rect">
            <a:avLst/>
          </a:prstGeom>
          <a:solidFill>
            <a:srgbClr val="E36414"/>
          </a:solidFill>
          <a:ln w="12700">
            <a:solidFill>
              <a:srgbClr val="E36414"/>
            </a:solidFill>
            <a:prstDash val="solid"/>
          </a:ln>
        </p:spPr>
      </p:sp>
      <p:pic>
        <p:nvPicPr>
          <p:cNvPr id="25" name="Image 3" descr="preencoded.png">    </p:cNvPr>
          <p:cNvPicPr>
            <a:picLocks noChangeAspect="1"/>
          </p:cNvPicPr>
          <p:nvPr/>
        </p:nvPicPr>
        <p:blipFill>
          <a:blip r:embed="rId4"/>
          <a:stretch>
            <a:fillRect/>
          </a:stretch>
        </p:blipFill>
        <p:spPr>
          <a:xfrm>
            <a:off x="868680" y="3776472"/>
            <a:ext cx="347472" cy="347472"/>
          </a:xfrm>
          <a:prstGeom prst="rect">
            <a:avLst/>
          </a:prstGeom>
        </p:spPr>
      </p:pic>
      <p:sp>
        <p:nvSpPr>
          <p:cNvPr id="26" name="Text 20"/>
          <p:cNvSpPr/>
          <p:nvPr/>
        </p:nvSpPr>
        <p:spPr>
          <a:xfrm>
            <a:off x="1280160" y="3703320"/>
            <a:ext cx="100584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Signs &amp; Symptoms — "The 3 Ps Plus"</a:t>
            </a:r>
            <a:endParaRPr lang="en-US" sz="1400" dirty="0"/>
          </a:p>
        </p:txBody>
      </p:sp>
      <p:sp>
        <p:nvSpPr>
          <p:cNvPr id="27" name="Shape 21"/>
          <p:cNvSpPr/>
          <p:nvPr/>
        </p:nvSpPr>
        <p:spPr>
          <a:xfrm>
            <a:off x="1051560" y="4572000"/>
            <a:ext cx="274320" cy="274320"/>
          </a:xfrm>
          <a:prstGeom prst="ellipse">
            <a:avLst/>
          </a:prstGeom>
          <a:solidFill>
            <a:srgbClr val="E0F2FE"/>
          </a:solidFill>
          <a:ln w="12700">
            <a:solidFill>
              <a:srgbClr val="0F4C5C"/>
            </a:solidFill>
            <a:prstDash val="solid"/>
          </a:ln>
        </p:spPr>
      </p:sp>
      <p:sp>
        <p:nvSpPr>
          <p:cNvPr id="28" name="Text 22"/>
          <p:cNvSpPr/>
          <p:nvPr/>
        </p:nvSpPr>
        <p:spPr>
          <a:xfrm>
            <a:off x="1051560" y="449884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29" name="Text 23"/>
          <p:cNvSpPr/>
          <p:nvPr/>
        </p:nvSpPr>
        <p:spPr>
          <a:xfrm>
            <a:off x="1417320" y="452628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Polyuria</a:t>
            </a:r>
            <a:endParaRPr lang="en-US" sz="1200" dirty="0"/>
          </a:p>
        </p:txBody>
      </p:sp>
      <p:sp>
        <p:nvSpPr>
          <p:cNvPr id="30" name="Shape 24"/>
          <p:cNvSpPr/>
          <p:nvPr/>
        </p:nvSpPr>
        <p:spPr>
          <a:xfrm>
            <a:off x="3611880" y="4572000"/>
            <a:ext cx="274320" cy="274320"/>
          </a:xfrm>
          <a:prstGeom prst="ellipse">
            <a:avLst/>
          </a:prstGeom>
          <a:solidFill>
            <a:srgbClr val="E0F2FE"/>
          </a:solidFill>
          <a:ln w="12700">
            <a:solidFill>
              <a:srgbClr val="0F4C5C"/>
            </a:solidFill>
            <a:prstDash val="solid"/>
          </a:ln>
        </p:spPr>
      </p:sp>
      <p:sp>
        <p:nvSpPr>
          <p:cNvPr id="31" name="Text 25"/>
          <p:cNvSpPr/>
          <p:nvPr/>
        </p:nvSpPr>
        <p:spPr>
          <a:xfrm>
            <a:off x="3611880" y="449884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32" name="Text 26"/>
          <p:cNvSpPr/>
          <p:nvPr/>
        </p:nvSpPr>
        <p:spPr>
          <a:xfrm>
            <a:off x="3977640" y="452628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Polydipsia</a:t>
            </a:r>
            <a:endParaRPr lang="en-US" sz="1200" dirty="0"/>
          </a:p>
        </p:txBody>
      </p:sp>
      <p:sp>
        <p:nvSpPr>
          <p:cNvPr id="33" name="Shape 27"/>
          <p:cNvSpPr/>
          <p:nvPr/>
        </p:nvSpPr>
        <p:spPr>
          <a:xfrm>
            <a:off x="6172200" y="4572000"/>
            <a:ext cx="274320" cy="274320"/>
          </a:xfrm>
          <a:prstGeom prst="ellipse">
            <a:avLst/>
          </a:prstGeom>
          <a:solidFill>
            <a:srgbClr val="E0F2FE"/>
          </a:solidFill>
          <a:ln w="12700">
            <a:solidFill>
              <a:srgbClr val="0F4C5C"/>
            </a:solidFill>
            <a:prstDash val="solid"/>
          </a:ln>
        </p:spPr>
      </p:sp>
      <p:sp>
        <p:nvSpPr>
          <p:cNvPr id="34" name="Text 28"/>
          <p:cNvSpPr/>
          <p:nvPr/>
        </p:nvSpPr>
        <p:spPr>
          <a:xfrm>
            <a:off x="6172200" y="449884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35" name="Text 29"/>
          <p:cNvSpPr/>
          <p:nvPr/>
        </p:nvSpPr>
        <p:spPr>
          <a:xfrm>
            <a:off x="6537960" y="452628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Polyphagia</a:t>
            </a:r>
            <a:endParaRPr lang="en-US" sz="1200" dirty="0"/>
          </a:p>
        </p:txBody>
      </p:sp>
      <p:sp>
        <p:nvSpPr>
          <p:cNvPr id="36" name="Shape 30"/>
          <p:cNvSpPr/>
          <p:nvPr/>
        </p:nvSpPr>
        <p:spPr>
          <a:xfrm>
            <a:off x="8732520" y="4572000"/>
            <a:ext cx="274320" cy="274320"/>
          </a:xfrm>
          <a:prstGeom prst="ellipse">
            <a:avLst/>
          </a:prstGeom>
          <a:solidFill>
            <a:srgbClr val="E0F2FE"/>
          </a:solidFill>
          <a:ln w="12700">
            <a:solidFill>
              <a:srgbClr val="0F4C5C"/>
            </a:solidFill>
            <a:prstDash val="solid"/>
          </a:ln>
        </p:spPr>
      </p:sp>
      <p:sp>
        <p:nvSpPr>
          <p:cNvPr id="37" name="Text 31"/>
          <p:cNvSpPr/>
          <p:nvPr/>
        </p:nvSpPr>
        <p:spPr>
          <a:xfrm>
            <a:off x="8732520" y="449884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38" name="Text 32"/>
          <p:cNvSpPr/>
          <p:nvPr/>
        </p:nvSpPr>
        <p:spPr>
          <a:xfrm>
            <a:off x="9098280" y="452628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Weight Loss</a:t>
            </a:r>
            <a:endParaRPr lang="en-US" sz="1200" dirty="0"/>
          </a:p>
        </p:txBody>
      </p:sp>
      <p:sp>
        <p:nvSpPr>
          <p:cNvPr id="39" name="Shape 33"/>
          <p:cNvSpPr/>
          <p:nvPr/>
        </p:nvSpPr>
        <p:spPr>
          <a:xfrm>
            <a:off x="1051560" y="5349240"/>
            <a:ext cx="274320" cy="274320"/>
          </a:xfrm>
          <a:prstGeom prst="ellipse">
            <a:avLst/>
          </a:prstGeom>
          <a:solidFill>
            <a:srgbClr val="E0F2FE"/>
          </a:solidFill>
          <a:ln w="12700">
            <a:solidFill>
              <a:srgbClr val="0F4C5C"/>
            </a:solidFill>
            <a:prstDash val="solid"/>
          </a:ln>
        </p:spPr>
      </p:sp>
      <p:sp>
        <p:nvSpPr>
          <p:cNvPr id="40" name="Text 34"/>
          <p:cNvSpPr/>
          <p:nvPr/>
        </p:nvSpPr>
        <p:spPr>
          <a:xfrm>
            <a:off x="1051560" y="527608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41" name="Text 35"/>
          <p:cNvSpPr/>
          <p:nvPr/>
        </p:nvSpPr>
        <p:spPr>
          <a:xfrm>
            <a:off x="1417320" y="530352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Fatigue / Weakness</a:t>
            </a:r>
            <a:endParaRPr lang="en-US" sz="1200" dirty="0"/>
          </a:p>
        </p:txBody>
      </p:sp>
      <p:sp>
        <p:nvSpPr>
          <p:cNvPr id="42" name="Shape 36"/>
          <p:cNvSpPr/>
          <p:nvPr/>
        </p:nvSpPr>
        <p:spPr>
          <a:xfrm>
            <a:off x="3611880" y="5349240"/>
            <a:ext cx="274320" cy="274320"/>
          </a:xfrm>
          <a:prstGeom prst="ellipse">
            <a:avLst/>
          </a:prstGeom>
          <a:solidFill>
            <a:srgbClr val="E0F2FE"/>
          </a:solidFill>
          <a:ln w="12700">
            <a:solidFill>
              <a:srgbClr val="0F4C5C"/>
            </a:solidFill>
            <a:prstDash val="solid"/>
          </a:ln>
        </p:spPr>
      </p:sp>
      <p:sp>
        <p:nvSpPr>
          <p:cNvPr id="43" name="Text 37"/>
          <p:cNvSpPr/>
          <p:nvPr/>
        </p:nvSpPr>
        <p:spPr>
          <a:xfrm>
            <a:off x="3611880" y="527608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44" name="Text 38"/>
          <p:cNvSpPr/>
          <p:nvPr/>
        </p:nvSpPr>
        <p:spPr>
          <a:xfrm>
            <a:off x="3977640" y="530352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Blurred Vision</a:t>
            </a:r>
            <a:endParaRPr lang="en-US" sz="1200" dirty="0"/>
          </a:p>
        </p:txBody>
      </p:sp>
      <p:sp>
        <p:nvSpPr>
          <p:cNvPr id="45" name="Shape 39"/>
          <p:cNvSpPr/>
          <p:nvPr/>
        </p:nvSpPr>
        <p:spPr>
          <a:xfrm>
            <a:off x="6172200" y="5349240"/>
            <a:ext cx="274320" cy="274320"/>
          </a:xfrm>
          <a:prstGeom prst="ellipse">
            <a:avLst/>
          </a:prstGeom>
          <a:solidFill>
            <a:srgbClr val="E0F2FE"/>
          </a:solidFill>
          <a:ln w="12700">
            <a:solidFill>
              <a:srgbClr val="0F4C5C"/>
            </a:solidFill>
            <a:prstDash val="solid"/>
          </a:ln>
        </p:spPr>
      </p:sp>
      <p:sp>
        <p:nvSpPr>
          <p:cNvPr id="46" name="Text 40"/>
          <p:cNvSpPr/>
          <p:nvPr/>
        </p:nvSpPr>
        <p:spPr>
          <a:xfrm>
            <a:off x="6172200" y="527608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47" name="Text 41"/>
          <p:cNvSpPr/>
          <p:nvPr/>
        </p:nvSpPr>
        <p:spPr>
          <a:xfrm>
            <a:off x="6537960" y="530352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Fruity Breath (ketones)</a:t>
            </a:r>
            <a:endParaRPr lang="en-US" sz="1200" dirty="0"/>
          </a:p>
        </p:txBody>
      </p:sp>
      <p:sp>
        <p:nvSpPr>
          <p:cNvPr id="48" name="Shape 42"/>
          <p:cNvSpPr/>
          <p:nvPr/>
        </p:nvSpPr>
        <p:spPr>
          <a:xfrm>
            <a:off x="8732520" y="5349240"/>
            <a:ext cx="274320" cy="274320"/>
          </a:xfrm>
          <a:prstGeom prst="ellipse">
            <a:avLst/>
          </a:prstGeom>
          <a:solidFill>
            <a:srgbClr val="E0F2FE"/>
          </a:solidFill>
          <a:ln w="12700">
            <a:solidFill>
              <a:srgbClr val="0F4C5C"/>
            </a:solidFill>
            <a:prstDash val="solid"/>
          </a:ln>
        </p:spPr>
      </p:sp>
      <p:sp>
        <p:nvSpPr>
          <p:cNvPr id="49" name="Text 43"/>
          <p:cNvSpPr/>
          <p:nvPr/>
        </p:nvSpPr>
        <p:spPr>
          <a:xfrm>
            <a:off x="8732520" y="5276088"/>
            <a:ext cx="274320" cy="274320"/>
          </a:xfrm>
          <a:prstGeom prst="rect">
            <a:avLst/>
          </a:prstGeom>
          <a:noFill/>
          <a:ln/>
        </p:spPr>
        <p:txBody>
          <a:bodyPr wrap="square" lIns="0" tIns="0" rIns="0" bIns="0" rtlCol="0" anchor="ctr"/>
          <a:lstStyle/>
          <a:p>
            <a:pPr algn="ctr" indent="0" marL="0">
              <a:buNone/>
            </a:pPr>
            <a:r>
              <a:rPr lang="en-US" sz="2000" b="1" dirty="0">
                <a:solidFill>
                  <a:srgbClr val="0F4C5C"/>
                </a:solidFill>
                <a:latin typeface="Calibri" pitchFamily="34" charset="0"/>
                <a:ea typeface="Calibri" pitchFamily="34" charset="-122"/>
                <a:cs typeface="Calibri" pitchFamily="34" charset="-120"/>
              </a:rPr>
              <a:t>•</a:t>
            </a:r>
            <a:endParaRPr lang="en-US" sz="2000" dirty="0"/>
          </a:p>
        </p:txBody>
      </p:sp>
      <p:sp>
        <p:nvSpPr>
          <p:cNvPr id="50" name="Text 44"/>
          <p:cNvSpPr/>
          <p:nvPr/>
        </p:nvSpPr>
        <p:spPr>
          <a:xfrm>
            <a:off x="9098280" y="5303520"/>
            <a:ext cx="2011680" cy="4572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Risk for DKA</a:t>
            </a:r>
            <a:endParaRPr lang="en-US" sz="1200" dirty="0"/>
          </a:p>
        </p:txBody>
      </p:sp>
      <p:sp>
        <p:nvSpPr>
          <p:cNvPr id="51" name="Text 4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52" name="Text 4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Diabetic Ketoacidosis (DKA)</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Life-threatening complication of Type 1 diabetes</a:t>
            </a:r>
            <a:endParaRPr lang="en-US" sz="1400" dirty="0"/>
          </a:p>
        </p:txBody>
      </p:sp>
      <p:sp>
        <p:nvSpPr>
          <p:cNvPr id="5" name="Shape 3"/>
          <p:cNvSpPr/>
          <p:nvPr/>
        </p:nvSpPr>
        <p:spPr>
          <a:xfrm>
            <a:off x="731520" y="1417320"/>
            <a:ext cx="10698480" cy="502920"/>
          </a:xfrm>
          <a:prstGeom prst="rect">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914400" y="1490472"/>
            <a:ext cx="365760" cy="365760"/>
          </a:xfrm>
          <a:prstGeom prst="rect">
            <a:avLst/>
          </a:prstGeom>
        </p:spPr>
      </p:pic>
      <p:sp>
        <p:nvSpPr>
          <p:cNvPr id="7" name="Text 4"/>
          <p:cNvSpPr/>
          <p:nvPr/>
        </p:nvSpPr>
        <p:spPr>
          <a:xfrm>
            <a:off x="1371600" y="1417320"/>
            <a:ext cx="9966960" cy="5029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Triggered by illness, infection, missed insulin, or new-onset Type 1 DM — requires ICU-level care</a:t>
            </a:r>
            <a:endParaRPr lang="en-US" sz="1200" dirty="0"/>
          </a:p>
        </p:txBody>
      </p:sp>
      <p:sp>
        <p:nvSpPr>
          <p:cNvPr id="8" name="Shape 5"/>
          <p:cNvSpPr/>
          <p:nvPr/>
        </p:nvSpPr>
        <p:spPr>
          <a:xfrm>
            <a:off x="731520" y="2103120"/>
            <a:ext cx="3383280" cy="41605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9" name="Shape 6"/>
          <p:cNvSpPr/>
          <p:nvPr/>
        </p:nvSpPr>
        <p:spPr>
          <a:xfrm>
            <a:off x="731520" y="2103120"/>
            <a:ext cx="3383280" cy="594360"/>
          </a:xfrm>
          <a:prstGeom prst="rect">
            <a:avLst/>
          </a:prstGeom>
          <a:solidFill>
            <a:srgbClr val="0F4C5C"/>
          </a:solidFill>
          <a:ln w="12700">
            <a:solidFill>
              <a:srgbClr val="0F4C5C"/>
            </a:solidFill>
            <a:prstDash val="solid"/>
          </a:ln>
        </p:spPr>
      </p:sp>
      <p:pic>
        <p:nvPicPr>
          <p:cNvPr id="10" name="Image 1" descr="preencoded.png">    </p:cNvPr>
          <p:cNvPicPr>
            <a:picLocks noChangeAspect="1"/>
          </p:cNvPicPr>
          <p:nvPr/>
        </p:nvPicPr>
        <p:blipFill>
          <a:blip r:embed="rId2"/>
          <a:stretch>
            <a:fillRect/>
          </a:stretch>
        </p:blipFill>
        <p:spPr>
          <a:xfrm>
            <a:off x="868680" y="2212848"/>
            <a:ext cx="365760" cy="365760"/>
          </a:xfrm>
          <a:prstGeom prst="rect">
            <a:avLst/>
          </a:prstGeom>
        </p:spPr>
      </p:pic>
      <p:sp>
        <p:nvSpPr>
          <p:cNvPr id="11" name="Text 7"/>
          <p:cNvSpPr/>
          <p:nvPr/>
        </p:nvSpPr>
        <p:spPr>
          <a:xfrm>
            <a:off x="1280160" y="2103120"/>
            <a:ext cx="2743200" cy="59436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DIAGNOSTIC LABS</a:t>
            </a:r>
            <a:endParaRPr lang="en-US" sz="1300" dirty="0"/>
          </a:p>
        </p:txBody>
      </p:sp>
      <p:sp>
        <p:nvSpPr>
          <p:cNvPr id="12" name="Shape 8"/>
          <p:cNvSpPr/>
          <p:nvPr/>
        </p:nvSpPr>
        <p:spPr>
          <a:xfrm>
            <a:off x="914400" y="2926080"/>
            <a:ext cx="164592" cy="164592"/>
          </a:xfrm>
          <a:prstGeom prst="ellipse">
            <a:avLst/>
          </a:prstGeom>
          <a:solidFill>
            <a:srgbClr val="0F4C5C"/>
          </a:solidFill>
          <a:ln w="12700">
            <a:solidFill>
              <a:srgbClr val="0F4C5C"/>
            </a:solidFill>
            <a:prstDash val="solid"/>
          </a:ln>
        </p:spPr>
      </p:sp>
      <p:sp>
        <p:nvSpPr>
          <p:cNvPr id="13" name="Text 9"/>
          <p:cNvSpPr/>
          <p:nvPr/>
        </p:nvSpPr>
        <p:spPr>
          <a:xfrm>
            <a:off x="1188720" y="2834640"/>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Blood glucose &gt; 300 mg/dL</a:t>
            </a:r>
            <a:endParaRPr lang="en-US" sz="1100" dirty="0"/>
          </a:p>
        </p:txBody>
      </p:sp>
      <p:sp>
        <p:nvSpPr>
          <p:cNvPr id="14" name="Shape 10"/>
          <p:cNvSpPr/>
          <p:nvPr/>
        </p:nvSpPr>
        <p:spPr>
          <a:xfrm>
            <a:off x="914400" y="3456432"/>
            <a:ext cx="164592" cy="164592"/>
          </a:xfrm>
          <a:prstGeom prst="ellipse">
            <a:avLst/>
          </a:prstGeom>
          <a:solidFill>
            <a:srgbClr val="0F4C5C"/>
          </a:solidFill>
          <a:ln w="12700">
            <a:solidFill>
              <a:srgbClr val="0F4C5C"/>
            </a:solidFill>
            <a:prstDash val="solid"/>
          </a:ln>
        </p:spPr>
      </p:sp>
      <p:sp>
        <p:nvSpPr>
          <p:cNvPr id="15" name="Text 11"/>
          <p:cNvSpPr/>
          <p:nvPr/>
        </p:nvSpPr>
        <p:spPr>
          <a:xfrm>
            <a:off x="1188720" y="3364992"/>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Blood pH &lt; 7.35 (acidotic)</a:t>
            </a:r>
            <a:endParaRPr lang="en-US" sz="1100" dirty="0"/>
          </a:p>
        </p:txBody>
      </p:sp>
      <p:sp>
        <p:nvSpPr>
          <p:cNvPr id="16" name="Shape 12"/>
          <p:cNvSpPr/>
          <p:nvPr/>
        </p:nvSpPr>
        <p:spPr>
          <a:xfrm>
            <a:off x="914400" y="3986784"/>
            <a:ext cx="164592" cy="164592"/>
          </a:xfrm>
          <a:prstGeom prst="ellipse">
            <a:avLst/>
          </a:prstGeom>
          <a:solidFill>
            <a:srgbClr val="0F4C5C"/>
          </a:solidFill>
          <a:ln w="12700">
            <a:solidFill>
              <a:srgbClr val="0F4C5C"/>
            </a:solidFill>
            <a:prstDash val="solid"/>
          </a:ln>
        </p:spPr>
      </p:sp>
      <p:sp>
        <p:nvSpPr>
          <p:cNvPr id="17" name="Text 13"/>
          <p:cNvSpPr/>
          <p:nvPr/>
        </p:nvSpPr>
        <p:spPr>
          <a:xfrm>
            <a:off x="1188720" y="3895344"/>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Serum bicarb &lt; 15 mEq/L</a:t>
            </a:r>
            <a:endParaRPr lang="en-US" sz="1100" dirty="0"/>
          </a:p>
        </p:txBody>
      </p:sp>
      <p:sp>
        <p:nvSpPr>
          <p:cNvPr id="18" name="Shape 14"/>
          <p:cNvSpPr/>
          <p:nvPr/>
        </p:nvSpPr>
        <p:spPr>
          <a:xfrm>
            <a:off x="914400" y="4517136"/>
            <a:ext cx="164592" cy="164592"/>
          </a:xfrm>
          <a:prstGeom prst="ellipse">
            <a:avLst/>
          </a:prstGeom>
          <a:solidFill>
            <a:srgbClr val="0F4C5C"/>
          </a:solidFill>
          <a:ln w="12700">
            <a:solidFill>
              <a:srgbClr val="0F4C5C"/>
            </a:solidFill>
            <a:prstDash val="solid"/>
          </a:ln>
        </p:spPr>
      </p:sp>
      <p:sp>
        <p:nvSpPr>
          <p:cNvPr id="19" name="Text 15"/>
          <p:cNvSpPr/>
          <p:nvPr/>
        </p:nvSpPr>
        <p:spPr>
          <a:xfrm>
            <a:off x="1188720" y="4425696"/>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Ketones present in urine + blood</a:t>
            </a:r>
            <a:endParaRPr lang="en-US" sz="1100" dirty="0"/>
          </a:p>
        </p:txBody>
      </p:sp>
      <p:sp>
        <p:nvSpPr>
          <p:cNvPr id="20" name="Shape 16"/>
          <p:cNvSpPr/>
          <p:nvPr/>
        </p:nvSpPr>
        <p:spPr>
          <a:xfrm>
            <a:off x="914400" y="5047488"/>
            <a:ext cx="164592" cy="164592"/>
          </a:xfrm>
          <a:prstGeom prst="ellipse">
            <a:avLst/>
          </a:prstGeom>
          <a:solidFill>
            <a:srgbClr val="0F4C5C"/>
          </a:solidFill>
          <a:ln w="12700">
            <a:solidFill>
              <a:srgbClr val="0F4C5C"/>
            </a:solidFill>
            <a:prstDash val="solid"/>
          </a:ln>
        </p:spPr>
      </p:sp>
      <p:sp>
        <p:nvSpPr>
          <p:cNvPr id="21" name="Text 17"/>
          <p:cNvSpPr/>
          <p:nvPr/>
        </p:nvSpPr>
        <p:spPr>
          <a:xfrm>
            <a:off x="1188720" y="4956048"/>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Anion gap &gt; 12</a:t>
            </a:r>
            <a:endParaRPr lang="en-US" sz="1100" dirty="0"/>
          </a:p>
        </p:txBody>
      </p:sp>
      <p:sp>
        <p:nvSpPr>
          <p:cNvPr id="22" name="Shape 18"/>
          <p:cNvSpPr/>
          <p:nvPr/>
        </p:nvSpPr>
        <p:spPr>
          <a:xfrm>
            <a:off x="914400" y="5577840"/>
            <a:ext cx="164592" cy="164592"/>
          </a:xfrm>
          <a:prstGeom prst="ellipse">
            <a:avLst/>
          </a:prstGeom>
          <a:solidFill>
            <a:srgbClr val="0F4C5C"/>
          </a:solidFill>
          <a:ln w="12700">
            <a:solidFill>
              <a:srgbClr val="0F4C5C"/>
            </a:solidFill>
            <a:prstDash val="solid"/>
          </a:ln>
        </p:spPr>
      </p:sp>
      <p:sp>
        <p:nvSpPr>
          <p:cNvPr id="23" name="Text 19"/>
          <p:cNvSpPr/>
          <p:nvPr/>
        </p:nvSpPr>
        <p:spPr>
          <a:xfrm>
            <a:off x="1188720" y="5486400"/>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K⁺ initially high, falls with treatment</a:t>
            </a:r>
            <a:endParaRPr lang="en-US" sz="1100" dirty="0"/>
          </a:p>
        </p:txBody>
      </p:sp>
      <p:sp>
        <p:nvSpPr>
          <p:cNvPr id="24" name="Shape 20"/>
          <p:cNvSpPr/>
          <p:nvPr/>
        </p:nvSpPr>
        <p:spPr>
          <a:xfrm>
            <a:off x="4389120" y="2103120"/>
            <a:ext cx="3383280" cy="41605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5" name="Shape 21"/>
          <p:cNvSpPr/>
          <p:nvPr/>
        </p:nvSpPr>
        <p:spPr>
          <a:xfrm>
            <a:off x="4389120" y="2103120"/>
            <a:ext cx="3383280" cy="594360"/>
          </a:xfrm>
          <a:prstGeom prst="rect">
            <a:avLst/>
          </a:prstGeom>
          <a:solidFill>
            <a:srgbClr val="E36414"/>
          </a:solidFill>
          <a:ln w="12700">
            <a:solidFill>
              <a:srgbClr val="E36414"/>
            </a:solidFill>
            <a:prstDash val="solid"/>
          </a:ln>
        </p:spPr>
      </p:sp>
      <p:pic>
        <p:nvPicPr>
          <p:cNvPr id="26" name="Image 2" descr="preencoded.png">    </p:cNvPr>
          <p:cNvPicPr>
            <a:picLocks noChangeAspect="1"/>
          </p:cNvPicPr>
          <p:nvPr/>
        </p:nvPicPr>
        <p:blipFill>
          <a:blip r:embed="rId3"/>
          <a:stretch>
            <a:fillRect/>
          </a:stretch>
        </p:blipFill>
        <p:spPr>
          <a:xfrm>
            <a:off x="4526280" y="2212848"/>
            <a:ext cx="365760" cy="365760"/>
          </a:xfrm>
          <a:prstGeom prst="rect">
            <a:avLst/>
          </a:prstGeom>
        </p:spPr>
      </p:pic>
      <p:sp>
        <p:nvSpPr>
          <p:cNvPr id="27" name="Text 22"/>
          <p:cNvSpPr/>
          <p:nvPr/>
        </p:nvSpPr>
        <p:spPr>
          <a:xfrm>
            <a:off x="4937760" y="2103120"/>
            <a:ext cx="2743200" cy="59436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SIGNS &amp; SYMPTOMS</a:t>
            </a:r>
            <a:endParaRPr lang="en-US" sz="1300" dirty="0"/>
          </a:p>
        </p:txBody>
      </p:sp>
      <p:sp>
        <p:nvSpPr>
          <p:cNvPr id="28" name="Shape 23"/>
          <p:cNvSpPr/>
          <p:nvPr/>
        </p:nvSpPr>
        <p:spPr>
          <a:xfrm>
            <a:off x="4572000" y="2926080"/>
            <a:ext cx="164592" cy="164592"/>
          </a:xfrm>
          <a:prstGeom prst="ellipse">
            <a:avLst/>
          </a:prstGeom>
          <a:solidFill>
            <a:srgbClr val="E36414"/>
          </a:solidFill>
          <a:ln w="12700">
            <a:solidFill>
              <a:srgbClr val="E36414"/>
            </a:solidFill>
            <a:prstDash val="solid"/>
          </a:ln>
        </p:spPr>
      </p:sp>
      <p:sp>
        <p:nvSpPr>
          <p:cNvPr id="29" name="Text 24"/>
          <p:cNvSpPr/>
          <p:nvPr/>
        </p:nvSpPr>
        <p:spPr>
          <a:xfrm>
            <a:off x="4846320" y="2834640"/>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Kussmaul respirations (deep, rapid)</a:t>
            </a:r>
            <a:endParaRPr lang="en-US" sz="1100" dirty="0"/>
          </a:p>
        </p:txBody>
      </p:sp>
      <p:sp>
        <p:nvSpPr>
          <p:cNvPr id="30" name="Shape 25"/>
          <p:cNvSpPr/>
          <p:nvPr/>
        </p:nvSpPr>
        <p:spPr>
          <a:xfrm>
            <a:off x="4572000" y="3456432"/>
            <a:ext cx="164592" cy="164592"/>
          </a:xfrm>
          <a:prstGeom prst="ellipse">
            <a:avLst/>
          </a:prstGeom>
          <a:solidFill>
            <a:srgbClr val="E36414"/>
          </a:solidFill>
          <a:ln w="12700">
            <a:solidFill>
              <a:srgbClr val="E36414"/>
            </a:solidFill>
            <a:prstDash val="solid"/>
          </a:ln>
        </p:spPr>
      </p:sp>
      <p:sp>
        <p:nvSpPr>
          <p:cNvPr id="31" name="Text 26"/>
          <p:cNvSpPr/>
          <p:nvPr/>
        </p:nvSpPr>
        <p:spPr>
          <a:xfrm>
            <a:off x="4846320" y="3364992"/>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Fruity (acetone) breath</a:t>
            </a:r>
            <a:endParaRPr lang="en-US" sz="1100" dirty="0"/>
          </a:p>
        </p:txBody>
      </p:sp>
      <p:sp>
        <p:nvSpPr>
          <p:cNvPr id="32" name="Shape 27"/>
          <p:cNvSpPr/>
          <p:nvPr/>
        </p:nvSpPr>
        <p:spPr>
          <a:xfrm>
            <a:off x="4572000" y="3986784"/>
            <a:ext cx="164592" cy="164592"/>
          </a:xfrm>
          <a:prstGeom prst="ellipse">
            <a:avLst/>
          </a:prstGeom>
          <a:solidFill>
            <a:srgbClr val="E36414"/>
          </a:solidFill>
          <a:ln w="12700">
            <a:solidFill>
              <a:srgbClr val="E36414"/>
            </a:solidFill>
            <a:prstDash val="solid"/>
          </a:ln>
        </p:spPr>
      </p:sp>
      <p:sp>
        <p:nvSpPr>
          <p:cNvPr id="33" name="Text 28"/>
          <p:cNvSpPr/>
          <p:nvPr/>
        </p:nvSpPr>
        <p:spPr>
          <a:xfrm>
            <a:off x="4846320" y="3895344"/>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Severe dehydration, dry skin</a:t>
            </a:r>
            <a:endParaRPr lang="en-US" sz="1100" dirty="0"/>
          </a:p>
        </p:txBody>
      </p:sp>
      <p:sp>
        <p:nvSpPr>
          <p:cNvPr id="34" name="Shape 29"/>
          <p:cNvSpPr/>
          <p:nvPr/>
        </p:nvSpPr>
        <p:spPr>
          <a:xfrm>
            <a:off x="4572000" y="4517136"/>
            <a:ext cx="164592" cy="164592"/>
          </a:xfrm>
          <a:prstGeom prst="ellipse">
            <a:avLst/>
          </a:prstGeom>
          <a:solidFill>
            <a:srgbClr val="E36414"/>
          </a:solidFill>
          <a:ln w="12700">
            <a:solidFill>
              <a:srgbClr val="E36414"/>
            </a:solidFill>
            <a:prstDash val="solid"/>
          </a:ln>
        </p:spPr>
      </p:sp>
      <p:sp>
        <p:nvSpPr>
          <p:cNvPr id="35" name="Text 30"/>
          <p:cNvSpPr/>
          <p:nvPr/>
        </p:nvSpPr>
        <p:spPr>
          <a:xfrm>
            <a:off x="4846320" y="4425696"/>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Abdominal pain, N/V</a:t>
            </a:r>
            <a:endParaRPr lang="en-US" sz="1100" dirty="0"/>
          </a:p>
        </p:txBody>
      </p:sp>
      <p:sp>
        <p:nvSpPr>
          <p:cNvPr id="36" name="Shape 31"/>
          <p:cNvSpPr/>
          <p:nvPr/>
        </p:nvSpPr>
        <p:spPr>
          <a:xfrm>
            <a:off x="4572000" y="5047488"/>
            <a:ext cx="164592" cy="164592"/>
          </a:xfrm>
          <a:prstGeom prst="ellipse">
            <a:avLst/>
          </a:prstGeom>
          <a:solidFill>
            <a:srgbClr val="E36414"/>
          </a:solidFill>
          <a:ln w="12700">
            <a:solidFill>
              <a:srgbClr val="E36414"/>
            </a:solidFill>
            <a:prstDash val="solid"/>
          </a:ln>
        </p:spPr>
      </p:sp>
      <p:sp>
        <p:nvSpPr>
          <p:cNvPr id="37" name="Text 32"/>
          <p:cNvSpPr/>
          <p:nvPr/>
        </p:nvSpPr>
        <p:spPr>
          <a:xfrm>
            <a:off x="4846320" y="4956048"/>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Altered mental status → coma</a:t>
            </a:r>
            <a:endParaRPr lang="en-US" sz="1100" dirty="0"/>
          </a:p>
        </p:txBody>
      </p:sp>
      <p:sp>
        <p:nvSpPr>
          <p:cNvPr id="38" name="Shape 33"/>
          <p:cNvSpPr/>
          <p:nvPr/>
        </p:nvSpPr>
        <p:spPr>
          <a:xfrm>
            <a:off x="4572000" y="5577840"/>
            <a:ext cx="164592" cy="164592"/>
          </a:xfrm>
          <a:prstGeom prst="ellipse">
            <a:avLst/>
          </a:prstGeom>
          <a:solidFill>
            <a:srgbClr val="E36414"/>
          </a:solidFill>
          <a:ln w="12700">
            <a:solidFill>
              <a:srgbClr val="E36414"/>
            </a:solidFill>
            <a:prstDash val="solid"/>
          </a:ln>
        </p:spPr>
      </p:sp>
      <p:sp>
        <p:nvSpPr>
          <p:cNvPr id="39" name="Text 34"/>
          <p:cNvSpPr/>
          <p:nvPr/>
        </p:nvSpPr>
        <p:spPr>
          <a:xfrm>
            <a:off x="4846320" y="5486400"/>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Tachycardia, hypotension</a:t>
            </a:r>
            <a:endParaRPr lang="en-US" sz="1100" dirty="0"/>
          </a:p>
        </p:txBody>
      </p:sp>
      <p:sp>
        <p:nvSpPr>
          <p:cNvPr id="40" name="Shape 35"/>
          <p:cNvSpPr/>
          <p:nvPr/>
        </p:nvSpPr>
        <p:spPr>
          <a:xfrm>
            <a:off x="8046720" y="2103120"/>
            <a:ext cx="3383280" cy="41605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41" name="Shape 36"/>
          <p:cNvSpPr/>
          <p:nvPr/>
        </p:nvSpPr>
        <p:spPr>
          <a:xfrm>
            <a:off x="8046720" y="2103120"/>
            <a:ext cx="3383280" cy="594360"/>
          </a:xfrm>
          <a:prstGeom prst="rect">
            <a:avLst/>
          </a:prstGeom>
          <a:solidFill>
            <a:srgbClr val="059669"/>
          </a:solidFill>
          <a:ln w="12700">
            <a:solidFill>
              <a:srgbClr val="059669"/>
            </a:solidFill>
            <a:prstDash val="solid"/>
          </a:ln>
        </p:spPr>
      </p:sp>
      <p:pic>
        <p:nvPicPr>
          <p:cNvPr id="42" name="Image 3" descr="preencoded.png">    </p:cNvPr>
          <p:cNvPicPr>
            <a:picLocks noChangeAspect="1"/>
          </p:cNvPicPr>
          <p:nvPr/>
        </p:nvPicPr>
        <p:blipFill>
          <a:blip r:embed="rId4"/>
          <a:stretch>
            <a:fillRect/>
          </a:stretch>
        </p:blipFill>
        <p:spPr>
          <a:xfrm>
            <a:off x="8183880" y="2212848"/>
            <a:ext cx="365760" cy="365760"/>
          </a:xfrm>
          <a:prstGeom prst="rect">
            <a:avLst/>
          </a:prstGeom>
        </p:spPr>
      </p:pic>
      <p:sp>
        <p:nvSpPr>
          <p:cNvPr id="43" name="Text 37"/>
          <p:cNvSpPr/>
          <p:nvPr/>
        </p:nvSpPr>
        <p:spPr>
          <a:xfrm>
            <a:off x="8595360" y="2103120"/>
            <a:ext cx="2743200" cy="59436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TREATMENT PRIORITIES</a:t>
            </a:r>
            <a:endParaRPr lang="en-US" sz="1300" dirty="0"/>
          </a:p>
        </p:txBody>
      </p:sp>
      <p:sp>
        <p:nvSpPr>
          <p:cNvPr id="44" name="Shape 38"/>
          <p:cNvSpPr/>
          <p:nvPr/>
        </p:nvSpPr>
        <p:spPr>
          <a:xfrm>
            <a:off x="8229600" y="2926080"/>
            <a:ext cx="164592" cy="164592"/>
          </a:xfrm>
          <a:prstGeom prst="ellipse">
            <a:avLst/>
          </a:prstGeom>
          <a:solidFill>
            <a:srgbClr val="059669"/>
          </a:solidFill>
          <a:ln w="12700">
            <a:solidFill>
              <a:srgbClr val="059669"/>
            </a:solidFill>
            <a:prstDash val="solid"/>
          </a:ln>
        </p:spPr>
      </p:sp>
      <p:sp>
        <p:nvSpPr>
          <p:cNvPr id="45" name="Text 39"/>
          <p:cNvSpPr/>
          <p:nvPr/>
        </p:nvSpPr>
        <p:spPr>
          <a:xfrm>
            <a:off x="8503920" y="2834640"/>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1st — IV Fluids: 0.9% NS bolus, then 0.45%</a:t>
            </a:r>
            <a:endParaRPr lang="en-US" sz="1100" dirty="0"/>
          </a:p>
        </p:txBody>
      </p:sp>
      <p:sp>
        <p:nvSpPr>
          <p:cNvPr id="46" name="Shape 40"/>
          <p:cNvSpPr/>
          <p:nvPr/>
        </p:nvSpPr>
        <p:spPr>
          <a:xfrm>
            <a:off x="8229600" y="3456432"/>
            <a:ext cx="164592" cy="164592"/>
          </a:xfrm>
          <a:prstGeom prst="ellipse">
            <a:avLst/>
          </a:prstGeom>
          <a:solidFill>
            <a:srgbClr val="059669"/>
          </a:solidFill>
          <a:ln w="12700">
            <a:solidFill>
              <a:srgbClr val="059669"/>
            </a:solidFill>
            <a:prstDash val="solid"/>
          </a:ln>
        </p:spPr>
      </p:sp>
      <p:sp>
        <p:nvSpPr>
          <p:cNvPr id="47" name="Text 41"/>
          <p:cNvSpPr/>
          <p:nvPr/>
        </p:nvSpPr>
        <p:spPr>
          <a:xfrm>
            <a:off x="8503920" y="3364992"/>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2nd — Regular Insulin IV drip</a:t>
            </a:r>
            <a:endParaRPr lang="en-US" sz="1100" dirty="0"/>
          </a:p>
        </p:txBody>
      </p:sp>
      <p:sp>
        <p:nvSpPr>
          <p:cNvPr id="48" name="Shape 42"/>
          <p:cNvSpPr/>
          <p:nvPr/>
        </p:nvSpPr>
        <p:spPr>
          <a:xfrm>
            <a:off x="8229600" y="3986784"/>
            <a:ext cx="164592" cy="164592"/>
          </a:xfrm>
          <a:prstGeom prst="ellipse">
            <a:avLst/>
          </a:prstGeom>
          <a:solidFill>
            <a:srgbClr val="059669"/>
          </a:solidFill>
          <a:ln w="12700">
            <a:solidFill>
              <a:srgbClr val="059669"/>
            </a:solidFill>
            <a:prstDash val="solid"/>
          </a:ln>
        </p:spPr>
      </p:sp>
      <p:sp>
        <p:nvSpPr>
          <p:cNvPr id="49" name="Text 43"/>
          <p:cNvSpPr/>
          <p:nvPr/>
        </p:nvSpPr>
        <p:spPr>
          <a:xfrm>
            <a:off x="8503920" y="3895344"/>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3rd — Replace Potassium (before insulin if K+ low)</a:t>
            </a:r>
            <a:endParaRPr lang="en-US" sz="1100" dirty="0"/>
          </a:p>
        </p:txBody>
      </p:sp>
      <p:sp>
        <p:nvSpPr>
          <p:cNvPr id="50" name="Shape 44"/>
          <p:cNvSpPr/>
          <p:nvPr/>
        </p:nvSpPr>
        <p:spPr>
          <a:xfrm>
            <a:off x="8229600" y="4517136"/>
            <a:ext cx="164592" cy="164592"/>
          </a:xfrm>
          <a:prstGeom prst="ellipse">
            <a:avLst/>
          </a:prstGeom>
          <a:solidFill>
            <a:srgbClr val="059669"/>
          </a:solidFill>
          <a:ln w="12700">
            <a:solidFill>
              <a:srgbClr val="059669"/>
            </a:solidFill>
            <a:prstDash val="solid"/>
          </a:ln>
        </p:spPr>
      </p:sp>
      <p:sp>
        <p:nvSpPr>
          <p:cNvPr id="51" name="Text 45"/>
          <p:cNvSpPr/>
          <p:nvPr/>
        </p:nvSpPr>
        <p:spPr>
          <a:xfrm>
            <a:off x="8503920" y="4425696"/>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Monitor glucose q1h, K+ q2h</a:t>
            </a:r>
            <a:endParaRPr lang="en-US" sz="1100" dirty="0"/>
          </a:p>
        </p:txBody>
      </p:sp>
      <p:sp>
        <p:nvSpPr>
          <p:cNvPr id="52" name="Shape 46"/>
          <p:cNvSpPr/>
          <p:nvPr/>
        </p:nvSpPr>
        <p:spPr>
          <a:xfrm>
            <a:off x="8229600" y="5047488"/>
            <a:ext cx="164592" cy="164592"/>
          </a:xfrm>
          <a:prstGeom prst="ellipse">
            <a:avLst/>
          </a:prstGeom>
          <a:solidFill>
            <a:srgbClr val="059669"/>
          </a:solidFill>
          <a:ln w="12700">
            <a:solidFill>
              <a:srgbClr val="059669"/>
            </a:solidFill>
            <a:prstDash val="solid"/>
          </a:ln>
        </p:spPr>
      </p:sp>
      <p:sp>
        <p:nvSpPr>
          <p:cNvPr id="53" name="Text 47"/>
          <p:cNvSpPr/>
          <p:nvPr/>
        </p:nvSpPr>
        <p:spPr>
          <a:xfrm>
            <a:off x="8503920" y="4956048"/>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Switch to D5 NS when glucose ~ 200</a:t>
            </a:r>
            <a:endParaRPr lang="en-US" sz="1100" dirty="0"/>
          </a:p>
        </p:txBody>
      </p:sp>
      <p:sp>
        <p:nvSpPr>
          <p:cNvPr id="54" name="Shape 48"/>
          <p:cNvSpPr/>
          <p:nvPr/>
        </p:nvSpPr>
        <p:spPr>
          <a:xfrm>
            <a:off x="8229600" y="5577840"/>
            <a:ext cx="164592" cy="164592"/>
          </a:xfrm>
          <a:prstGeom prst="ellipse">
            <a:avLst/>
          </a:prstGeom>
          <a:solidFill>
            <a:srgbClr val="059669"/>
          </a:solidFill>
          <a:ln w="12700">
            <a:solidFill>
              <a:srgbClr val="059669"/>
            </a:solidFill>
            <a:prstDash val="solid"/>
          </a:ln>
        </p:spPr>
      </p:sp>
      <p:sp>
        <p:nvSpPr>
          <p:cNvPr id="55" name="Text 49"/>
          <p:cNvSpPr/>
          <p:nvPr/>
        </p:nvSpPr>
        <p:spPr>
          <a:xfrm>
            <a:off x="8503920" y="5486400"/>
            <a:ext cx="283464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Never give insulin SubQ in DKA</a:t>
            </a:r>
            <a:endParaRPr lang="en-US" sz="1100" dirty="0"/>
          </a:p>
        </p:txBody>
      </p:sp>
      <p:sp>
        <p:nvSpPr>
          <p:cNvPr id="56" name="Text 50"/>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57" name="Text 51"/>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Type 2 Diabetes &amp; HHNS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Insulin resistance — the lock is broken, not the key</a:t>
            </a:r>
            <a:endParaRPr lang="en-US" sz="1400" dirty="0"/>
          </a:p>
        </p:txBody>
      </p:sp>
      <p:sp>
        <p:nvSpPr>
          <p:cNvPr id="5" name="Shape 3"/>
          <p:cNvSpPr/>
          <p:nvPr/>
        </p:nvSpPr>
        <p:spPr>
          <a:xfrm>
            <a:off x="731520" y="1417320"/>
            <a:ext cx="534924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5349240" cy="50292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868680" y="1490472"/>
            <a:ext cx="347472" cy="347472"/>
          </a:xfrm>
          <a:prstGeom prst="rect">
            <a:avLst/>
          </a:prstGeom>
        </p:spPr>
      </p:pic>
      <p:sp>
        <p:nvSpPr>
          <p:cNvPr id="8" name="Text 5"/>
          <p:cNvSpPr/>
          <p:nvPr/>
        </p:nvSpPr>
        <p:spPr>
          <a:xfrm>
            <a:off x="1280160" y="1417320"/>
            <a:ext cx="48006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Type 2 Diabetes Mellitus</a:t>
            </a:r>
            <a:endParaRPr lang="en-US" sz="1400" dirty="0"/>
          </a:p>
        </p:txBody>
      </p:sp>
      <p:sp>
        <p:nvSpPr>
          <p:cNvPr id="9" name="Text 6"/>
          <p:cNvSpPr/>
          <p:nvPr/>
        </p:nvSpPr>
        <p:spPr>
          <a:xfrm>
            <a:off x="914400" y="2057400"/>
            <a:ext cx="4983480" cy="274320"/>
          </a:xfrm>
          <a:prstGeom prst="rect">
            <a:avLst/>
          </a:prstGeom>
          <a:noFill/>
          <a:ln/>
        </p:spPr>
        <p:txBody>
          <a:bodyPr wrap="square" lIns="0" tIns="0" rIns="0" bIns="0" rtlCol="0" anchor="ctr"/>
          <a:lstStyle/>
          <a:p>
            <a:pPr indent="0" marL="0">
              <a:buNone/>
            </a:pPr>
            <a:r>
              <a:rPr lang="en-US" sz="1150" b="1" dirty="0">
                <a:solidFill>
                  <a:srgbClr val="0F4C5C"/>
                </a:solidFill>
                <a:latin typeface="Georgia" pitchFamily="34" charset="0"/>
                <a:ea typeface="Georgia" pitchFamily="34" charset="-122"/>
                <a:cs typeface="Georgia" pitchFamily="34" charset="-120"/>
              </a:rPr>
              <a:t>Cause</a:t>
            </a:r>
            <a:endParaRPr lang="en-US" sz="1150" dirty="0"/>
          </a:p>
        </p:txBody>
      </p:sp>
      <p:sp>
        <p:nvSpPr>
          <p:cNvPr id="10" name="Text 7"/>
          <p:cNvSpPr/>
          <p:nvPr/>
        </p:nvSpPr>
        <p:spPr>
          <a:xfrm>
            <a:off x="914400" y="2313432"/>
            <a:ext cx="4983480" cy="411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Insulin resistance + progressive β-cell dysfunction</a:t>
            </a:r>
            <a:endParaRPr lang="en-US" sz="1100" dirty="0"/>
          </a:p>
        </p:txBody>
      </p:sp>
      <p:sp>
        <p:nvSpPr>
          <p:cNvPr id="11" name="Text 8"/>
          <p:cNvSpPr/>
          <p:nvPr/>
        </p:nvSpPr>
        <p:spPr>
          <a:xfrm>
            <a:off x="914400" y="2715768"/>
            <a:ext cx="4983480" cy="274320"/>
          </a:xfrm>
          <a:prstGeom prst="rect">
            <a:avLst/>
          </a:prstGeom>
          <a:noFill/>
          <a:ln/>
        </p:spPr>
        <p:txBody>
          <a:bodyPr wrap="square" lIns="0" tIns="0" rIns="0" bIns="0" rtlCol="0" anchor="ctr"/>
          <a:lstStyle/>
          <a:p>
            <a:pPr indent="0" marL="0">
              <a:buNone/>
            </a:pPr>
            <a:r>
              <a:rPr lang="en-US" sz="1150" b="1" dirty="0">
                <a:solidFill>
                  <a:srgbClr val="0F4C5C"/>
                </a:solidFill>
                <a:latin typeface="Georgia" pitchFamily="34" charset="0"/>
                <a:ea typeface="Georgia" pitchFamily="34" charset="-122"/>
                <a:cs typeface="Georgia" pitchFamily="34" charset="-120"/>
              </a:rPr>
              <a:t>Onset</a:t>
            </a:r>
            <a:endParaRPr lang="en-US" sz="1150" dirty="0"/>
          </a:p>
        </p:txBody>
      </p:sp>
      <p:sp>
        <p:nvSpPr>
          <p:cNvPr id="12" name="Text 9"/>
          <p:cNvSpPr/>
          <p:nvPr/>
        </p:nvSpPr>
        <p:spPr>
          <a:xfrm>
            <a:off x="914400" y="2971800"/>
            <a:ext cx="4983480" cy="411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Gradual, usually after age 40 (now in younger too)</a:t>
            </a:r>
            <a:endParaRPr lang="en-US" sz="1100" dirty="0"/>
          </a:p>
        </p:txBody>
      </p:sp>
      <p:sp>
        <p:nvSpPr>
          <p:cNvPr id="13" name="Text 10"/>
          <p:cNvSpPr/>
          <p:nvPr/>
        </p:nvSpPr>
        <p:spPr>
          <a:xfrm>
            <a:off x="914400" y="3374136"/>
            <a:ext cx="4983480" cy="274320"/>
          </a:xfrm>
          <a:prstGeom prst="rect">
            <a:avLst/>
          </a:prstGeom>
          <a:noFill/>
          <a:ln/>
        </p:spPr>
        <p:txBody>
          <a:bodyPr wrap="square" lIns="0" tIns="0" rIns="0" bIns="0" rtlCol="0" anchor="ctr"/>
          <a:lstStyle/>
          <a:p>
            <a:pPr indent="0" marL="0">
              <a:buNone/>
            </a:pPr>
            <a:r>
              <a:rPr lang="en-US" sz="1150" b="1" dirty="0">
                <a:solidFill>
                  <a:srgbClr val="0F4C5C"/>
                </a:solidFill>
                <a:latin typeface="Georgia" pitchFamily="34" charset="0"/>
                <a:ea typeface="Georgia" pitchFamily="34" charset="-122"/>
                <a:cs typeface="Georgia" pitchFamily="34" charset="-120"/>
              </a:rPr>
              <a:t>Body Habitus</a:t>
            </a:r>
            <a:endParaRPr lang="en-US" sz="1150" dirty="0"/>
          </a:p>
        </p:txBody>
      </p:sp>
      <p:sp>
        <p:nvSpPr>
          <p:cNvPr id="14" name="Text 11"/>
          <p:cNvSpPr/>
          <p:nvPr/>
        </p:nvSpPr>
        <p:spPr>
          <a:xfrm>
            <a:off x="914400" y="3630168"/>
            <a:ext cx="4983480" cy="411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Often overweight/obese, sedentary, family Hx</a:t>
            </a:r>
            <a:endParaRPr lang="en-US" sz="1100" dirty="0"/>
          </a:p>
        </p:txBody>
      </p:sp>
      <p:sp>
        <p:nvSpPr>
          <p:cNvPr id="15" name="Text 12"/>
          <p:cNvSpPr/>
          <p:nvPr/>
        </p:nvSpPr>
        <p:spPr>
          <a:xfrm>
            <a:off x="914400" y="4032504"/>
            <a:ext cx="4983480" cy="274320"/>
          </a:xfrm>
          <a:prstGeom prst="rect">
            <a:avLst/>
          </a:prstGeom>
          <a:noFill/>
          <a:ln/>
        </p:spPr>
        <p:txBody>
          <a:bodyPr wrap="square" lIns="0" tIns="0" rIns="0" bIns="0" rtlCol="0" anchor="ctr"/>
          <a:lstStyle/>
          <a:p>
            <a:pPr indent="0" marL="0">
              <a:buNone/>
            </a:pPr>
            <a:r>
              <a:rPr lang="en-US" sz="1150" b="1" dirty="0">
                <a:solidFill>
                  <a:srgbClr val="0F4C5C"/>
                </a:solidFill>
                <a:latin typeface="Georgia" pitchFamily="34" charset="0"/>
                <a:ea typeface="Georgia" pitchFamily="34" charset="-122"/>
                <a:cs typeface="Georgia" pitchFamily="34" charset="-120"/>
              </a:rPr>
              <a:t>Insulin Status</a:t>
            </a:r>
            <a:endParaRPr lang="en-US" sz="1150" dirty="0"/>
          </a:p>
        </p:txBody>
      </p:sp>
      <p:sp>
        <p:nvSpPr>
          <p:cNvPr id="16" name="Text 13"/>
          <p:cNvSpPr/>
          <p:nvPr/>
        </p:nvSpPr>
        <p:spPr>
          <a:xfrm>
            <a:off x="914400" y="4288536"/>
            <a:ext cx="4983480" cy="411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Insulin present but cells resist it — relative deficiency</a:t>
            </a:r>
            <a:endParaRPr lang="en-US" sz="1100" dirty="0"/>
          </a:p>
        </p:txBody>
      </p:sp>
      <p:sp>
        <p:nvSpPr>
          <p:cNvPr id="17" name="Text 14"/>
          <p:cNvSpPr/>
          <p:nvPr/>
        </p:nvSpPr>
        <p:spPr>
          <a:xfrm>
            <a:off x="914400" y="4690872"/>
            <a:ext cx="4983480" cy="274320"/>
          </a:xfrm>
          <a:prstGeom prst="rect">
            <a:avLst/>
          </a:prstGeom>
          <a:noFill/>
          <a:ln/>
        </p:spPr>
        <p:txBody>
          <a:bodyPr wrap="square" lIns="0" tIns="0" rIns="0" bIns="0" rtlCol="0" anchor="ctr"/>
          <a:lstStyle/>
          <a:p>
            <a:pPr indent="0" marL="0">
              <a:buNone/>
            </a:pPr>
            <a:r>
              <a:rPr lang="en-US" sz="1150" b="1" dirty="0">
                <a:solidFill>
                  <a:srgbClr val="0F4C5C"/>
                </a:solidFill>
                <a:latin typeface="Georgia" pitchFamily="34" charset="0"/>
                <a:ea typeface="Georgia" pitchFamily="34" charset="-122"/>
                <a:cs typeface="Georgia" pitchFamily="34" charset="-120"/>
              </a:rPr>
              <a:t>Treatment</a:t>
            </a:r>
            <a:endParaRPr lang="en-US" sz="1150" dirty="0"/>
          </a:p>
        </p:txBody>
      </p:sp>
      <p:sp>
        <p:nvSpPr>
          <p:cNvPr id="18" name="Text 15"/>
          <p:cNvSpPr/>
          <p:nvPr/>
        </p:nvSpPr>
        <p:spPr>
          <a:xfrm>
            <a:off x="914400" y="4946904"/>
            <a:ext cx="4983480" cy="411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Diet + exercise → Oral agents → Insulin if needed</a:t>
            </a:r>
            <a:endParaRPr lang="en-US" sz="1100" dirty="0"/>
          </a:p>
        </p:txBody>
      </p:sp>
      <p:sp>
        <p:nvSpPr>
          <p:cNvPr id="19" name="Text 16"/>
          <p:cNvSpPr/>
          <p:nvPr/>
        </p:nvSpPr>
        <p:spPr>
          <a:xfrm>
            <a:off x="914400" y="5349240"/>
            <a:ext cx="4983480" cy="274320"/>
          </a:xfrm>
          <a:prstGeom prst="rect">
            <a:avLst/>
          </a:prstGeom>
          <a:noFill/>
          <a:ln/>
        </p:spPr>
        <p:txBody>
          <a:bodyPr wrap="square" lIns="0" tIns="0" rIns="0" bIns="0" rtlCol="0" anchor="ctr"/>
          <a:lstStyle/>
          <a:p>
            <a:pPr indent="0" marL="0">
              <a:buNone/>
            </a:pPr>
            <a:r>
              <a:rPr lang="en-US" sz="1150" b="1" dirty="0">
                <a:solidFill>
                  <a:srgbClr val="0F4C5C"/>
                </a:solidFill>
                <a:latin typeface="Georgia" pitchFamily="34" charset="0"/>
                <a:ea typeface="Georgia" pitchFamily="34" charset="-122"/>
                <a:cs typeface="Georgia" pitchFamily="34" charset="-120"/>
              </a:rPr>
              <a:t>Ketones</a:t>
            </a:r>
            <a:endParaRPr lang="en-US" sz="1150" dirty="0"/>
          </a:p>
        </p:txBody>
      </p:sp>
      <p:sp>
        <p:nvSpPr>
          <p:cNvPr id="20" name="Text 17"/>
          <p:cNvSpPr/>
          <p:nvPr/>
        </p:nvSpPr>
        <p:spPr>
          <a:xfrm>
            <a:off x="914400" y="5605272"/>
            <a:ext cx="4983480" cy="411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Usually absent (enough insulin prevents ketogenesis)</a:t>
            </a:r>
            <a:endParaRPr lang="en-US" sz="1100" dirty="0"/>
          </a:p>
        </p:txBody>
      </p:sp>
      <p:sp>
        <p:nvSpPr>
          <p:cNvPr id="21" name="Shape 18"/>
          <p:cNvSpPr/>
          <p:nvPr/>
        </p:nvSpPr>
        <p:spPr>
          <a:xfrm>
            <a:off x="6263640" y="1417320"/>
            <a:ext cx="516636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2" name="Shape 19"/>
          <p:cNvSpPr/>
          <p:nvPr/>
        </p:nvSpPr>
        <p:spPr>
          <a:xfrm>
            <a:off x="6263640" y="1417320"/>
            <a:ext cx="5166360" cy="502920"/>
          </a:xfrm>
          <a:prstGeom prst="rect">
            <a:avLst/>
          </a:prstGeom>
          <a:solidFill>
            <a:srgbClr val="DC2626"/>
          </a:solidFill>
          <a:ln w="12700">
            <a:solidFill>
              <a:srgbClr val="DC2626"/>
            </a:solidFill>
            <a:prstDash val="solid"/>
          </a:ln>
        </p:spPr>
      </p:sp>
      <p:pic>
        <p:nvPicPr>
          <p:cNvPr id="23" name="Image 1" descr="preencoded.png">    </p:cNvPr>
          <p:cNvPicPr>
            <a:picLocks noChangeAspect="1"/>
          </p:cNvPicPr>
          <p:nvPr/>
        </p:nvPicPr>
        <p:blipFill>
          <a:blip r:embed="rId2"/>
          <a:stretch>
            <a:fillRect/>
          </a:stretch>
        </p:blipFill>
        <p:spPr>
          <a:xfrm>
            <a:off x="6400800" y="1490472"/>
            <a:ext cx="347472" cy="347472"/>
          </a:xfrm>
          <a:prstGeom prst="rect">
            <a:avLst/>
          </a:prstGeom>
        </p:spPr>
      </p:pic>
      <p:sp>
        <p:nvSpPr>
          <p:cNvPr id="24" name="Text 20"/>
          <p:cNvSpPr/>
          <p:nvPr/>
        </p:nvSpPr>
        <p:spPr>
          <a:xfrm>
            <a:off x="6812280" y="1417320"/>
            <a:ext cx="4617720" cy="5029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HHNS — Hyperglycemic Hyperosmolar Syndrome</a:t>
            </a:r>
            <a:endParaRPr lang="en-US" sz="1200" dirty="0"/>
          </a:p>
        </p:txBody>
      </p:sp>
      <p:sp>
        <p:nvSpPr>
          <p:cNvPr id="25" name="Text 21"/>
          <p:cNvSpPr/>
          <p:nvPr/>
        </p:nvSpPr>
        <p:spPr>
          <a:xfrm>
            <a:off x="6446520" y="2057400"/>
            <a:ext cx="4800600" cy="77724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Life-threatening complication of Type 2 DM — extreme hyperglycemia without ketoacidosis. Most common in older adults.</a:t>
            </a:r>
            <a:endParaRPr lang="en-US" sz="1100" dirty="0"/>
          </a:p>
        </p:txBody>
      </p:sp>
      <p:sp>
        <p:nvSpPr>
          <p:cNvPr id="26" name="Shape 22"/>
          <p:cNvSpPr/>
          <p:nvPr/>
        </p:nvSpPr>
        <p:spPr>
          <a:xfrm>
            <a:off x="6446520" y="3017520"/>
            <a:ext cx="164592" cy="164592"/>
          </a:xfrm>
          <a:prstGeom prst="ellipse">
            <a:avLst/>
          </a:prstGeom>
          <a:solidFill>
            <a:srgbClr val="DC2626"/>
          </a:solidFill>
          <a:ln w="12700">
            <a:solidFill>
              <a:srgbClr val="DC2626"/>
            </a:solidFill>
            <a:prstDash val="solid"/>
          </a:ln>
        </p:spPr>
      </p:sp>
      <p:sp>
        <p:nvSpPr>
          <p:cNvPr id="27" name="Text 23"/>
          <p:cNvSpPr/>
          <p:nvPr/>
        </p:nvSpPr>
        <p:spPr>
          <a:xfrm>
            <a:off x="6720840" y="2926080"/>
            <a:ext cx="1828800" cy="411480"/>
          </a:xfrm>
          <a:prstGeom prst="rect">
            <a:avLst/>
          </a:prstGeom>
          <a:noFill/>
          <a:ln/>
        </p:spPr>
        <p:txBody>
          <a:bodyPr wrap="square" lIns="0" tIns="0" rIns="0" bIns="0" rtlCol="0" anchor="ctr"/>
          <a:lstStyle/>
          <a:p>
            <a:pPr indent="0" marL="0">
              <a:buNone/>
            </a:pPr>
            <a:r>
              <a:rPr lang="en-US" sz="1100" b="1" dirty="0">
                <a:solidFill>
                  <a:srgbClr val="1E293B"/>
                </a:solidFill>
                <a:latin typeface="Georgia" pitchFamily="34" charset="0"/>
                <a:ea typeface="Georgia" pitchFamily="34" charset="-122"/>
                <a:cs typeface="Georgia" pitchFamily="34" charset="-120"/>
              </a:rPr>
              <a:t>Blood Glucose:</a:t>
            </a:r>
            <a:endParaRPr lang="en-US" sz="1100" dirty="0"/>
          </a:p>
        </p:txBody>
      </p:sp>
      <p:sp>
        <p:nvSpPr>
          <p:cNvPr id="28" name="Text 24"/>
          <p:cNvSpPr/>
          <p:nvPr/>
        </p:nvSpPr>
        <p:spPr>
          <a:xfrm>
            <a:off x="8549640" y="292608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&gt; 600 mg/dL (often &gt; 1000)</a:t>
            </a:r>
            <a:endParaRPr lang="en-US" sz="1050" dirty="0"/>
          </a:p>
        </p:txBody>
      </p:sp>
      <p:sp>
        <p:nvSpPr>
          <p:cNvPr id="29" name="Shape 25"/>
          <p:cNvSpPr/>
          <p:nvPr/>
        </p:nvSpPr>
        <p:spPr>
          <a:xfrm>
            <a:off x="6446520" y="3566160"/>
            <a:ext cx="164592" cy="164592"/>
          </a:xfrm>
          <a:prstGeom prst="ellipse">
            <a:avLst/>
          </a:prstGeom>
          <a:solidFill>
            <a:srgbClr val="DC2626"/>
          </a:solidFill>
          <a:ln w="12700">
            <a:solidFill>
              <a:srgbClr val="DC2626"/>
            </a:solidFill>
            <a:prstDash val="solid"/>
          </a:ln>
        </p:spPr>
      </p:sp>
      <p:sp>
        <p:nvSpPr>
          <p:cNvPr id="30" name="Text 26"/>
          <p:cNvSpPr/>
          <p:nvPr/>
        </p:nvSpPr>
        <p:spPr>
          <a:xfrm>
            <a:off x="6720840" y="3474720"/>
            <a:ext cx="1828800" cy="411480"/>
          </a:xfrm>
          <a:prstGeom prst="rect">
            <a:avLst/>
          </a:prstGeom>
          <a:noFill/>
          <a:ln/>
        </p:spPr>
        <p:txBody>
          <a:bodyPr wrap="square" lIns="0" tIns="0" rIns="0" bIns="0" rtlCol="0" anchor="ctr"/>
          <a:lstStyle/>
          <a:p>
            <a:pPr indent="0" marL="0">
              <a:buNone/>
            </a:pPr>
            <a:r>
              <a:rPr lang="en-US" sz="1100" b="1" dirty="0">
                <a:solidFill>
                  <a:srgbClr val="1E293B"/>
                </a:solidFill>
                <a:latin typeface="Georgia" pitchFamily="34" charset="0"/>
                <a:ea typeface="Georgia" pitchFamily="34" charset="-122"/>
                <a:cs typeface="Georgia" pitchFamily="34" charset="-120"/>
              </a:rPr>
              <a:t>Serum Osmolality:</a:t>
            </a:r>
            <a:endParaRPr lang="en-US" sz="1100" dirty="0"/>
          </a:p>
        </p:txBody>
      </p:sp>
      <p:sp>
        <p:nvSpPr>
          <p:cNvPr id="31" name="Text 27"/>
          <p:cNvSpPr/>
          <p:nvPr/>
        </p:nvSpPr>
        <p:spPr>
          <a:xfrm>
            <a:off x="8549640" y="347472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&gt; 320 mOsm/kg (severe)</a:t>
            </a:r>
            <a:endParaRPr lang="en-US" sz="1050" dirty="0"/>
          </a:p>
        </p:txBody>
      </p:sp>
      <p:sp>
        <p:nvSpPr>
          <p:cNvPr id="32" name="Shape 28"/>
          <p:cNvSpPr/>
          <p:nvPr/>
        </p:nvSpPr>
        <p:spPr>
          <a:xfrm>
            <a:off x="6446520" y="4114800"/>
            <a:ext cx="164592" cy="164592"/>
          </a:xfrm>
          <a:prstGeom prst="ellipse">
            <a:avLst/>
          </a:prstGeom>
          <a:solidFill>
            <a:srgbClr val="DC2626"/>
          </a:solidFill>
          <a:ln w="12700">
            <a:solidFill>
              <a:srgbClr val="DC2626"/>
            </a:solidFill>
            <a:prstDash val="solid"/>
          </a:ln>
        </p:spPr>
      </p:sp>
      <p:sp>
        <p:nvSpPr>
          <p:cNvPr id="33" name="Text 29"/>
          <p:cNvSpPr/>
          <p:nvPr/>
        </p:nvSpPr>
        <p:spPr>
          <a:xfrm>
            <a:off x="6720840" y="4023360"/>
            <a:ext cx="1828800" cy="411480"/>
          </a:xfrm>
          <a:prstGeom prst="rect">
            <a:avLst/>
          </a:prstGeom>
          <a:noFill/>
          <a:ln/>
        </p:spPr>
        <p:txBody>
          <a:bodyPr wrap="square" lIns="0" tIns="0" rIns="0" bIns="0" rtlCol="0" anchor="ctr"/>
          <a:lstStyle/>
          <a:p>
            <a:pPr indent="0" marL="0">
              <a:buNone/>
            </a:pPr>
            <a:r>
              <a:rPr lang="en-US" sz="1100" b="1" dirty="0">
                <a:solidFill>
                  <a:srgbClr val="1E293B"/>
                </a:solidFill>
                <a:latin typeface="Georgia" pitchFamily="34" charset="0"/>
                <a:ea typeface="Georgia" pitchFamily="34" charset="-122"/>
                <a:cs typeface="Georgia" pitchFamily="34" charset="-120"/>
              </a:rPr>
              <a:t>Ketones:</a:t>
            </a:r>
            <a:endParaRPr lang="en-US" sz="1100" dirty="0"/>
          </a:p>
        </p:txBody>
      </p:sp>
      <p:sp>
        <p:nvSpPr>
          <p:cNvPr id="34" name="Text 30"/>
          <p:cNvSpPr/>
          <p:nvPr/>
        </p:nvSpPr>
        <p:spPr>
          <a:xfrm>
            <a:off x="8549640" y="402336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Absent or minimal — key difference from DKA</a:t>
            </a:r>
            <a:endParaRPr lang="en-US" sz="1050" dirty="0"/>
          </a:p>
        </p:txBody>
      </p:sp>
      <p:sp>
        <p:nvSpPr>
          <p:cNvPr id="35" name="Shape 31"/>
          <p:cNvSpPr/>
          <p:nvPr/>
        </p:nvSpPr>
        <p:spPr>
          <a:xfrm>
            <a:off x="6446520" y="4663440"/>
            <a:ext cx="164592" cy="164592"/>
          </a:xfrm>
          <a:prstGeom prst="ellipse">
            <a:avLst/>
          </a:prstGeom>
          <a:solidFill>
            <a:srgbClr val="DC2626"/>
          </a:solidFill>
          <a:ln w="12700">
            <a:solidFill>
              <a:srgbClr val="DC2626"/>
            </a:solidFill>
            <a:prstDash val="solid"/>
          </a:ln>
        </p:spPr>
      </p:sp>
      <p:sp>
        <p:nvSpPr>
          <p:cNvPr id="36" name="Text 32"/>
          <p:cNvSpPr/>
          <p:nvPr/>
        </p:nvSpPr>
        <p:spPr>
          <a:xfrm>
            <a:off x="6720840" y="4572000"/>
            <a:ext cx="1828800" cy="411480"/>
          </a:xfrm>
          <a:prstGeom prst="rect">
            <a:avLst/>
          </a:prstGeom>
          <a:noFill/>
          <a:ln/>
        </p:spPr>
        <p:txBody>
          <a:bodyPr wrap="square" lIns="0" tIns="0" rIns="0" bIns="0" rtlCol="0" anchor="ctr"/>
          <a:lstStyle/>
          <a:p>
            <a:pPr indent="0" marL="0">
              <a:buNone/>
            </a:pPr>
            <a:r>
              <a:rPr lang="en-US" sz="1100" b="1" dirty="0">
                <a:solidFill>
                  <a:srgbClr val="1E293B"/>
                </a:solidFill>
                <a:latin typeface="Georgia" pitchFamily="34" charset="0"/>
                <a:ea typeface="Georgia" pitchFamily="34" charset="-122"/>
                <a:cs typeface="Georgia" pitchFamily="34" charset="-120"/>
              </a:rPr>
              <a:t>Dehydration:</a:t>
            </a:r>
            <a:endParaRPr lang="en-US" sz="1100" dirty="0"/>
          </a:p>
        </p:txBody>
      </p:sp>
      <p:sp>
        <p:nvSpPr>
          <p:cNvPr id="37" name="Text 33"/>
          <p:cNvSpPr/>
          <p:nvPr/>
        </p:nvSpPr>
        <p:spPr>
          <a:xfrm>
            <a:off x="8549640" y="457200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Profound — fluid deficit often 8–12 L</a:t>
            </a:r>
            <a:endParaRPr lang="en-US" sz="1050" dirty="0"/>
          </a:p>
        </p:txBody>
      </p:sp>
      <p:sp>
        <p:nvSpPr>
          <p:cNvPr id="38" name="Shape 34"/>
          <p:cNvSpPr/>
          <p:nvPr/>
        </p:nvSpPr>
        <p:spPr>
          <a:xfrm>
            <a:off x="6446520" y="5212080"/>
            <a:ext cx="164592" cy="164592"/>
          </a:xfrm>
          <a:prstGeom prst="ellipse">
            <a:avLst/>
          </a:prstGeom>
          <a:solidFill>
            <a:srgbClr val="DC2626"/>
          </a:solidFill>
          <a:ln w="12700">
            <a:solidFill>
              <a:srgbClr val="DC2626"/>
            </a:solidFill>
            <a:prstDash val="solid"/>
          </a:ln>
        </p:spPr>
      </p:sp>
      <p:sp>
        <p:nvSpPr>
          <p:cNvPr id="39" name="Text 35"/>
          <p:cNvSpPr/>
          <p:nvPr/>
        </p:nvSpPr>
        <p:spPr>
          <a:xfrm>
            <a:off x="6720840" y="5120640"/>
            <a:ext cx="1828800" cy="411480"/>
          </a:xfrm>
          <a:prstGeom prst="rect">
            <a:avLst/>
          </a:prstGeom>
          <a:noFill/>
          <a:ln/>
        </p:spPr>
        <p:txBody>
          <a:bodyPr wrap="square" lIns="0" tIns="0" rIns="0" bIns="0" rtlCol="0" anchor="ctr"/>
          <a:lstStyle/>
          <a:p>
            <a:pPr indent="0" marL="0">
              <a:buNone/>
            </a:pPr>
            <a:r>
              <a:rPr lang="en-US" sz="1100" b="1" dirty="0">
                <a:solidFill>
                  <a:srgbClr val="1E293B"/>
                </a:solidFill>
                <a:latin typeface="Georgia" pitchFamily="34" charset="0"/>
                <a:ea typeface="Georgia" pitchFamily="34" charset="-122"/>
                <a:cs typeface="Georgia" pitchFamily="34" charset="-120"/>
              </a:rPr>
              <a:t>Mental Status:</a:t>
            </a:r>
            <a:endParaRPr lang="en-US" sz="1100" dirty="0"/>
          </a:p>
        </p:txBody>
      </p:sp>
      <p:sp>
        <p:nvSpPr>
          <p:cNvPr id="40" name="Text 36"/>
          <p:cNvSpPr/>
          <p:nvPr/>
        </p:nvSpPr>
        <p:spPr>
          <a:xfrm>
            <a:off x="8549640" y="512064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Lethargy, seizures, coma (more AMS than DKA)</a:t>
            </a:r>
            <a:endParaRPr lang="en-US" sz="1050" dirty="0"/>
          </a:p>
        </p:txBody>
      </p:sp>
      <p:sp>
        <p:nvSpPr>
          <p:cNvPr id="41" name="Shape 37"/>
          <p:cNvSpPr/>
          <p:nvPr/>
        </p:nvSpPr>
        <p:spPr>
          <a:xfrm>
            <a:off x="6446520" y="5760720"/>
            <a:ext cx="164592" cy="164592"/>
          </a:xfrm>
          <a:prstGeom prst="ellipse">
            <a:avLst/>
          </a:prstGeom>
          <a:solidFill>
            <a:srgbClr val="DC2626"/>
          </a:solidFill>
          <a:ln w="12700">
            <a:solidFill>
              <a:srgbClr val="DC2626"/>
            </a:solidFill>
            <a:prstDash val="solid"/>
          </a:ln>
        </p:spPr>
      </p:sp>
      <p:sp>
        <p:nvSpPr>
          <p:cNvPr id="42" name="Text 38"/>
          <p:cNvSpPr/>
          <p:nvPr/>
        </p:nvSpPr>
        <p:spPr>
          <a:xfrm>
            <a:off x="6720840" y="5669280"/>
            <a:ext cx="1828800" cy="411480"/>
          </a:xfrm>
          <a:prstGeom prst="rect">
            <a:avLst/>
          </a:prstGeom>
          <a:noFill/>
          <a:ln/>
        </p:spPr>
        <p:txBody>
          <a:bodyPr wrap="square" lIns="0" tIns="0" rIns="0" bIns="0" rtlCol="0" anchor="ctr"/>
          <a:lstStyle/>
          <a:p>
            <a:pPr indent="0" marL="0">
              <a:buNone/>
            </a:pPr>
            <a:r>
              <a:rPr lang="en-US" sz="1100" b="1" dirty="0">
                <a:solidFill>
                  <a:srgbClr val="1E293B"/>
                </a:solidFill>
                <a:latin typeface="Georgia" pitchFamily="34" charset="0"/>
                <a:ea typeface="Georgia" pitchFamily="34" charset="-122"/>
                <a:cs typeface="Georgia" pitchFamily="34" charset="-120"/>
              </a:rPr>
              <a:t>Treatment:</a:t>
            </a:r>
            <a:endParaRPr lang="en-US" sz="1100" dirty="0"/>
          </a:p>
        </p:txBody>
      </p:sp>
      <p:sp>
        <p:nvSpPr>
          <p:cNvPr id="43" name="Text 39"/>
          <p:cNvSpPr/>
          <p:nvPr/>
        </p:nvSpPr>
        <p:spPr>
          <a:xfrm>
            <a:off x="8549640" y="5669280"/>
            <a:ext cx="274320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Aggressive IV fluids (NS), IV insulin drip, replace K+</a:t>
            </a:r>
            <a:endParaRPr lang="en-US" sz="1050" dirty="0"/>
          </a:p>
        </p:txBody>
      </p:sp>
      <p:sp>
        <p:nvSpPr>
          <p:cNvPr id="44" name="Text 40"/>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5" name="Text 41"/>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Insulin — Types, Onset &amp; Peak</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Know which insulin peaks when — key for preventing hypoglycemia</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1463040"/>
                <a:gridCol w="2560320"/>
                <a:gridCol w="1371600"/>
                <a:gridCol w="1645920"/>
                <a:gridCol w="1645920"/>
                <a:gridCol w="2011680"/>
              </a:tblGrid>
              <a:tr h="50292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Onset</a:t>
                      </a:r>
                      <a:endParaRPr lang="en-US" sz="12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Peak</a:t>
                      </a:r>
                      <a:endParaRPr lang="en-US" sz="12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Duration</a:t>
                      </a:r>
                      <a:endParaRPr lang="en-US" sz="12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Appearance</a:t>
                      </a:r>
                      <a:endParaRPr lang="en-US" sz="12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r>
              <a:tr h="868680">
                <a:tc>
                  <a:txBody>
                    <a:bodyPr/>
                    <a:lstStyle/>
                    <a:p>
                      <a:pPr algn="ctr" indent="0" marL="0">
                        <a:buNone/>
                      </a:pPr>
                      <a:r>
                        <a:rPr lang="en-US" sz="1200" b="1" dirty="0">
                          <a:solidFill>
                            <a:srgbClr val="E36414"/>
                          </a:solidFill>
                          <a:latin typeface="Calibri" pitchFamily="34" charset="0"/>
                          <a:ea typeface="Calibri" pitchFamily="34" charset="-122"/>
                          <a:cs typeface="Calibri" pitchFamily="34" charset="-120"/>
                        </a:rPr>
                        <a:t>Rapid-Acting</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Lispro (Humalog)</a:t>
                      </a:r>
                      <a:endParaRPr lang="en-US" sz="1100" dirty="0">
                        <a:latin typeface="Calibri" charset="0"/>
                        <a:ea typeface="Calibri" charset="0"/>
                        <a:cs typeface="Calibri" charset="0"/>
                      </a:endParaRPr>
                    </a:p>
                    <a:p>
                      <a:pPr algn="ctr" indent="0" marL="0">
                        <a:buNone/>
                      </a:pPr>
                      <a:r>
                        <a:rPr lang="en-US" sz="1100" dirty="0">
                          <a:solidFill>
                            <a:srgbClr val="1E293B"/>
                          </a:solidFill>
                          <a:latin typeface="Calibri" pitchFamily="34" charset="0"/>
                          <a:ea typeface="Calibri" pitchFamily="34" charset="-122"/>
                          <a:cs typeface="Calibri" pitchFamily="34" charset="-120"/>
                        </a:rPr>
                        <a:t>Aspart (Novolog)</a:t>
                      </a:r>
                      <a:endParaRPr lang="en-US" sz="1100" dirty="0">
                        <a:latin typeface="Calibri" charset="0"/>
                        <a:ea typeface="Calibri" charset="0"/>
                        <a:cs typeface="Calibri" charset="0"/>
                      </a:endParaRPr>
                    </a:p>
                    <a:p>
                      <a:pPr algn="ctr" indent="0" marL="0">
                        <a:buNone/>
                      </a:pPr>
                      <a:r>
                        <a:rPr lang="en-US" sz="1100" dirty="0">
                          <a:solidFill>
                            <a:srgbClr val="1E293B"/>
                          </a:solidFill>
                          <a:latin typeface="Calibri" pitchFamily="34" charset="0"/>
                          <a:ea typeface="Calibri" pitchFamily="34" charset="-122"/>
                          <a:cs typeface="Calibri" pitchFamily="34" charset="-120"/>
                        </a:rPr>
                        <a:t>Glulisine (Apidra)</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15 min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30–90 min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3–5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i="1" dirty="0">
                          <a:solidFill>
                            <a:srgbClr val="1E293B"/>
                          </a:solidFill>
                          <a:latin typeface="Calibri" pitchFamily="34" charset="0"/>
                          <a:ea typeface="Calibri" pitchFamily="34" charset="-122"/>
                          <a:cs typeface="Calibri" pitchFamily="34" charset="-120"/>
                        </a:rPr>
                        <a:t>Clear</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777240">
                <a:tc>
                  <a:txBody>
                    <a:bodyPr/>
                    <a:lstStyle/>
                    <a:p>
                      <a:pPr algn="ctr" indent="0" marL="0">
                        <a:buNone/>
                      </a:pPr>
                      <a:r>
                        <a:rPr lang="en-US" sz="1200" b="1" dirty="0">
                          <a:solidFill>
                            <a:srgbClr val="E36414"/>
                          </a:solidFill>
                          <a:latin typeface="Calibri" pitchFamily="34" charset="0"/>
                          <a:ea typeface="Calibri" pitchFamily="34" charset="-122"/>
                          <a:cs typeface="Calibri" pitchFamily="34" charset="-120"/>
                        </a:rPr>
                        <a:t>Short-Acting</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Regular (Humulin R,</a:t>
                      </a:r>
                      <a:endParaRPr lang="en-US" sz="1100" dirty="0">
                        <a:latin typeface="Calibri" charset="0"/>
                        <a:ea typeface="Calibri" charset="0"/>
                        <a:cs typeface="Calibri" charset="0"/>
                      </a:endParaRPr>
                    </a:p>
                    <a:p>
                      <a:pPr algn="ctr" indent="0" marL="0">
                        <a:buNone/>
                      </a:pPr>
                      <a:r>
                        <a:rPr lang="en-US" sz="1100" dirty="0">
                          <a:solidFill>
                            <a:srgbClr val="1E293B"/>
                          </a:solidFill>
                          <a:latin typeface="Calibri" pitchFamily="34" charset="0"/>
                          <a:ea typeface="Calibri" pitchFamily="34" charset="-122"/>
                          <a:cs typeface="Calibri" pitchFamily="34" charset="-120"/>
                        </a:rPr>
                        <a:t>Novolin R)</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30–60 min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2–4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5–8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050" i="1" dirty="0">
                          <a:solidFill>
                            <a:srgbClr val="1E293B"/>
                          </a:solidFill>
                          <a:latin typeface="Calibri" pitchFamily="34" charset="0"/>
                          <a:ea typeface="Calibri" pitchFamily="34" charset="-122"/>
                          <a:cs typeface="Calibri" pitchFamily="34" charset="-120"/>
                        </a:rPr>
                        <a:t>Clear</a:t>
                      </a:r>
                      <a:endParaRPr lang="en-US" sz="1050" dirty="0">
                        <a:latin typeface="Calibri" charset="0"/>
                        <a:ea typeface="Calibri" charset="0"/>
                        <a:cs typeface="Calibri" charset="0"/>
                      </a:endParaRPr>
                    </a:p>
                    <a:p>
                      <a:pPr algn="ctr" indent="0" marL="0">
                        <a:buNone/>
                      </a:pPr>
                      <a:r>
                        <a:rPr lang="en-US" sz="1050" i="1" dirty="0">
                          <a:solidFill>
                            <a:srgbClr val="1E293B"/>
                          </a:solidFill>
                          <a:latin typeface="Calibri" pitchFamily="34" charset="0"/>
                          <a:ea typeface="Calibri" pitchFamily="34" charset="-122"/>
                          <a:cs typeface="Calibri" pitchFamily="34" charset="-120"/>
                        </a:rPr>
                        <a:t>(only insulin IV)</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685800">
                <a:tc>
                  <a:txBody>
                    <a:bodyPr/>
                    <a:lstStyle/>
                    <a:p>
                      <a:pPr algn="ctr" indent="0" marL="0">
                        <a:buNone/>
                      </a:pPr>
                      <a:r>
                        <a:rPr lang="en-US" sz="1200" b="1" dirty="0">
                          <a:solidFill>
                            <a:srgbClr val="E36414"/>
                          </a:solidFill>
                          <a:latin typeface="Calibri" pitchFamily="34" charset="0"/>
                          <a:ea typeface="Calibri" pitchFamily="34" charset="-122"/>
                          <a:cs typeface="Calibri" pitchFamily="34" charset="-120"/>
                        </a:rPr>
                        <a:t>Intermediate</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NPH (Humulin N,</a:t>
                      </a:r>
                      <a:endParaRPr lang="en-US" sz="1100" dirty="0">
                        <a:latin typeface="Calibri" charset="0"/>
                        <a:ea typeface="Calibri" charset="0"/>
                        <a:cs typeface="Calibri" charset="0"/>
                      </a:endParaRPr>
                    </a:p>
                    <a:p>
                      <a:pPr algn="ctr" indent="0" marL="0">
                        <a:buNone/>
                      </a:pPr>
                      <a:r>
                        <a:rPr lang="en-US" sz="1100" dirty="0">
                          <a:solidFill>
                            <a:srgbClr val="1E293B"/>
                          </a:solidFill>
                          <a:latin typeface="Calibri" pitchFamily="34" charset="0"/>
                          <a:ea typeface="Calibri" pitchFamily="34" charset="-122"/>
                          <a:cs typeface="Calibri" pitchFamily="34" charset="-120"/>
                        </a:rPr>
                        <a:t>Novolin N)</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1–2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b="1" dirty="0">
                          <a:solidFill>
                            <a:srgbClr val="DC2626"/>
                          </a:solidFill>
                          <a:latin typeface="Calibri" pitchFamily="34" charset="0"/>
                          <a:ea typeface="Calibri" pitchFamily="34" charset="-122"/>
                          <a:cs typeface="Calibri" pitchFamily="34" charset="-120"/>
                        </a:rPr>
                        <a:t>4–12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16–20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b="1" i="1" dirty="0">
                          <a:solidFill>
                            <a:srgbClr val="0F4C5C"/>
                          </a:solidFill>
                          <a:latin typeface="Calibri" pitchFamily="34" charset="0"/>
                          <a:ea typeface="Calibri" pitchFamily="34" charset="-122"/>
                          <a:cs typeface="Calibri" pitchFamily="34" charset="-120"/>
                        </a:rPr>
                        <a:t>CLOUDY</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868680">
                <a:tc>
                  <a:txBody>
                    <a:bodyPr/>
                    <a:lstStyle/>
                    <a:p>
                      <a:pPr algn="ctr" indent="0" marL="0">
                        <a:buNone/>
                      </a:pPr>
                      <a:r>
                        <a:rPr lang="en-US" sz="1200" b="1" dirty="0">
                          <a:solidFill>
                            <a:srgbClr val="E36414"/>
                          </a:solidFill>
                          <a:latin typeface="Calibri" pitchFamily="34" charset="0"/>
                          <a:ea typeface="Calibri" pitchFamily="34" charset="-122"/>
                          <a:cs typeface="Calibri" pitchFamily="34" charset="-120"/>
                        </a:rPr>
                        <a:t>Long-Acting</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Glargine (Lantus)</a:t>
                      </a:r>
                      <a:endParaRPr lang="en-US" sz="1100" dirty="0">
                        <a:latin typeface="Calibri" charset="0"/>
                        <a:ea typeface="Calibri" charset="0"/>
                        <a:cs typeface="Calibri" charset="0"/>
                      </a:endParaRPr>
                    </a:p>
                    <a:p>
                      <a:pPr algn="ctr" indent="0" marL="0">
                        <a:buNone/>
                      </a:pPr>
                      <a:r>
                        <a:rPr lang="en-US" sz="1100" dirty="0">
                          <a:solidFill>
                            <a:srgbClr val="1E293B"/>
                          </a:solidFill>
                          <a:latin typeface="Calibri" pitchFamily="34" charset="0"/>
                          <a:ea typeface="Calibri" pitchFamily="34" charset="-122"/>
                          <a:cs typeface="Calibri" pitchFamily="34" charset="-120"/>
                        </a:rPr>
                        <a:t>Detemir (Levemir)</a:t>
                      </a:r>
                      <a:endParaRPr lang="en-US" sz="1100" dirty="0">
                        <a:latin typeface="Calibri" charset="0"/>
                        <a:ea typeface="Calibri" charset="0"/>
                        <a:cs typeface="Calibri" charset="0"/>
                      </a:endParaRPr>
                    </a:p>
                    <a:p>
                      <a:pPr algn="ctr" indent="0" marL="0">
                        <a:buNone/>
                      </a:pPr>
                      <a:r>
                        <a:rPr lang="en-US" sz="1100" dirty="0">
                          <a:solidFill>
                            <a:srgbClr val="1E293B"/>
                          </a:solidFill>
                          <a:latin typeface="Calibri" pitchFamily="34" charset="0"/>
                          <a:ea typeface="Calibri" pitchFamily="34" charset="-122"/>
                          <a:cs typeface="Calibri" pitchFamily="34" charset="-120"/>
                        </a:rPr>
                        <a:t>Degludec (Tresiba)</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1–2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059669"/>
                          </a:solidFill>
                          <a:latin typeface="Calibri" pitchFamily="34" charset="0"/>
                          <a:ea typeface="Calibri" pitchFamily="34" charset="-122"/>
                          <a:cs typeface="Calibri" pitchFamily="34" charset="-120"/>
                        </a:rPr>
                        <a:t>No peak</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20–24 hr+</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Clear</a:t>
                      </a:r>
                      <a:endParaRPr lang="en-US" sz="1050" dirty="0">
                        <a:latin typeface="Calibri" charset="0"/>
                        <a:ea typeface="Calibri" charset="0"/>
                        <a:cs typeface="Calibri" charset="0"/>
                      </a:endParaRPr>
                    </a:p>
                    <a:p>
                      <a:pPr algn="ctr" indent="0" marL="0">
                        <a:buNone/>
                      </a:pPr>
                      <a:r>
                        <a:rPr lang="en-US" sz="1050" b="1" dirty="0">
                          <a:solidFill>
                            <a:srgbClr val="DC2626"/>
                          </a:solidFill>
                          <a:latin typeface="Calibri" pitchFamily="34" charset="0"/>
                          <a:ea typeface="Calibri" pitchFamily="34" charset="-122"/>
                          <a:cs typeface="Calibri" pitchFamily="34" charset="-120"/>
                        </a:rPr>
                        <a:t>NEVER MIX</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bl>
          </a:graphicData>
        </a:graphic>
      </p:graphicFrame>
      <p:sp>
        <p:nvSpPr>
          <p:cNvPr id="6" name="Shape 3"/>
          <p:cNvSpPr/>
          <p:nvPr/>
        </p:nvSpPr>
        <p:spPr>
          <a:xfrm>
            <a:off x="731520" y="5806440"/>
            <a:ext cx="10698480" cy="502920"/>
          </a:xfrm>
          <a:prstGeom prst="rect">
            <a:avLst/>
          </a:prstGeom>
          <a:solidFill>
            <a:srgbClr val="E36414"/>
          </a:solidFill>
          <a:ln w="12700">
            <a:solidFill>
              <a:srgbClr val="E36414"/>
            </a:solidFill>
            <a:prstDash val="solid"/>
          </a:ln>
        </p:spPr>
      </p:sp>
      <p:pic>
        <p:nvPicPr>
          <p:cNvPr id="7" name="Image 0" descr="preencoded.png">    </p:cNvPr>
          <p:cNvPicPr>
            <a:picLocks noChangeAspect="1"/>
          </p:cNvPicPr>
          <p:nvPr/>
        </p:nvPicPr>
        <p:blipFill>
          <a:blip r:embed="rId1"/>
          <a:stretch>
            <a:fillRect/>
          </a:stretch>
        </p:blipFill>
        <p:spPr>
          <a:xfrm>
            <a:off x="914400" y="5879592"/>
            <a:ext cx="347472" cy="347472"/>
          </a:xfrm>
          <a:prstGeom prst="rect">
            <a:avLst/>
          </a:prstGeom>
        </p:spPr>
      </p:pic>
      <p:sp>
        <p:nvSpPr>
          <p:cNvPr id="8" name="Text 4"/>
          <p:cNvSpPr/>
          <p:nvPr/>
        </p:nvSpPr>
        <p:spPr>
          <a:xfrm>
            <a:off x="1371600" y="5806440"/>
            <a:ext cx="9966960" cy="5029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PEAK = highest hypoglycemia risk. Teach patients to eat at peak times and watch for shaky/sweaty/confused.</a:t>
            </a:r>
            <a:endParaRPr lang="en-US" sz="1200" dirty="0"/>
          </a:p>
        </p:txBody>
      </p:sp>
      <p:sp>
        <p:nvSpPr>
          <p:cNvPr id="9" name="Text 5"/>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10" name="Text 6"/>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Insulin Administration</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Mixing, sites, storage — high-yield NCLEX content</a:t>
            </a:r>
            <a:endParaRPr lang="en-US" sz="1400" dirty="0"/>
          </a:p>
        </p:txBody>
      </p:sp>
      <p:sp>
        <p:nvSpPr>
          <p:cNvPr id="5" name="Shape 3"/>
          <p:cNvSpPr/>
          <p:nvPr/>
        </p:nvSpPr>
        <p:spPr>
          <a:xfrm>
            <a:off x="731520" y="1417320"/>
            <a:ext cx="338328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731520" y="1417320"/>
            <a:ext cx="3383280" cy="685800"/>
          </a:xfrm>
          <a:prstGeom prst="rect">
            <a:avLst/>
          </a:prstGeom>
          <a:solidFill>
            <a:srgbClr val="0F4C5C"/>
          </a:solidFill>
          <a:ln w="12700">
            <a:solidFill>
              <a:srgbClr val="0F4C5C"/>
            </a:solidFill>
            <a:prstDash val="solid"/>
          </a:ln>
        </p:spPr>
      </p:sp>
      <p:pic>
        <p:nvPicPr>
          <p:cNvPr id="7" name="Image 0" descr="preencoded.png">    </p:cNvPr>
          <p:cNvPicPr>
            <a:picLocks noChangeAspect="1"/>
          </p:cNvPicPr>
          <p:nvPr/>
        </p:nvPicPr>
        <p:blipFill>
          <a:blip r:embed="rId1"/>
          <a:stretch>
            <a:fillRect/>
          </a:stretch>
        </p:blipFill>
        <p:spPr>
          <a:xfrm>
            <a:off x="914400" y="1554480"/>
            <a:ext cx="411480" cy="411480"/>
          </a:xfrm>
          <a:prstGeom prst="rect">
            <a:avLst/>
          </a:prstGeom>
        </p:spPr>
      </p:pic>
      <p:sp>
        <p:nvSpPr>
          <p:cNvPr id="8" name="Text 5"/>
          <p:cNvSpPr/>
          <p:nvPr/>
        </p:nvSpPr>
        <p:spPr>
          <a:xfrm>
            <a:off x="1417320" y="1417320"/>
            <a:ext cx="2606040" cy="6858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MIXING INSULIN</a:t>
            </a:r>
            <a:endParaRPr lang="en-US" sz="1400" dirty="0"/>
          </a:p>
        </p:txBody>
      </p:sp>
      <p:sp>
        <p:nvSpPr>
          <p:cNvPr id="9" name="Shape 6"/>
          <p:cNvSpPr/>
          <p:nvPr/>
        </p:nvSpPr>
        <p:spPr>
          <a:xfrm>
            <a:off x="914400" y="2496312"/>
            <a:ext cx="182880" cy="182880"/>
          </a:xfrm>
          <a:prstGeom prst="ellipse">
            <a:avLst/>
          </a:prstGeom>
          <a:solidFill>
            <a:srgbClr val="0F4C5C"/>
          </a:solidFill>
          <a:ln w="12700">
            <a:solidFill>
              <a:srgbClr val="0F4C5C"/>
            </a:solidFill>
            <a:prstDash val="solid"/>
          </a:ln>
        </p:spPr>
      </p:sp>
      <p:sp>
        <p:nvSpPr>
          <p:cNvPr id="10" name="Text 7"/>
          <p:cNvSpPr/>
          <p:nvPr/>
        </p:nvSpPr>
        <p:spPr>
          <a:xfrm>
            <a:off x="1188720" y="233172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Only REGULAR + NPH can be mixed</a:t>
            </a:r>
            <a:endParaRPr lang="en-US" sz="1100" dirty="0"/>
          </a:p>
        </p:txBody>
      </p:sp>
      <p:sp>
        <p:nvSpPr>
          <p:cNvPr id="11" name="Shape 8"/>
          <p:cNvSpPr/>
          <p:nvPr/>
        </p:nvSpPr>
        <p:spPr>
          <a:xfrm>
            <a:off x="914400" y="3273552"/>
            <a:ext cx="182880" cy="182880"/>
          </a:xfrm>
          <a:prstGeom prst="ellipse">
            <a:avLst/>
          </a:prstGeom>
          <a:solidFill>
            <a:srgbClr val="0F4C5C"/>
          </a:solidFill>
          <a:ln w="12700">
            <a:solidFill>
              <a:srgbClr val="0F4C5C"/>
            </a:solidFill>
            <a:prstDash val="solid"/>
          </a:ln>
        </p:spPr>
      </p:sp>
      <p:sp>
        <p:nvSpPr>
          <p:cNvPr id="12" name="Text 9"/>
          <p:cNvSpPr/>
          <p:nvPr/>
        </p:nvSpPr>
        <p:spPr>
          <a:xfrm>
            <a:off x="1188720" y="310896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"CLEAR before CLOUDY" — draw up regular FIRST</a:t>
            </a:r>
            <a:endParaRPr lang="en-US" sz="1100" dirty="0"/>
          </a:p>
        </p:txBody>
      </p:sp>
      <p:sp>
        <p:nvSpPr>
          <p:cNvPr id="13" name="Shape 10"/>
          <p:cNvSpPr/>
          <p:nvPr/>
        </p:nvSpPr>
        <p:spPr>
          <a:xfrm>
            <a:off x="914400" y="4050792"/>
            <a:ext cx="182880" cy="182880"/>
          </a:xfrm>
          <a:prstGeom prst="ellipse">
            <a:avLst/>
          </a:prstGeom>
          <a:solidFill>
            <a:srgbClr val="0F4C5C"/>
          </a:solidFill>
          <a:ln w="12700">
            <a:solidFill>
              <a:srgbClr val="0F4C5C"/>
            </a:solidFill>
            <a:prstDash val="solid"/>
          </a:ln>
        </p:spPr>
      </p:sp>
      <p:sp>
        <p:nvSpPr>
          <p:cNvPr id="14" name="Text 11"/>
          <p:cNvSpPr/>
          <p:nvPr/>
        </p:nvSpPr>
        <p:spPr>
          <a:xfrm>
            <a:off x="1188720" y="388620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Inject air into cloudy vial first, then clear vial</a:t>
            </a:r>
            <a:endParaRPr lang="en-US" sz="1100" dirty="0"/>
          </a:p>
        </p:txBody>
      </p:sp>
      <p:sp>
        <p:nvSpPr>
          <p:cNvPr id="15" name="Shape 12"/>
          <p:cNvSpPr/>
          <p:nvPr/>
        </p:nvSpPr>
        <p:spPr>
          <a:xfrm>
            <a:off x="914400" y="4828032"/>
            <a:ext cx="182880" cy="182880"/>
          </a:xfrm>
          <a:prstGeom prst="ellipse">
            <a:avLst/>
          </a:prstGeom>
          <a:solidFill>
            <a:srgbClr val="0F4C5C"/>
          </a:solidFill>
          <a:ln w="12700">
            <a:solidFill>
              <a:srgbClr val="0F4C5C"/>
            </a:solidFill>
            <a:prstDash val="solid"/>
          </a:ln>
        </p:spPr>
      </p:sp>
      <p:sp>
        <p:nvSpPr>
          <p:cNvPr id="16" name="Text 13"/>
          <p:cNvSpPr/>
          <p:nvPr/>
        </p:nvSpPr>
        <p:spPr>
          <a:xfrm>
            <a:off x="1188720" y="466344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NEVER mix Glargine or Detemir with any insulin</a:t>
            </a:r>
            <a:endParaRPr lang="en-US" sz="1100" dirty="0"/>
          </a:p>
        </p:txBody>
      </p:sp>
      <p:sp>
        <p:nvSpPr>
          <p:cNvPr id="17" name="Shape 14"/>
          <p:cNvSpPr/>
          <p:nvPr/>
        </p:nvSpPr>
        <p:spPr>
          <a:xfrm>
            <a:off x="914400" y="5605272"/>
            <a:ext cx="182880" cy="182880"/>
          </a:xfrm>
          <a:prstGeom prst="ellipse">
            <a:avLst/>
          </a:prstGeom>
          <a:solidFill>
            <a:srgbClr val="0F4C5C"/>
          </a:solidFill>
          <a:ln w="12700">
            <a:solidFill>
              <a:srgbClr val="0F4C5C"/>
            </a:solidFill>
            <a:prstDash val="solid"/>
          </a:ln>
        </p:spPr>
      </p:sp>
      <p:sp>
        <p:nvSpPr>
          <p:cNvPr id="18" name="Text 15"/>
          <p:cNvSpPr/>
          <p:nvPr/>
        </p:nvSpPr>
        <p:spPr>
          <a:xfrm>
            <a:off x="1188720" y="544068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Administer within 15 min of mixing</a:t>
            </a:r>
            <a:endParaRPr lang="en-US" sz="1100" dirty="0"/>
          </a:p>
        </p:txBody>
      </p:sp>
      <p:sp>
        <p:nvSpPr>
          <p:cNvPr id="19" name="Shape 16"/>
          <p:cNvSpPr/>
          <p:nvPr/>
        </p:nvSpPr>
        <p:spPr>
          <a:xfrm>
            <a:off x="4389120" y="1417320"/>
            <a:ext cx="338328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0" name="Shape 17"/>
          <p:cNvSpPr/>
          <p:nvPr/>
        </p:nvSpPr>
        <p:spPr>
          <a:xfrm>
            <a:off x="4389120" y="1417320"/>
            <a:ext cx="3383280" cy="685800"/>
          </a:xfrm>
          <a:prstGeom prst="rect">
            <a:avLst/>
          </a:prstGeom>
          <a:solidFill>
            <a:srgbClr val="E36414"/>
          </a:solidFill>
          <a:ln w="12700">
            <a:solidFill>
              <a:srgbClr val="E36414"/>
            </a:solidFill>
            <a:prstDash val="solid"/>
          </a:ln>
        </p:spPr>
      </p:sp>
      <p:pic>
        <p:nvPicPr>
          <p:cNvPr id="21" name="Image 1" descr="preencoded.png">    </p:cNvPr>
          <p:cNvPicPr>
            <a:picLocks noChangeAspect="1"/>
          </p:cNvPicPr>
          <p:nvPr/>
        </p:nvPicPr>
        <p:blipFill>
          <a:blip r:embed="rId2"/>
          <a:stretch>
            <a:fillRect/>
          </a:stretch>
        </p:blipFill>
        <p:spPr>
          <a:xfrm>
            <a:off x="4572000" y="1554480"/>
            <a:ext cx="411480" cy="411480"/>
          </a:xfrm>
          <a:prstGeom prst="rect">
            <a:avLst/>
          </a:prstGeom>
        </p:spPr>
      </p:pic>
      <p:sp>
        <p:nvSpPr>
          <p:cNvPr id="22" name="Text 18"/>
          <p:cNvSpPr/>
          <p:nvPr/>
        </p:nvSpPr>
        <p:spPr>
          <a:xfrm>
            <a:off x="5074920" y="1417320"/>
            <a:ext cx="2606040" cy="6858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INJECTION SITES</a:t>
            </a:r>
            <a:endParaRPr lang="en-US" sz="1400" dirty="0"/>
          </a:p>
        </p:txBody>
      </p:sp>
      <p:sp>
        <p:nvSpPr>
          <p:cNvPr id="23" name="Shape 19"/>
          <p:cNvSpPr/>
          <p:nvPr/>
        </p:nvSpPr>
        <p:spPr>
          <a:xfrm>
            <a:off x="4572000" y="2496312"/>
            <a:ext cx="182880" cy="182880"/>
          </a:xfrm>
          <a:prstGeom prst="ellipse">
            <a:avLst/>
          </a:prstGeom>
          <a:solidFill>
            <a:srgbClr val="E36414"/>
          </a:solidFill>
          <a:ln w="12700">
            <a:solidFill>
              <a:srgbClr val="E36414"/>
            </a:solidFill>
            <a:prstDash val="solid"/>
          </a:ln>
        </p:spPr>
      </p:sp>
      <p:sp>
        <p:nvSpPr>
          <p:cNvPr id="24" name="Text 20"/>
          <p:cNvSpPr/>
          <p:nvPr/>
        </p:nvSpPr>
        <p:spPr>
          <a:xfrm>
            <a:off x="4846320" y="233172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Abdomen — fastest absorption (preferred)</a:t>
            </a:r>
            <a:endParaRPr lang="en-US" sz="1100" dirty="0"/>
          </a:p>
        </p:txBody>
      </p:sp>
      <p:sp>
        <p:nvSpPr>
          <p:cNvPr id="25" name="Shape 21"/>
          <p:cNvSpPr/>
          <p:nvPr/>
        </p:nvSpPr>
        <p:spPr>
          <a:xfrm>
            <a:off x="4572000" y="3273552"/>
            <a:ext cx="182880" cy="182880"/>
          </a:xfrm>
          <a:prstGeom prst="ellipse">
            <a:avLst/>
          </a:prstGeom>
          <a:solidFill>
            <a:srgbClr val="E36414"/>
          </a:solidFill>
          <a:ln w="12700">
            <a:solidFill>
              <a:srgbClr val="E36414"/>
            </a:solidFill>
            <a:prstDash val="solid"/>
          </a:ln>
        </p:spPr>
      </p:sp>
      <p:sp>
        <p:nvSpPr>
          <p:cNvPr id="26" name="Text 22"/>
          <p:cNvSpPr/>
          <p:nvPr/>
        </p:nvSpPr>
        <p:spPr>
          <a:xfrm>
            <a:off x="4846320" y="310896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Upper arm, thigh, buttocks (slower)</a:t>
            </a:r>
            <a:endParaRPr lang="en-US" sz="1100" dirty="0"/>
          </a:p>
        </p:txBody>
      </p:sp>
      <p:sp>
        <p:nvSpPr>
          <p:cNvPr id="27" name="Shape 23"/>
          <p:cNvSpPr/>
          <p:nvPr/>
        </p:nvSpPr>
        <p:spPr>
          <a:xfrm>
            <a:off x="4572000" y="4050792"/>
            <a:ext cx="182880" cy="182880"/>
          </a:xfrm>
          <a:prstGeom prst="ellipse">
            <a:avLst/>
          </a:prstGeom>
          <a:solidFill>
            <a:srgbClr val="E36414"/>
          </a:solidFill>
          <a:ln w="12700">
            <a:solidFill>
              <a:srgbClr val="E36414"/>
            </a:solidFill>
            <a:prstDash val="solid"/>
          </a:ln>
        </p:spPr>
      </p:sp>
      <p:sp>
        <p:nvSpPr>
          <p:cNvPr id="28" name="Text 24"/>
          <p:cNvSpPr/>
          <p:nvPr/>
        </p:nvSpPr>
        <p:spPr>
          <a:xfrm>
            <a:off x="4846320" y="388620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ROTATE within one area, then rotate areas</a:t>
            </a:r>
            <a:endParaRPr lang="en-US" sz="1100" dirty="0"/>
          </a:p>
        </p:txBody>
      </p:sp>
      <p:sp>
        <p:nvSpPr>
          <p:cNvPr id="29" name="Shape 25"/>
          <p:cNvSpPr/>
          <p:nvPr/>
        </p:nvSpPr>
        <p:spPr>
          <a:xfrm>
            <a:off x="4572000" y="4828032"/>
            <a:ext cx="182880" cy="182880"/>
          </a:xfrm>
          <a:prstGeom prst="ellipse">
            <a:avLst/>
          </a:prstGeom>
          <a:solidFill>
            <a:srgbClr val="E36414"/>
          </a:solidFill>
          <a:ln w="12700">
            <a:solidFill>
              <a:srgbClr val="E36414"/>
            </a:solidFill>
            <a:prstDash val="solid"/>
          </a:ln>
        </p:spPr>
      </p:sp>
      <p:sp>
        <p:nvSpPr>
          <p:cNvPr id="30" name="Text 26"/>
          <p:cNvSpPr/>
          <p:nvPr/>
        </p:nvSpPr>
        <p:spPr>
          <a:xfrm>
            <a:off x="4846320" y="466344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Exercise speeds absorption (hypoglycemia risk)</a:t>
            </a:r>
            <a:endParaRPr lang="en-US" sz="1100" dirty="0"/>
          </a:p>
        </p:txBody>
      </p:sp>
      <p:sp>
        <p:nvSpPr>
          <p:cNvPr id="31" name="Shape 27"/>
          <p:cNvSpPr/>
          <p:nvPr/>
        </p:nvSpPr>
        <p:spPr>
          <a:xfrm>
            <a:off x="4572000" y="5605272"/>
            <a:ext cx="182880" cy="182880"/>
          </a:xfrm>
          <a:prstGeom prst="ellipse">
            <a:avLst/>
          </a:prstGeom>
          <a:solidFill>
            <a:srgbClr val="E36414"/>
          </a:solidFill>
          <a:ln w="12700">
            <a:solidFill>
              <a:srgbClr val="E36414"/>
            </a:solidFill>
            <a:prstDash val="solid"/>
          </a:ln>
        </p:spPr>
      </p:sp>
      <p:sp>
        <p:nvSpPr>
          <p:cNvPr id="32" name="Text 28"/>
          <p:cNvSpPr/>
          <p:nvPr/>
        </p:nvSpPr>
        <p:spPr>
          <a:xfrm>
            <a:off x="4846320" y="544068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90° angle (45° if thin/low SubQ tissue)</a:t>
            </a:r>
            <a:endParaRPr lang="en-US" sz="1100" dirty="0"/>
          </a:p>
        </p:txBody>
      </p:sp>
      <p:sp>
        <p:nvSpPr>
          <p:cNvPr id="33" name="Shape 29"/>
          <p:cNvSpPr/>
          <p:nvPr/>
        </p:nvSpPr>
        <p:spPr>
          <a:xfrm>
            <a:off x="8046720" y="1417320"/>
            <a:ext cx="3383280" cy="48463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34" name="Shape 30"/>
          <p:cNvSpPr/>
          <p:nvPr/>
        </p:nvSpPr>
        <p:spPr>
          <a:xfrm>
            <a:off x="8046720" y="1417320"/>
            <a:ext cx="3383280" cy="685800"/>
          </a:xfrm>
          <a:prstGeom prst="rect">
            <a:avLst/>
          </a:prstGeom>
          <a:solidFill>
            <a:srgbClr val="155E75"/>
          </a:solidFill>
          <a:ln w="12700">
            <a:solidFill>
              <a:srgbClr val="155E75"/>
            </a:solidFill>
            <a:prstDash val="solid"/>
          </a:ln>
        </p:spPr>
      </p:sp>
      <p:pic>
        <p:nvPicPr>
          <p:cNvPr id="35" name="Image 2" descr="preencoded.png">    </p:cNvPr>
          <p:cNvPicPr>
            <a:picLocks noChangeAspect="1"/>
          </p:cNvPicPr>
          <p:nvPr/>
        </p:nvPicPr>
        <p:blipFill>
          <a:blip r:embed="rId3"/>
          <a:stretch>
            <a:fillRect/>
          </a:stretch>
        </p:blipFill>
        <p:spPr>
          <a:xfrm>
            <a:off x="8229600" y="1554480"/>
            <a:ext cx="411480" cy="411480"/>
          </a:xfrm>
          <a:prstGeom prst="rect">
            <a:avLst/>
          </a:prstGeom>
        </p:spPr>
      </p:pic>
      <p:sp>
        <p:nvSpPr>
          <p:cNvPr id="36" name="Text 31"/>
          <p:cNvSpPr/>
          <p:nvPr/>
        </p:nvSpPr>
        <p:spPr>
          <a:xfrm>
            <a:off x="8732520" y="1417320"/>
            <a:ext cx="2606040" cy="6858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STORAGE</a:t>
            </a:r>
            <a:endParaRPr lang="en-US" sz="1400" dirty="0"/>
          </a:p>
        </p:txBody>
      </p:sp>
      <p:sp>
        <p:nvSpPr>
          <p:cNvPr id="37" name="Shape 32"/>
          <p:cNvSpPr/>
          <p:nvPr/>
        </p:nvSpPr>
        <p:spPr>
          <a:xfrm>
            <a:off x="8229600" y="2496312"/>
            <a:ext cx="182880" cy="182880"/>
          </a:xfrm>
          <a:prstGeom prst="ellipse">
            <a:avLst/>
          </a:prstGeom>
          <a:solidFill>
            <a:srgbClr val="155E75"/>
          </a:solidFill>
          <a:ln w="12700">
            <a:solidFill>
              <a:srgbClr val="155E75"/>
            </a:solidFill>
            <a:prstDash val="solid"/>
          </a:ln>
        </p:spPr>
      </p:sp>
      <p:sp>
        <p:nvSpPr>
          <p:cNvPr id="38" name="Text 33"/>
          <p:cNvSpPr/>
          <p:nvPr/>
        </p:nvSpPr>
        <p:spPr>
          <a:xfrm>
            <a:off x="8503920" y="233172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Unopened vials/pens — refrigerate</a:t>
            </a:r>
            <a:endParaRPr lang="en-US" sz="1100" dirty="0"/>
          </a:p>
        </p:txBody>
      </p:sp>
      <p:sp>
        <p:nvSpPr>
          <p:cNvPr id="39" name="Shape 34"/>
          <p:cNvSpPr/>
          <p:nvPr/>
        </p:nvSpPr>
        <p:spPr>
          <a:xfrm>
            <a:off x="8229600" y="3273552"/>
            <a:ext cx="182880" cy="182880"/>
          </a:xfrm>
          <a:prstGeom prst="ellipse">
            <a:avLst/>
          </a:prstGeom>
          <a:solidFill>
            <a:srgbClr val="155E75"/>
          </a:solidFill>
          <a:ln w="12700">
            <a:solidFill>
              <a:srgbClr val="155E75"/>
            </a:solidFill>
            <a:prstDash val="solid"/>
          </a:ln>
        </p:spPr>
      </p:sp>
      <p:sp>
        <p:nvSpPr>
          <p:cNvPr id="40" name="Text 35"/>
          <p:cNvSpPr/>
          <p:nvPr/>
        </p:nvSpPr>
        <p:spPr>
          <a:xfrm>
            <a:off x="8503920" y="310896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Opened vials — room temp up to 28 days</a:t>
            </a:r>
            <a:endParaRPr lang="en-US" sz="1100" dirty="0"/>
          </a:p>
        </p:txBody>
      </p:sp>
      <p:sp>
        <p:nvSpPr>
          <p:cNvPr id="41" name="Shape 36"/>
          <p:cNvSpPr/>
          <p:nvPr/>
        </p:nvSpPr>
        <p:spPr>
          <a:xfrm>
            <a:off x="8229600" y="4050792"/>
            <a:ext cx="182880" cy="182880"/>
          </a:xfrm>
          <a:prstGeom prst="ellipse">
            <a:avLst/>
          </a:prstGeom>
          <a:solidFill>
            <a:srgbClr val="155E75"/>
          </a:solidFill>
          <a:ln w="12700">
            <a:solidFill>
              <a:srgbClr val="155E75"/>
            </a:solidFill>
            <a:prstDash val="solid"/>
          </a:ln>
        </p:spPr>
      </p:sp>
      <p:sp>
        <p:nvSpPr>
          <p:cNvPr id="42" name="Text 37"/>
          <p:cNvSpPr/>
          <p:nvPr/>
        </p:nvSpPr>
        <p:spPr>
          <a:xfrm>
            <a:off x="8503920" y="388620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Do NOT freeze insulin (denatures protein)</a:t>
            </a:r>
            <a:endParaRPr lang="en-US" sz="1100" dirty="0"/>
          </a:p>
        </p:txBody>
      </p:sp>
      <p:sp>
        <p:nvSpPr>
          <p:cNvPr id="43" name="Shape 38"/>
          <p:cNvSpPr/>
          <p:nvPr/>
        </p:nvSpPr>
        <p:spPr>
          <a:xfrm>
            <a:off x="8229600" y="4828032"/>
            <a:ext cx="182880" cy="182880"/>
          </a:xfrm>
          <a:prstGeom prst="ellipse">
            <a:avLst/>
          </a:prstGeom>
          <a:solidFill>
            <a:srgbClr val="155E75"/>
          </a:solidFill>
          <a:ln w="12700">
            <a:solidFill>
              <a:srgbClr val="155E75"/>
            </a:solidFill>
            <a:prstDash val="solid"/>
          </a:ln>
        </p:spPr>
      </p:sp>
      <p:sp>
        <p:nvSpPr>
          <p:cNvPr id="44" name="Text 39"/>
          <p:cNvSpPr/>
          <p:nvPr/>
        </p:nvSpPr>
        <p:spPr>
          <a:xfrm>
            <a:off x="8503920" y="466344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Discard if cloudy (except NPH), discolored</a:t>
            </a:r>
            <a:endParaRPr lang="en-US" sz="1100" dirty="0"/>
          </a:p>
        </p:txBody>
      </p:sp>
      <p:sp>
        <p:nvSpPr>
          <p:cNvPr id="45" name="Shape 40"/>
          <p:cNvSpPr/>
          <p:nvPr/>
        </p:nvSpPr>
        <p:spPr>
          <a:xfrm>
            <a:off x="8229600" y="5605272"/>
            <a:ext cx="182880" cy="182880"/>
          </a:xfrm>
          <a:prstGeom prst="ellipse">
            <a:avLst/>
          </a:prstGeom>
          <a:solidFill>
            <a:srgbClr val="155E75"/>
          </a:solidFill>
          <a:ln w="12700">
            <a:solidFill>
              <a:srgbClr val="155E75"/>
            </a:solidFill>
            <a:prstDash val="solid"/>
          </a:ln>
        </p:spPr>
      </p:sp>
      <p:sp>
        <p:nvSpPr>
          <p:cNvPr id="46" name="Text 41"/>
          <p:cNvSpPr/>
          <p:nvPr/>
        </p:nvSpPr>
        <p:spPr>
          <a:xfrm>
            <a:off x="8503920" y="5440680"/>
            <a:ext cx="283464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Let refrigerated insulin warm to room temp before injecting</a:t>
            </a:r>
            <a:endParaRPr lang="en-US" sz="1100" dirty="0"/>
          </a:p>
        </p:txBody>
      </p:sp>
      <p:sp>
        <p:nvSpPr>
          <p:cNvPr id="47" name="Text 42"/>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48" name="Text 43"/>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Oral &amp; Non-Insulin Antidiabetics</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Saunders classes for Type 2 DM management</a:t>
            </a:r>
            <a:endParaRPr lang="en-US" sz="14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834640"/>
                <a:gridCol w="3017520"/>
                <a:gridCol w="521208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Class / Drug</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Key Nursing / Teaching Points</a:t>
                      </a:r>
                      <a:endParaRPr lang="en-US" sz="12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4C5C"/>
                    </a:solidFill>
                  </a:tcPr>
                </a:tc>
              </a:tr>
              <a:tr h="566928">
                <a:tc>
                  <a:txBody>
                    <a:bodyPr/>
                    <a:lstStyle/>
                    <a:p>
                      <a:pPr algn="ctr" indent="0" marL="0">
                        <a:buNone/>
                      </a:pPr>
                      <a:r>
                        <a:rPr lang="en-US" sz="1150" b="1" dirty="0">
                          <a:solidFill>
                            <a:srgbClr val="E36414"/>
                          </a:solidFill>
                          <a:latin typeface="Calibri" pitchFamily="34" charset="0"/>
                          <a:ea typeface="Calibri" pitchFamily="34" charset="-122"/>
                          <a:cs typeface="Calibri" pitchFamily="34" charset="-120"/>
                        </a:rPr>
                        <a:t>BIGUANIDE</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Metformin (Glucophage)</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 hepatic glucose production; ↑ insulin sensitivity</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First-line Type 2. HOLD 48 h before + after IV contrast. Lactic acidosis risk. Take with meals (GI upset).</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58368">
                <a:tc>
                  <a:txBody>
                    <a:bodyPr/>
                    <a:lstStyle/>
                    <a:p>
                      <a:pPr algn="ctr" indent="0" marL="0">
                        <a:buNone/>
                      </a:pPr>
                      <a:r>
                        <a:rPr lang="en-US" sz="1150" b="1" dirty="0">
                          <a:solidFill>
                            <a:srgbClr val="E36414"/>
                          </a:solidFill>
                          <a:latin typeface="Calibri" pitchFamily="34" charset="0"/>
                          <a:ea typeface="Calibri" pitchFamily="34" charset="-122"/>
                          <a:cs typeface="Calibri" pitchFamily="34" charset="-120"/>
                        </a:rPr>
                        <a:t>SULFONYLUREAS</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Glipizide, Glyburide,</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Glimepiride</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Stimulate pancreas to release insulin</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HIGH hypoglycemia risk. Avoid alcohol (disulfiram reaction). Not for Type 1 (need functioning β-cells).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66928">
                <a:tc>
                  <a:txBody>
                    <a:bodyPr/>
                    <a:lstStyle/>
                    <a:p>
                      <a:pPr algn="ctr" indent="0" marL="0">
                        <a:buNone/>
                      </a:pPr>
                      <a:r>
                        <a:rPr lang="en-US" sz="1150" b="1" dirty="0">
                          <a:solidFill>
                            <a:srgbClr val="E36414"/>
                          </a:solidFill>
                          <a:latin typeface="Calibri" pitchFamily="34" charset="0"/>
                          <a:ea typeface="Calibri" pitchFamily="34" charset="-122"/>
                          <a:cs typeface="Calibri" pitchFamily="34" charset="-120"/>
                        </a:rPr>
                        <a:t>MEGLITINIDES</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Repaglinide, Nateglinide</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Rapid insulin release — taken before meals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Take 15–30 min BEFORE meals. Skip dose if skipping meal. Shorter-acting than sulfonylureas.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21792">
                <a:tc>
                  <a:txBody>
                    <a:bodyPr/>
                    <a:lstStyle/>
                    <a:p>
                      <a:pPr algn="ctr" indent="0" marL="0">
                        <a:buNone/>
                      </a:pPr>
                      <a:r>
                        <a:rPr lang="en-US" sz="1150" b="1" dirty="0">
                          <a:solidFill>
                            <a:srgbClr val="E36414"/>
                          </a:solidFill>
                          <a:latin typeface="Calibri" pitchFamily="34" charset="0"/>
                          <a:ea typeface="Calibri" pitchFamily="34" charset="-122"/>
                          <a:cs typeface="Calibri" pitchFamily="34" charset="-120"/>
                        </a:rPr>
                        <a:t>TZDs</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Pioglitazone (Actos)</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 insulin sensitivity at tissue level</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Black box: HEART FAILURE. Monitor LFTs, weight gain, edema. Avoid in NYHA class III–IV HF.</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566928">
                <a:tc>
                  <a:txBody>
                    <a:bodyPr/>
                    <a:lstStyle/>
                    <a:p>
                      <a:pPr algn="ctr" indent="0" marL="0">
                        <a:buNone/>
                      </a:pPr>
                      <a:r>
                        <a:rPr lang="en-US" sz="1150" b="1" dirty="0">
                          <a:solidFill>
                            <a:srgbClr val="E36414"/>
                          </a:solidFill>
                          <a:latin typeface="Calibri" pitchFamily="34" charset="0"/>
                          <a:ea typeface="Calibri" pitchFamily="34" charset="-122"/>
                          <a:cs typeface="Calibri" pitchFamily="34" charset="-120"/>
                        </a:rPr>
                        <a:t>DPP-4 INHIBITORS</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Sitagliptin (Januvia)</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 incretin levels → ↑ insulin, ↓ glucagon</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Low hypoglycemia risk as monotherapy. Risk of pancreatitis. Well tolerated.</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21792">
                <a:tc>
                  <a:txBody>
                    <a:bodyPr/>
                    <a:lstStyle/>
                    <a:p>
                      <a:pPr algn="ctr" indent="0" marL="0">
                        <a:buNone/>
                      </a:pPr>
                      <a:r>
                        <a:rPr lang="en-US" sz="1150" b="1" dirty="0">
                          <a:solidFill>
                            <a:srgbClr val="E36414"/>
                          </a:solidFill>
                          <a:latin typeface="Calibri" pitchFamily="34" charset="0"/>
                          <a:ea typeface="Calibri" pitchFamily="34" charset="-122"/>
                          <a:cs typeface="Calibri" pitchFamily="34" charset="-120"/>
                        </a:rPr>
                        <a:t>SGLT-2 INHIBITORS</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Empagliflozin, Dapagliflozin</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Block glucose reabsorption in kidneys → excreted in urine</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UTI + genital yeast infections. Cardiac + renal benefits. Risk of euglycemic DKA.</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r>
              <a:tr h="621792">
                <a:tc>
                  <a:txBody>
                    <a:bodyPr/>
                    <a:lstStyle/>
                    <a:p>
                      <a:pPr algn="ctr" indent="0" marL="0">
                        <a:buNone/>
                      </a:pPr>
                      <a:r>
                        <a:rPr lang="en-US" sz="1150" b="1" dirty="0">
                          <a:solidFill>
                            <a:srgbClr val="E36414"/>
                          </a:solidFill>
                          <a:latin typeface="Calibri" pitchFamily="34" charset="0"/>
                          <a:ea typeface="Calibri" pitchFamily="34" charset="-122"/>
                          <a:cs typeface="Calibri" pitchFamily="34" charset="-120"/>
                        </a:rPr>
                        <a:t>GLP-1 AGONISTS</a:t>
                      </a:r>
                      <a:endParaRPr lang="en-US" sz="1150" dirty="0">
                        <a:latin typeface="Calibri" charset="0"/>
                        <a:ea typeface="Calibri" charset="0"/>
                        <a:cs typeface="Calibri" charset="0"/>
                      </a:endParaRPr>
                    </a:p>
                    <a:p>
                      <a:pPr algn="ctr" indent="0" marL="0">
                        <a:buNone/>
                      </a:pPr>
                      <a:r>
                        <a:rPr lang="en-US" sz="1150" b="1" dirty="0">
                          <a:solidFill>
                            <a:srgbClr val="E36414"/>
                          </a:solidFill>
                          <a:latin typeface="Calibri" pitchFamily="34" charset="0"/>
                          <a:ea typeface="Calibri" pitchFamily="34" charset="-122"/>
                          <a:cs typeface="Calibri" pitchFamily="34" charset="-120"/>
                        </a:rPr>
                        <a:t>Liraglutide, Semaglutide</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Mimic incretins — slow gastric emptying, ↑ satiety</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SubQ injection (some oral). Weight loss benefit. N/V common. Risk of pancreatitis + thyroid C-cell tumors.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6" name="Text 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7" name="Text 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F4C5C"/>
          </a:solidFill>
          <a:ln w="12700">
            <a:solidFill>
              <a:srgbClr val="0F4C5C"/>
            </a:solidFill>
            <a:prstDash val="solid"/>
          </a:ln>
        </p:spPr>
      </p:sp>
      <p:sp>
        <p:nvSpPr>
          <p:cNvPr id="3" name="Text 1"/>
          <p:cNvSpPr/>
          <p:nvPr/>
        </p:nvSpPr>
        <p:spPr>
          <a:xfrm>
            <a:off x="548640" y="274320"/>
            <a:ext cx="11094415" cy="594360"/>
          </a:xfrm>
          <a:prstGeom prst="rect">
            <a:avLst/>
          </a:prstGeom>
          <a:noFill/>
          <a:ln/>
        </p:spPr>
        <p:txBody>
          <a:bodyPr wrap="square" lIns="0" tIns="0" rIns="0" bIns="0"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Hypoglycemia</a:t>
            </a:r>
            <a:endParaRPr lang="en-US" sz="3000" dirty="0"/>
          </a:p>
        </p:txBody>
      </p:sp>
      <p:sp>
        <p:nvSpPr>
          <p:cNvPr id="4" name="Text 2"/>
          <p:cNvSpPr/>
          <p:nvPr/>
        </p:nvSpPr>
        <p:spPr>
          <a:xfrm>
            <a:off x="548640" y="868680"/>
            <a:ext cx="11094415" cy="3200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Blood glucose &lt; 70 mg/dL — complication of diabetes treatment</a:t>
            </a:r>
            <a:endParaRPr lang="en-US" sz="1400" dirty="0"/>
          </a:p>
        </p:txBody>
      </p:sp>
      <p:sp>
        <p:nvSpPr>
          <p:cNvPr id="5" name="Shape 3"/>
          <p:cNvSpPr/>
          <p:nvPr/>
        </p:nvSpPr>
        <p:spPr>
          <a:xfrm>
            <a:off x="731520" y="1417320"/>
            <a:ext cx="10698480" cy="502920"/>
          </a:xfrm>
          <a:prstGeom prst="rect">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914400" y="1490472"/>
            <a:ext cx="365760" cy="365760"/>
          </a:xfrm>
          <a:prstGeom prst="rect">
            <a:avLst/>
          </a:prstGeom>
        </p:spPr>
      </p:pic>
      <p:sp>
        <p:nvSpPr>
          <p:cNvPr id="7" name="Text 4"/>
          <p:cNvSpPr/>
          <p:nvPr/>
        </p:nvSpPr>
        <p:spPr>
          <a:xfrm>
            <a:off x="1371600" y="1417320"/>
            <a:ext cx="996696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BG &lt; 70 mg/dL — brain depends on glucose, can become life-threatening fast</a:t>
            </a:r>
            <a:endParaRPr lang="en-US" sz="1300" dirty="0"/>
          </a:p>
        </p:txBody>
      </p:sp>
      <p:sp>
        <p:nvSpPr>
          <p:cNvPr id="8" name="Shape 5"/>
          <p:cNvSpPr/>
          <p:nvPr/>
        </p:nvSpPr>
        <p:spPr>
          <a:xfrm>
            <a:off x="731520" y="2103120"/>
            <a:ext cx="5349240" cy="41605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9" name="Shape 6"/>
          <p:cNvSpPr/>
          <p:nvPr/>
        </p:nvSpPr>
        <p:spPr>
          <a:xfrm>
            <a:off x="731520" y="2103120"/>
            <a:ext cx="5349240" cy="502920"/>
          </a:xfrm>
          <a:prstGeom prst="rect">
            <a:avLst/>
          </a:prstGeom>
          <a:solidFill>
            <a:srgbClr val="E36414"/>
          </a:solidFill>
          <a:ln w="12700">
            <a:solidFill>
              <a:srgbClr val="E36414"/>
            </a:solidFill>
            <a:prstDash val="solid"/>
          </a:ln>
        </p:spPr>
      </p:sp>
      <p:pic>
        <p:nvPicPr>
          <p:cNvPr id="10" name="Image 1" descr="preencoded.png">    </p:cNvPr>
          <p:cNvPicPr>
            <a:picLocks noChangeAspect="1"/>
          </p:cNvPicPr>
          <p:nvPr/>
        </p:nvPicPr>
        <p:blipFill>
          <a:blip r:embed="rId2"/>
          <a:stretch>
            <a:fillRect/>
          </a:stretch>
        </p:blipFill>
        <p:spPr>
          <a:xfrm>
            <a:off x="868680" y="2176272"/>
            <a:ext cx="347472" cy="347472"/>
          </a:xfrm>
          <a:prstGeom prst="rect">
            <a:avLst/>
          </a:prstGeom>
        </p:spPr>
      </p:pic>
      <p:sp>
        <p:nvSpPr>
          <p:cNvPr id="11" name="Text 7"/>
          <p:cNvSpPr/>
          <p:nvPr/>
        </p:nvSpPr>
        <p:spPr>
          <a:xfrm>
            <a:off x="1280160" y="2103120"/>
            <a:ext cx="480060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Signs &amp; Symptoms</a:t>
            </a:r>
            <a:endParaRPr lang="en-US" sz="1400" dirty="0"/>
          </a:p>
        </p:txBody>
      </p:sp>
      <p:sp>
        <p:nvSpPr>
          <p:cNvPr id="12" name="Text 8"/>
          <p:cNvSpPr/>
          <p:nvPr/>
        </p:nvSpPr>
        <p:spPr>
          <a:xfrm>
            <a:off x="914400" y="2697480"/>
            <a:ext cx="4983480" cy="274320"/>
          </a:xfrm>
          <a:prstGeom prst="rect">
            <a:avLst/>
          </a:prstGeom>
          <a:noFill/>
          <a:ln/>
        </p:spPr>
        <p:txBody>
          <a:bodyPr wrap="square" lIns="0" tIns="0" rIns="0" bIns="0" rtlCol="0" anchor="ctr"/>
          <a:lstStyle/>
          <a:p>
            <a:pPr indent="0" marL="0">
              <a:buNone/>
            </a:pPr>
            <a:r>
              <a:rPr lang="en-US" sz="1100" b="1" dirty="0">
                <a:solidFill>
                  <a:srgbClr val="E36414"/>
                </a:solidFill>
                <a:latin typeface="Georgia" pitchFamily="34" charset="0"/>
                <a:ea typeface="Georgia" pitchFamily="34" charset="-122"/>
                <a:cs typeface="Georgia" pitchFamily="34" charset="-120"/>
              </a:rPr>
              <a:t>EARLY (Adrenergic)</a:t>
            </a:r>
            <a:endParaRPr lang="en-US" sz="1100" dirty="0"/>
          </a:p>
        </p:txBody>
      </p:sp>
      <p:sp>
        <p:nvSpPr>
          <p:cNvPr id="13" name="Text 9"/>
          <p:cNvSpPr/>
          <p:nvPr/>
        </p:nvSpPr>
        <p:spPr>
          <a:xfrm>
            <a:off x="914400" y="2971800"/>
            <a:ext cx="4983480" cy="8229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Shaky  •  Sweaty  •  Tachycardic  •  Hungry  •  Anxious  •  Pale  •  Tremors</a:t>
            </a:r>
            <a:endParaRPr lang="en-US" sz="1100" dirty="0"/>
          </a:p>
        </p:txBody>
      </p:sp>
      <p:sp>
        <p:nvSpPr>
          <p:cNvPr id="14" name="Text 10"/>
          <p:cNvSpPr/>
          <p:nvPr/>
        </p:nvSpPr>
        <p:spPr>
          <a:xfrm>
            <a:off x="914400" y="3840480"/>
            <a:ext cx="4983480" cy="274320"/>
          </a:xfrm>
          <a:prstGeom prst="rect">
            <a:avLst/>
          </a:prstGeom>
          <a:noFill/>
          <a:ln/>
        </p:spPr>
        <p:txBody>
          <a:bodyPr wrap="square" lIns="0" tIns="0" rIns="0" bIns="0" rtlCol="0" anchor="ctr"/>
          <a:lstStyle/>
          <a:p>
            <a:pPr indent="0" marL="0">
              <a:buNone/>
            </a:pPr>
            <a:r>
              <a:rPr lang="en-US" sz="1100" b="1" dirty="0">
                <a:solidFill>
                  <a:srgbClr val="DC2626"/>
                </a:solidFill>
                <a:latin typeface="Georgia" pitchFamily="34" charset="0"/>
                <a:ea typeface="Georgia" pitchFamily="34" charset="-122"/>
                <a:cs typeface="Georgia" pitchFamily="34" charset="-120"/>
              </a:rPr>
              <a:t>LATE (Neuroglycopenic)</a:t>
            </a:r>
            <a:endParaRPr lang="en-US" sz="1100" dirty="0"/>
          </a:p>
        </p:txBody>
      </p:sp>
      <p:sp>
        <p:nvSpPr>
          <p:cNvPr id="15" name="Text 11"/>
          <p:cNvSpPr/>
          <p:nvPr/>
        </p:nvSpPr>
        <p:spPr>
          <a:xfrm>
            <a:off x="914400" y="4114800"/>
            <a:ext cx="4983480" cy="8229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Confusion  •  Blurred vision  •  Slurred speech  •  Headache  •  Seizures  •  Coma  •  Death</a:t>
            </a:r>
            <a:endParaRPr lang="en-US" sz="1100" dirty="0"/>
          </a:p>
        </p:txBody>
      </p:sp>
      <p:sp>
        <p:nvSpPr>
          <p:cNvPr id="16" name="Shape 12"/>
          <p:cNvSpPr/>
          <p:nvPr/>
        </p:nvSpPr>
        <p:spPr>
          <a:xfrm>
            <a:off x="914400" y="5074920"/>
            <a:ext cx="4983480" cy="1051560"/>
          </a:xfrm>
          <a:prstGeom prst="rect">
            <a:avLst/>
          </a:prstGeom>
          <a:solidFill>
            <a:srgbClr val="FEF3C7"/>
          </a:solidFill>
          <a:ln w="6350">
            <a:solidFill>
              <a:srgbClr val="E36414"/>
            </a:solidFill>
            <a:prstDash val="solid"/>
          </a:ln>
        </p:spPr>
      </p:sp>
      <p:sp>
        <p:nvSpPr>
          <p:cNvPr id="17" name="Text 13"/>
          <p:cNvSpPr/>
          <p:nvPr/>
        </p:nvSpPr>
        <p:spPr>
          <a:xfrm>
            <a:off x="1051560" y="5166360"/>
            <a:ext cx="4709160" cy="320040"/>
          </a:xfrm>
          <a:prstGeom prst="rect">
            <a:avLst/>
          </a:prstGeom>
          <a:noFill/>
          <a:ln/>
        </p:spPr>
        <p:txBody>
          <a:bodyPr wrap="square" lIns="0" tIns="0" rIns="0" bIns="0" rtlCol="0" anchor="ctr"/>
          <a:lstStyle/>
          <a:p>
            <a:pPr indent="0" marL="0">
              <a:buNone/>
            </a:pPr>
            <a:r>
              <a:rPr lang="en-US" sz="1200" b="1" i="1" dirty="0">
                <a:solidFill>
                  <a:srgbClr val="E36414"/>
                </a:solidFill>
                <a:latin typeface="Georgia" pitchFamily="34" charset="0"/>
                <a:ea typeface="Georgia" pitchFamily="34" charset="-122"/>
                <a:cs typeface="Georgia" pitchFamily="34" charset="-120"/>
              </a:rPr>
              <a:t>Memory aid: "Cold &amp; Clammy — need some Candy"</a:t>
            </a:r>
            <a:endParaRPr lang="en-US" sz="1200" dirty="0"/>
          </a:p>
        </p:txBody>
      </p:sp>
      <p:sp>
        <p:nvSpPr>
          <p:cNvPr id="18" name="Text 14"/>
          <p:cNvSpPr/>
          <p:nvPr/>
        </p:nvSpPr>
        <p:spPr>
          <a:xfrm>
            <a:off x="1051560" y="5532120"/>
            <a:ext cx="4709160" cy="5029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(vs. Hot &amp; Dry — sugar's high — hyperglycemia)</a:t>
            </a:r>
            <a:endParaRPr lang="en-US" sz="1100" dirty="0"/>
          </a:p>
        </p:txBody>
      </p:sp>
      <p:sp>
        <p:nvSpPr>
          <p:cNvPr id="19" name="Shape 15"/>
          <p:cNvSpPr/>
          <p:nvPr/>
        </p:nvSpPr>
        <p:spPr>
          <a:xfrm>
            <a:off x="6263640" y="2103120"/>
            <a:ext cx="5166360" cy="4160520"/>
          </a:xfrm>
          <a:prstGeom prst="rect">
            <a:avLst/>
          </a:prstGeom>
          <a:solidFill>
            <a:srgbClr val="FFFFFF"/>
          </a:solidFill>
          <a:ln w="6350">
            <a:solidFill>
              <a:srgbClr val="CBD5E1"/>
            </a:solidFill>
            <a:prstDash val="solid"/>
          </a:ln>
          <a:effectLst>
            <a:outerShdw sx="100000" sy="100000" kx="0" ky="0" algn="bl" rotWithShape="0" blurRad="127000" dist="25400" dir="5400000">
              <a:srgbClr val="000000">
                <a:alpha val="8000"/>
              </a:srgbClr>
            </a:outerShdw>
          </a:effectLst>
        </p:spPr>
      </p:sp>
      <p:sp>
        <p:nvSpPr>
          <p:cNvPr id="20" name="Shape 16"/>
          <p:cNvSpPr/>
          <p:nvPr/>
        </p:nvSpPr>
        <p:spPr>
          <a:xfrm>
            <a:off x="6263640" y="2103120"/>
            <a:ext cx="5166360" cy="502920"/>
          </a:xfrm>
          <a:prstGeom prst="rect">
            <a:avLst/>
          </a:prstGeom>
          <a:solidFill>
            <a:srgbClr val="059669"/>
          </a:solidFill>
          <a:ln w="12700">
            <a:solidFill>
              <a:srgbClr val="059669"/>
            </a:solidFill>
            <a:prstDash val="solid"/>
          </a:ln>
        </p:spPr>
      </p:sp>
      <p:pic>
        <p:nvPicPr>
          <p:cNvPr id="21" name="Image 2" descr="preencoded.png">    </p:cNvPr>
          <p:cNvPicPr>
            <a:picLocks noChangeAspect="1"/>
          </p:cNvPicPr>
          <p:nvPr/>
        </p:nvPicPr>
        <p:blipFill>
          <a:blip r:embed="rId3"/>
          <a:stretch>
            <a:fillRect/>
          </a:stretch>
        </p:blipFill>
        <p:spPr>
          <a:xfrm>
            <a:off x="6400800" y="2176272"/>
            <a:ext cx="347472" cy="347472"/>
          </a:xfrm>
          <a:prstGeom prst="rect">
            <a:avLst/>
          </a:prstGeom>
        </p:spPr>
      </p:pic>
      <p:sp>
        <p:nvSpPr>
          <p:cNvPr id="22" name="Text 17"/>
          <p:cNvSpPr/>
          <p:nvPr/>
        </p:nvSpPr>
        <p:spPr>
          <a:xfrm>
            <a:off x="6812280" y="2103120"/>
            <a:ext cx="4617720"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Treatment — The Rule of 15</a:t>
            </a:r>
            <a:endParaRPr lang="en-US" sz="1400" dirty="0"/>
          </a:p>
        </p:txBody>
      </p:sp>
      <p:sp>
        <p:nvSpPr>
          <p:cNvPr id="23" name="Text 18"/>
          <p:cNvSpPr/>
          <p:nvPr/>
        </p:nvSpPr>
        <p:spPr>
          <a:xfrm>
            <a:off x="6446520" y="2697480"/>
            <a:ext cx="4800600" cy="274320"/>
          </a:xfrm>
          <a:prstGeom prst="rect">
            <a:avLst/>
          </a:prstGeom>
          <a:noFill/>
          <a:ln/>
        </p:spPr>
        <p:txBody>
          <a:bodyPr wrap="square" lIns="0" tIns="0" rIns="0" bIns="0" rtlCol="0" anchor="ctr"/>
          <a:lstStyle/>
          <a:p>
            <a:pPr indent="0" marL="0">
              <a:buNone/>
            </a:pPr>
            <a:r>
              <a:rPr lang="en-US" sz="1100" b="1" dirty="0">
                <a:solidFill>
                  <a:srgbClr val="059669"/>
                </a:solidFill>
                <a:latin typeface="Georgia" pitchFamily="34" charset="0"/>
                <a:ea typeface="Georgia" pitchFamily="34" charset="-122"/>
                <a:cs typeface="Georgia" pitchFamily="34" charset="-120"/>
              </a:rPr>
              <a:t>CONSCIOUS PATIENT</a:t>
            </a:r>
            <a:endParaRPr lang="en-US" sz="1100" dirty="0"/>
          </a:p>
        </p:txBody>
      </p:sp>
      <p:sp>
        <p:nvSpPr>
          <p:cNvPr id="24" name="Shape 19"/>
          <p:cNvSpPr/>
          <p:nvPr/>
        </p:nvSpPr>
        <p:spPr>
          <a:xfrm>
            <a:off x="6492240" y="3063240"/>
            <a:ext cx="256032" cy="256032"/>
          </a:xfrm>
          <a:prstGeom prst="ellipse">
            <a:avLst/>
          </a:prstGeom>
          <a:solidFill>
            <a:srgbClr val="059669"/>
          </a:solidFill>
          <a:ln w="12700">
            <a:solidFill>
              <a:srgbClr val="059669"/>
            </a:solidFill>
            <a:prstDash val="solid"/>
          </a:ln>
        </p:spPr>
      </p:sp>
      <p:sp>
        <p:nvSpPr>
          <p:cNvPr id="25" name="Text 20"/>
          <p:cNvSpPr/>
          <p:nvPr/>
        </p:nvSpPr>
        <p:spPr>
          <a:xfrm>
            <a:off x="6492240" y="30449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26" name="Text 21"/>
          <p:cNvSpPr/>
          <p:nvPr/>
        </p:nvSpPr>
        <p:spPr>
          <a:xfrm>
            <a:off x="6812280" y="3017520"/>
            <a:ext cx="4480560" cy="3657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Give 15 g fast carb (4 oz juice, 3 glucose tabs, 1 Tbsp honey)</a:t>
            </a:r>
            <a:endParaRPr lang="en-US" sz="1050" dirty="0"/>
          </a:p>
        </p:txBody>
      </p:sp>
      <p:sp>
        <p:nvSpPr>
          <p:cNvPr id="27" name="Shape 22"/>
          <p:cNvSpPr/>
          <p:nvPr/>
        </p:nvSpPr>
        <p:spPr>
          <a:xfrm>
            <a:off x="6492240" y="3447288"/>
            <a:ext cx="256032" cy="256032"/>
          </a:xfrm>
          <a:prstGeom prst="ellipse">
            <a:avLst/>
          </a:prstGeom>
          <a:solidFill>
            <a:srgbClr val="059669"/>
          </a:solidFill>
          <a:ln w="12700">
            <a:solidFill>
              <a:srgbClr val="059669"/>
            </a:solidFill>
            <a:prstDash val="solid"/>
          </a:ln>
        </p:spPr>
      </p:sp>
      <p:sp>
        <p:nvSpPr>
          <p:cNvPr id="28" name="Text 23"/>
          <p:cNvSpPr/>
          <p:nvPr/>
        </p:nvSpPr>
        <p:spPr>
          <a:xfrm>
            <a:off x="6492240" y="342900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29" name="Text 24"/>
          <p:cNvSpPr/>
          <p:nvPr/>
        </p:nvSpPr>
        <p:spPr>
          <a:xfrm>
            <a:off x="6812280" y="3401568"/>
            <a:ext cx="4480560" cy="3657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Wait 15 minutes</a:t>
            </a:r>
            <a:endParaRPr lang="en-US" sz="1050" dirty="0"/>
          </a:p>
        </p:txBody>
      </p:sp>
      <p:sp>
        <p:nvSpPr>
          <p:cNvPr id="30" name="Shape 25"/>
          <p:cNvSpPr/>
          <p:nvPr/>
        </p:nvSpPr>
        <p:spPr>
          <a:xfrm>
            <a:off x="6492240" y="3831336"/>
            <a:ext cx="256032" cy="256032"/>
          </a:xfrm>
          <a:prstGeom prst="ellipse">
            <a:avLst/>
          </a:prstGeom>
          <a:solidFill>
            <a:srgbClr val="059669"/>
          </a:solidFill>
          <a:ln w="12700">
            <a:solidFill>
              <a:srgbClr val="059669"/>
            </a:solidFill>
            <a:prstDash val="solid"/>
          </a:ln>
        </p:spPr>
      </p:sp>
      <p:sp>
        <p:nvSpPr>
          <p:cNvPr id="31" name="Text 26"/>
          <p:cNvSpPr/>
          <p:nvPr/>
        </p:nvSpPr>
        <p:spPr>
          <a:xfrm>
            <a:off x="6492240" y="381304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32" name="Text 27"/>
          <p:cNvSpPr/>
          <p:nvPr/>
        </p:nvSpPr>
        <p:spPr>
          <a:xfrm>
            <a:off x="6812280" y="3785616"/>
            <a:ext cx="4480560" cy="3657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Recheck BG — if still &lt; 70, repeat</a:t>
            </a:r>
            <a:endParaRPr lang="en-US" sz="1050" dirty="0"/>
          </a:p>
        </p:txBody>
      </p:sp>
      <p:sp>
        <p:nvSpPr>
          <p:cNvPr id="33" name="Shape 28"/>
          <p:cNvSpPr/>
          <p:nvPr/>
        </p:nvSpPr>
        <p:spPr>
          <a:xfrm>
            <a:off x="6492240" y="4215384"/>
            <a:ext cx="256032" cy="256032"/>
          </a:xfrm>
          <a:prstGeom prst="ellipse">
            <a:avLst/>
          </a:prstGeom>
          <a:solidFill>
            <a:srgbClr val="059669"/>
          </a:solidFill>
          <a:ln w="12700">
            <a:solidFill>
              <a:srgbClr val="059669"/>
            </a:solidFill>
            <a:prstDash val="solid"/>
          </a:ln>
        </p:spPr>
      </p:sp>
      <p:sp>
        <p:nvSpPr>
          <p:cNvPr id="34" name="Text 29"/>
          <p:cNvSpPr/>
          <p:nvPr/>
        </p:nvSpPr>
        <p:spPr>
          <a:xfrm>
            <a:off x="6492240" y="419709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35" name="Text 30"/>
          <p:cNvSpPr/>
          <p:nvPr/>
        </p:nvSpPr>
        <p:spPr>
          <a:xfrm>
            <a:off x="6812280" y="4169664"/>
            <a:ext cx="4480560" cy="36576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Once BG &gt; 70, give a protein + complex carb snack</a:t>
            </a:r>
            <a:endParaRPr lang="en-US" sz="1050" dirty="0"/>
          </a:p>
        </p:txBody>
      </p:sp>
      <p:sp>
        <p:nvSpPr>
          <p:cNvPr id="36" name="Text 31"/>
          <p:cNvSpPr/>
          <p:nvPr/>
        </p:nvSpPr>
        <p:spPr>
          <a:xfrm>
            <a:off x="6446520" y="4709160"/>
            <a:ext cx="4800600" cy="274320"/>
          </a:xfrm>
          <a:prstGeom prst="rect">
            <a:avLst/>
          </a:prstGeom>
          <a:noFill/>
          <a:ln/>
        </p:spPr>
        <p:txBody>
          <a:bodyPr wrap="square" lIns="0" tIns="0" rIns="0" bIns="0" rtlCol="0" anchor="ctr"/>
          <a:lstStyle/>
          <a:p>
            <a:pPr indent="0" marL="0">
              <a:buNone/>
            </a:pPr>
            <a:r>
              <a:rPr lang="en-US" sz="1100" b="1" dirty="0">
                <a:solidFill>
                  <a:srgbClr val="DC2626"/>
                </a:solidFill>
                <a:latin typeface="Georgia" pitchFamily="34" charset="0"/>
                <a:ea typeface="Georgia" pitchFamily="34" charset="-122"/>
                <a:cs typeface="Georgia" pitchFamily="34" charset="-120"/>
              </a:rPr>
              <a:t>UNCONSCIOUS PATIENT</a:t>
            </a:r>
            <a:endParaRPr lang="en-US" sz="1100" dirty="0"/>
          </a:p>
        </p:txBody>
      </p:sp>
      <p:sp>
        <p:nvSpPr>
          <p:cNvPr id="37" name="Text 32"/>
          <p:cNvSpPr/>
          <p:nvPr/>
        </p:nvSpPr>
        <p:spPr>
          <a:xfrm>
            <a:off x="6446520" y="4983480"/>
            <a:ext cx="4800600" cy="123444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NEVER give anything by mouth</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Glucagon 1 mg IM or SubQ (turn on side — vomiting risk)</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If IV access: D50W 25 mL IV push</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Recheck BG q15 min until stable</a:t>
            </a:r>
            <a:endParaRPr lang="en-US" sz="1050" dirty="0"/>
          </a:p>
        </p:txBody>
      </p:sp>
      <p:sp>
        <p:nvSpPr>
          <p:cNvPr id="38" name="Text 33"/>
          <p:cNvSpPr/>
          <p:nvPr/>
        </p:nvSpPr>
        <p:spPr>
          <a:xfrm>
            <a:off x="548640" y="6492240"/>
            <a:ext cx="548640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Endocrine System — NCLEX Review</a:t>
            </a:r>
            <a:endParaRPr lang="en-US" sz="900" dirty="0"/>
          </a:p>
        </p:txBody>
      </p:sp>
      <p:sp>
        <p:nvSpPr>
          <p:cNvPr id="39" name="Text 34"/>
          <p:cNvSpPr/>
          <p:nvPr/>
        </p:nvSpPr>
        <p:spPr>
          <a:xfrm>
            <a:off x="11094415" y="6492240"/>
            <a:ext cx="457200" cy="274320"/>
          </a:xfrm>
          <a:prstGeom prst="rect">
            <a:avLst/>
          </a:prstGeom>
          <a:noFill/>
          <a:ln/>
        </p:spPr>
        <p:txBody>
          <a:bodyPr wrap="square" lIns="0" tIns="0" rIns="0" bIns="0" rtlCol="0" anchor="ctr"/>
          <a:lstStyle/>
          <a:p>
            <a:pPr algn="r" indent="0" marL="0">
              <a:buNone/>
            </a:pPr>
            <a:r>
              <a:rPr lang="en-US" sz="900" b="1" dirty="0">
                <a:solidFill>
                  <a:srgbClr val="475569"/>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4C5C"/>
          </a:solidFill>
          <a:ln w="12700">
            <a:solidFill>
              <a:srgbClr val="0F4C5C"/>
            </a:solidFill>
            <a:prstDash val="solid"/>
          </a:ln>
        </p:spPr>
      </p:sp>
      <p:sp>
        <p:nvSpPr>
          <p:cNvPr id="3" name="Shape 1"/>
          <p:cNvSpPr/>
          <p:nvPr/>
        </p:nvSpPr>
        <p:spPr>
          <a:xfrm>
            <a:off x="-1371600" y="-1371600"/>
            <a:ext cx="3200400" cy="3200400"/>
          </a:xfrm>
          <a:prstGeom prst="ellipse">
            <a:avLst/>
          </a:prstGeom>
          <a:solidFill>
            <a:srgbClr val="E36414">
              <a:alpha val="30000"/>
            </a:srgbClr>
          </a:solidFill>
          <a:ln w="12700">
            <a:solidFill>
              <a:srgbClr val="E36414">
                <a:alpha val="30000"/>
              </a:srgbClr>
            </a:solidFill>
            <a:prstDash val="solid"/>
          </a:ln>
        </p:spPr>
      </p:sp>
      <p:sp>
        <p:nvSpPr>
          <p:cNvPr id="4" name="Shape 2"/>
          <p:cNvSpPr/>
          <p:nvPr/>
        </p:nvSpPr>
        <p:spPr>
          <a:xfrm>
            <a:off x="10362895" y="5029200"/>
            <a:ext cx="3200400" cy="3200400"/>
          </a:xfrm>
          <a:prstGeom prst="ellipse">
            <a:avLst/>
          </a:prstGeom>
          <a:solidFill>
            <a:srgbClr val="FB8500">
              <a:alpha val="25000"/>
            </a:srgbClr>
          </a:solidFill>
          <a:ln w="12700">
            <a:solidFill>
              <a:srgbClr val="FB8500">
                <a:alpha val="25000"/>
              </a:srgbClr>
            </a:solidFill>
            <a:prstDash val="solid"/>
          </a:ln>
        </p:spPr>
      </p:sp>
      <p:sp>
        <p:nvSpPr>
          <p:cNvPr id="5" name="Text 3"/>
          <p:cNvSpPr/>
          <p:nvPr/>
        </p:nvSpPr>
        <p:spPr>
          <a:xfrm>
            <a:off x="731520" y="548640"/>
            <a:ext cx="1069848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Key Takeaways</a:t>
            </a:r>
            <a:endParaRPr lang="en-US" sz="3400" dirty="0"/>
          </a:p>
        </p:txBody>
      </p:sp>
      <p:sp>
        <p:nvSpPr>
          <p:cNvPr id="6" name="Text 4"/>
          <p:cNvSpPr/>
          <p:nvPr/>
        </p:nvSpPr>
        <p:spPr>
          <a:xfrm>
            <a:off x="731520" y="1188720"/>
            <a:ext cx="10698480" cy="365760"/>
          </a:xfrm>
          <a:prstGeom prst="rect">
            <a:avLst/>
          </a:prstGeom>
          <a:noFill/>
          <a:ln/>
        </p:spPr>
        <p:txBody>
          <a:bodyPr wrap="square" lIns="0" tIns="0" rIns="0" bIns="0" rtlCol="0" anchor="ctr"/>
          <a:lstStyle/>
          <a:p>
            <a:pPr indent="0" marL="0">
              <a:buNone/>
            </a:pPr>
            <a:r>
              <a:rPr lang="en-US" sz="1400" i="1" dirty="0">
                <a:solidFill>
                  <a:srgbClr val="E0F2FE"/>
                </a:solidFill>
                <a:latin typeface="Calibri" pitchFamily="34" charset="0"/>
                <a:ea typeface="Calibri" pitchFamily="34" charset="-122"/>
                <a:cs typeface="Calibri" pitchFamily="34" charset="-120"/>
              </a:rPr>
              <a:t>Six pillars to anchor your Endocrine NCLEX review</a:t>
            </a:r>
            <a:endParaRPr lang="en-US" sz="1400" dirty="0"/>
          </a:p>
        </p:txBody>
      </p:sp>
      <p:sp>
        <p:nvSpPr>
          <p:cNvPr id="7" name="Shape 5"/>
          <p:cNvSpPr/>
          <p:nvPr/>
        </p:nvSpPr>
        <p:spPr>
          <a:xfrm>
            <a:off x="731520" y="1783080"/>
            <a:ext cx="3520440" cy="2103120"/>
          </a:xfrm>
          <a:prstGeom prst="rect">
            <a:avLst/>
          </a:prstGeom>
          <a:solidFill>
            <a:srgbClr val="155E75"/>
          </a:solidFill>
          <a:ln w="12700">
            <a:solidFill>
              <a:srgbClr val="E36414"/>
            </a:solidFill>
            <a:prstDash val="solid"/>
          </a:ln>
        </p:spPr>
      </p:sp>
      <p:sp>
        <p:nvSpPr>
          <p:cNvPr id="8" name="Text 6"/>
          <p:cNvSpPr/>
          <p:nvPr/>
        </p:nvSpPr>
        <p:spPr>
          <a:xfrm>
            <a:off x="914400" y="1920240"/>
            <a:ext cx="731520" cy="457200"/>
          </a:xfrm>
          <a:prstGeom prst="rect">
            <a:avLst/>
          </a:prstGeom>
          <a:noFill/>
          <a:ln/>
        </p:spPr>
        <p:txBody>
          <a:bodyPr wrap="square" lIns="0" tIns="0" rIns="0" bIns="0" rtlCol="0" anchor="ctr"/>
          <a:lstStyle/>
          <a:p>
            <a:pPr indent="0" marL="0">
              <a:buNone/>
            </a:pPr>
            <a:r>
              <a:rPr lang="en-US" sz="2200" b="1" dirty="0">
                <a:solidFill>
                  <a:srgbClr val="FB8500"/>
                </a:solidFill>
                <a:latin typeface="Georgia" pitchFamily="34" charset="0"/>
                <a:ea typeface="Georgia" pitchFamily="34" charset="-122"/>
                <a:cs typeface="Georgia" pitchFamily="34" charset="-120"/>
              </a:rPr>
              <a:t>01</a:t>
            </a:r>
            <a:endParaRPr lang="en-US" sz="2200" dirty="0"/>
          </a:p>
        </p:txBody>
      </p:sp>
      <p:sp>
        <p:nvSpPr>
          <p:cNvPr id="9" name="Shape 7"/>
          <p:cNvSpPr/>
          <p:nvPr/>
        </p:nvSpPr>
        <p:spPr>
          <a:xfrm>
            <a:off x="3474720" y="1920240"/>
            <a:ext cx="594360" cy="594360"/>
          </a:xfrm>
          <a:prstGeom prst="ellipse">
            <a:avLst/>
          </a:prstGeom>
          <a:solidFill>
            <a:srgbClr val="FAF3E0"/>
          </a:solidFill>
          <a:ln w="19050">
            <a:solidFill>
              <a:srgbClr val="E36414"/>
            </a:solidFill>
            <a:prstDash val="solid"/>
          </a:ln>
        </p:spPr>
      </p:sp>
      <p:pic>
        <p:nvPicPr>
          <p:cNvPr id="10" name="Image 0" descr="preencoded.png">    </p:cNvPr>
          <p:cNvPicPr>
            <a:picLocks noChangeAspect="1"/>
          </p:cNvPicPr>
          <p:nvPr/>
        </p:nvPicPr>
        <p:blipFill>
          <a:blip r:embed="rId1"/>
          <a:stretch>
            <a:fillRect/>
          </a:stretch>
        </p:blipFill>
        <p:spPr>
          <a:xfrm>
            <a:off x="3566160" y="2002536"/>
            <a:ext cx="411480" cy="411480"/>
          </a:xfrm>
          <a:prstGeom prst="rect">
            <a:avLst/>
          </a:prstGeom>
        </p:spPr>
      </p:pic>
      <p:sp>
        <p:nvSpPr>
          <p:cNvPr id="11" name="Text 8"/>
          <p:cNvSpPr/>
          <p:nvPr/>
        </p:nvSpPr>
        <p:spPr>
          <a:xfrm>
            <a:off x="914400" y="2560320"/>
            <a:ext cx="315468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Feedback Loops</a:t>
            </a:r>
            <a:endParaRPr lang="en-US" sz="1500" dirty="0"/>
          </a:p>
        </p:txBody>
      </p:sp>
      <p:sp>
        <p:nvSpPr>
          <p:cNvPr id="12" name="Text 9"/>
          <p:cNvSpPr/>
          <p:nvPr/>
        </p:nvSpPr>
        <p:spPr>
          <a:xfrm>
            <a:off x="914400" y="2953512"/>
            <a:ext cx="315468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Most endocrine problems = hormone deficit OR excess. Find the gland, find the imbalance.</a:t>
            </a:r>
            <a:endParaRPr lang="en-US" sz="1050" dirty="0"/>
          </a:p>
        </p:txBody>
      </p:sp>
      <p:sp>
        <p:nvSpPr>
          <p:cNvPr id="13" name="Shape 10"/>
          <p:cNvSpPr/>
          <p:nvPr/>
        </p:nvSpPr>
        <p:spPr>
          <a:xfrm>
            <a:off x="4361688" y="1783080"/>
            <a:ext cx="3520440" cy="2103120"/>
          </a:xfrm>
          <a:prstGeom prst="rect">
            <a:avLst/>
          </a:prstGeom>
          <a:solidFill>
            <a:srgbClr val="155E75"/>
          </a:solidFill>
          <a:ln w="12700">
            <a:solidFill>
              <a:srgbClr val="E36414"/>
            </a:solidFill>
            <a:prstDash val="solid"/>
          </a:ln>
        </p:spPr>
      </p:sp>
      <p:sp>
        <p:nvSpPr>
          <p:cNvPr id="14" name="Text 11"/>
          <p:cNvSpPr/>
          <p:nvPr/>
        </p:nvSpPr>
        <p:spPr>
          <a:xfrm>
            <a:off x="4544568" y="1920240"/>
            <a:ext cx="731520" cy="457200"/>
          </a:xfrm>
          <a:prstGeom prst="rect">
            <a:avLst/>
          </a:prstGeom>
          <a:noFill/>
          <a:ln/>
        </p:spPr>
        <p:txBody>
          <a:bodyPr wrap="square" lIns="0" tIns="0" rIns="0" bIns="0" rtlCol="0" anchor="ctr"/>
          <a:lstStyle/>
          <a:p>
            <a:pPr indent="0" marL="0">
              <a:buNone/>
            </a:pPr>
            <a:r>
              <a:rPr lang="en-US" sz="2200" b="1" dirty="0">
                <a:solidFill>
                  <a:srgbClr val="FB8500"/>
                </a:solidFill>
                <a:latin typeface="Georgia" pitchFamily="34" charset="0"/>
                <a:ea typeface="Georgia" pitchFamily="34" charset="-122"/>
                <a:cs typeface="Georgia" pitchFamily="34" charset="-120"/>
              </a:rPr>
              <a:t>02</a:t>
            </a:r>
            <a:endParaRPr lang="en-US" sz="2200" dirty="0"/>
          </a:p>
        </p:txBody>
      </p:sp>
      <p:sp>
        <p:nvSpPr>
          <p:cNvPr id="15" name="Shape 12"/>
          <p:cNvSpPr/>
          <p:nvPr/>
        </p:nvSpPr>
        <p:spPr>
          <a:xfrm>
            <a:off x="7104888" y="1920240"/>
            <a:ext cx="594360" cy="594360"/>
          </a:xfrm>
          <a:prstGeom prst="ellipse">
            <a:avLst/>
          </a:prstGeom>
          <a:solidFill>
            <a:srgbClr val="FAF3E0"/>
          </a:solidFill>
          <a:ln w="19050">
            <a:solidFill>
              <a:srgbClr val="E36414"/>
            </a:solidFill>
            <a:prstDash val="solid"/>
          </a:ln>
        </p:spPr>
      </p:sp>
      <p:pic>
        <p:nvPicPr>
          <p:cNvPr id="16" name="Image 1" descr="preencoded.png">    </p:cNvPr>
          <p:cNvPicPr>
            <a:picLocks noChangeAspect="1"/>
          </p:cNvPicPr>
          <p:nvPr/>
        </p:nvPicPr>
        <p:blipFill>
          <a:blip r:embed="rId2"/>
          <a:stretch>
            <a:fillRect/>
          </a:stretch>
        </p:blipFill>
        <p:spPr>
          <a:xfrm>
            <a:off x="7196328" y="2002536"/>
            <a:ext cx="411480" cy="411480"/>
          </a:xfrm>
          <a:prstGeom prst="rect">
            <a:avLst/>
          </a:prstGeom>
        </p:spPr>
      </p:pic>
      <p:sp>
        <p:nvSpPr>
          <p:cNvPr id="17" name="Text 13"/>
          <p:cNvSpPr/>
          <p:nvPr/>
        </p:nvSpPr>
        <p:spPr>
          <a:xfrm>
            <a:off x="4544568" y="2560320"/>
            <a:ext cx="315468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Steroids</a:t>
            </a:r>
            <a:endParaRPr lang="en-US" sz="1500" dirty="0"/>
          </a:p>
        </p:txBody>
      </p:sp>
      <p:sp>
        <p:nvSpPr>
          <p:cNvPr id="18" name="Text 14"/>
          <p:cNvSpPr/>
          <p:nvPr/>
        </p:nvSpPr>
        <p:spPr>
          <a:xfrm>
            <a:off x="4544568" y="2953512"/>
            <a:ext cx="315468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Addison's (↓) vs Cushing's (↑). Never stop steroids abruptly — taper always.</a:t>
            </a:r>
            <a:endParaRPr lang="en-US" sz="1050" dirty="0"/>
          </a:p>
        </p:txBody>
      </p:sp>
      <p:sp>
        <p:nvSpPr>
          <p:cNvPr id="19" name="Shape 15"/>
          <p:cNvSpPr/>
          <p:nvPr/>
        </p:nvSpPr>
        <p:spPr>
          <a:xfrm>
            <a:off x="7991856" y="1783080"/>
            <a:ext cx="3520440" cy="2103120"/>
          </a:xfrm>
          <a:prstGeom prst="rect">
            <a:avLst/>
          </a:prstGeom>
          <a:solidFill>
            <a:srgbClr val="155E75"/>
          </a:solidFill>
          <a:ln w="12700">
            <a:solidFill>
              <a:srgbClr val="E36414"/>
            </a:solidFill>
            <a:prstDash val="solid"/>
          </a:ln>
        </p:spPr>
      </p:sp>
      <p:sp>
        <p:nvSpPr>
          <p:cNvPr id="20" name="Text 16"/>
          <p:cNvSpPr/>
          <p:nvPr/>
        </p:nvSpPr>
        <p:spPr>
          <a:xfrm>
            <a:off x="8174736" y="1920240"/>
            <a:ext cx="731520" cy="457200"/>
          </a:xfrm>
          <a:prstGeom prst="rect">
            <a:avLst/>
          </a:prstGeom>
          <a:noFill/>
          <a:ln/>
        </p:spPr>
        <p:txBody>
          <a:bodyPr wrap="square" lIns="0" tIns="0" rIns="0" bIns="0" rtlCol="0" anchor="ctr"/>
          <a:lstStyle/>
          <a:p>
            <a:pPr indent="0" marL="0">
              <a:buNone/>
            </a:pPr>
            <a:r>
              <a:rPr lang="en-US" sz="2200" b="1" dirty="0">
                <a:solidFill>
                  <a:srgbClr val="FB8500"/>
                </a:solidFill>
                <a:latin typeface="Georgia" pitchFamily="34" charset="0"/>
                <a:ea typeface="Georgia" pitchFamily="34" charset="-122"/>
                <a:cs typeface="Georgia" pitchFamily="34" charset="-120"/>
              </a:rPr>
              <a:t>03</a:t>
            </a:r>
            <a:endParaRPr lang="en-US" sz="2200" dirty="0"/>
          </a:p>
        </p:txBody>
      </p:sp>
      <p:sp>
        <p:nvSpPr>
          <p:cNvPr id="21" name="Shape 17"/>
          <p:cNvSpPr/>
          <p:nvPr/>
        </p:nvSpPr>
        <p:spPr>
          <a:xfrm>
            <a:off x="10735056" y="1920240"/>
            <a:ext cx="594360" cy="594360"/>
          </a:xfrm>
          <a:prstGeom prst="ellipse">
            <a:avLst/>
          </a:prstGeom>
          <a:solidFill>
            <a:srgbClr val="FAF3E0"/>
          </a:solidFill>
          <a:ln w="19050">
            <a:solidFill>
              <a:srgbClr val="E36414"/>
            </a:solidFill>
            <a:prstDash val="solid"/>
          </a:ln>
        </p:spPr>
      </p:sp>
      <p:pic>
        <p:nvPicPr>
          <p:cNvPr id="22" name="Image 2" descr="preencoded.png">    </p:cNvPr>
          <p:cNvPicPr>
            <a:picLocks noChangeAspect="1"/>
          </p:cNvPicPr>
          <p:nvPr/>
        </p:nvPicPr>
        <p:blipFill>
          <a:blip r:embed="rId3"/>
          <a:stretch>
            <a:fillRect/>
          </a:stretch>
        </p:blipFill>
        <p:spPr>
          <a:xfrm>
            <a:off x="10826496" y="2002536"/>
            <a:ext cx="411480" cy="411480"/>
          </a:xfrm>
          <a:prstGeom prst="rect">
            <a:avLst/>
          </a:prstGeom>
        </p:spPr>
      </p:pic>
      <p:sp>
        <p:nvSpPr>
          <p:cNvPr id="23" name="Text 18"/>
          <p:cNvSpPr/>
          <p:nvPr/>
        </p:nvSpPr>
        <p:spPr>
          <a:xfrm>
            <a:off x="8174736" y="2560320"/>
            <a:ext cx="315468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ADH</a:t>
            </a:r>
            <a:endParaRPr lang="en-US" sz="1500" dirty="0"/>
          </a:p>
        </p:txBody>
      </p:sp>
      <p:sp>
        <p:nvSpPr>
          <p:cNvPr id="24" name="Text 19"/>
          <p:cNvSpPr/>
          <p:nvPr/>
        </p:nvSpPr>
        <p:spPr>
          <a:xfrm>
            <a:off x="8174736" y="2953512"/>
            <a:ext cx="315468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DI = dry (↓ADH, polyuria). SIADH = soaked (↑ADH, retention, ↓Na).</a:t>
            </a:r>
            <a:endParaRPr lang="en-US" sz="1050" dirty="0"/>
          </a:p>
        </p:txBody>
      </p:sp>
      <p:sp>
        <p:nvSpPr>
          <p:cNvPr id="25" name="Shape 20"/>
          <p:cNvSpPr/>
          <p:nvPr/>
        </p:nvSpPr>
        <p:spPr>
          <a:xfrm>
            <a:off x="731520" y="4023360"/>
            <a:ext cx="3520440" cy="2103120"/>
          </a:xfrm>
          <a:prstGeom prst="rect">
            <a:avLst/>
          </a:prstGeom>
          <a:solidFill>
            <a:srgbClr val="155E75"/>
          </a:solidFill>
          <a:ln w="12700">
            <a:solidFill>
              <a:srgbClr val="E36414"/>
            </a:solidFill>
            <a:prstDash val="solid"/>
          </a:ln>
        </p:spPr>
      </p:sp>
      <p:sp>
        <p:nvSpPr>
          <p:cNvPr id="26" name="Text 21"/>
          <p:cNvSpPr/>
          <p:nvPr/>
        </p:nvSpPr>
        <p:spPr>
          <a:xfrm>
            <a:off x="914400" y="4160520"/>
            <a:ext cx="731520" cy="457200"/>
          </a:xfrm>
          <a:prstGeom prst="rect">
            <a:avLst/>
          </a:prstGeom>
          <a:noFill/>
          <a:ln/>
        </p:spPr>
        <p:txBody>
          <a:bodyPr wrap="square" lIns="0" tIns="0" rIns="0" bIns="0" rtlCol="0" anchor="ctr"/>
          <a:lstStyle/>
          <a:p>
            <a:pPr indent="0" marL="0">
              <a:buNone/>
            </a:pPr>
            <a:r>
              <a:rPr lang="en-US" sz="2200" b="1" dirty="0">
                <a:solidFill>
                  <a:srgbClr val="FB8500"/>
                </a:solidFill>
                <a:latin typeface="Georgia" pitchFamily="34" charset="0"/>
                <a:ea typeface="Georgia" pitchFamily="34" charset="-122"/>
                <a:cs typeface="Georgia" pitchFamily="34" charset="-120"/>
              </a:rPr>
              <a:t>04</a:t>
            </a:r>
            <a:endParaRPr lang="en-US" sz="2200" dirty="0"/>
          </a:p>
        </p:txBody>
      </p:sp>
      <p:sp>
        <p:nvSpPr>
          <p:cNvPr id="27" name="Shape 22"/>
          <p:cNvSpPr/>
          <p:nvPr/>
        </p:nvSpPr>
        <p:spPr>
          <a:xfrm>
            <a:off x="3474720" y="4160520"/>
            <a:ext cx="594360" cy="594360"/>
          </a:xfrm>
          <a:prstGeom prst="ellipse">
            <a:avLst/>
          </a:prstGeom>
          <a:solidFill>
            <a:srgbClr val="FAF3E0"/>
          </a:solidFill>
          <a:ln w="19050">
            <a:solidFill>
              <a:srgbClr val="E36414"/>
            </a:solidFill>
            <a:prstDash val="solid"/>
          </a:ln>
        </p:spPr>
      </p:sp>
      <p:pic>
        <p:nvPicPr>
          <p:cNvPr id="28" name="Image 3" descr="preencoded.png">    </p:cNvPr>
          <p:cNvPicPr>
            <a:picLocks noChangeAspect="1"/>
          </p:cNvPicPr>
          <p:nvPr/>
        </p:nvPicPr>
        <p:blipFill>
          <a:blip r:embed="rId4"/>
          <a:stretch>
            <a:fillRect/>
          </a:stretch>
        </p:blipFill>
        <p:spPr>
          <a:xfrm>
            <a:off x="3566160" y="4242816"/>
            <a:ext cx="411480" cy="411480"/>
          </a:xfrm>
          <a:prstGeom prst="rect">
            <a:avLst/>
          </a:prstGeom>
        </p:spPr>
      </p:pic>
      <p:sp>
        <p:nvSpPr>
          <p:cNvPr id="29" name="Text 23"/>
          <p:cNvSpPr/>
          <p:nvPr/>
        </p:nvSpPr>
        <p:spPr>
          <a:xfrm>
            <a:off x="914400" y="4800600"/>
            <a:ext cx="315468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Thyroid</a:t>
            </a:r>
            <a:endParaRPr lang="en-US" sz="1500" dirty="0"/>
          </a:p>
        </p:txBody>
      </p:sp>
      <p:sp>
        <p:nvSpPr>
          <p:cNvPr id="30" name="Text 24"/>
          <p:cNvSpPr/>
          <p:nvPr/>
        </p:nvSpPr>
        <p:spPr>
          <a:xfrm>
            <a:off x="914400" y="5193792"/>
            <a:ext cx="315468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Hypo = slow + cold. Hyper = fast + hot. Thyroid storm = emergency.</a:t>
            </a:r>
            <a:endParaRPr lang="en-US" sz="1050" dirty="0"/>
          </a:p>
        </p:txBody>
      </p:sp>
      <p:sp>
        <p:nvSpPr>
          <p:cNvPr id="31" name="Shape 25"/>
          <p:cNvSpPr/>
          <p:nvPr/>
        </p:nvSpPr>
        <p:spPr>
          <a:xfrm>
            <a:off x="4361688" y="4023360"/>
            <a:ext cx="3520440" cy="2103120"/>
          </a:xfrm>
          <a:prstGeom prst="rect">
            <a:avLst/>
          </a:prstGeom>
          <a:solidFill>
            <a:srgbClr val="155E75"/>
          </a:solidFill>
          <a:ln w="12700">
            <a:solidFill>
              <a:srgbClr val="E36414"/>
            </a:solidFill>
            <a:prstDash val="solid"/>
          </a:ln>
        </p:spPr>
      </p:sp>
      <p:sp>
        <p:nvSpPr>
          <p:cNvPr id="32" name="Text 26"/>
          <p:cNvSpPr/>
          <p:nvPr/>
        </p:nvSpPr>
        <p:spPr>
          <a:xfrm>
            <a:off x="4544568" y="4160520"/>
            <a:ext cx="731520" cy="457200"/>
          </a:xfrm>
          <a:prstGeom prst="rect">
            <a:avLst/>
          </a:prstGeom>
          <a:noFill/>
          <a:ln/>
        </p:spPr>
        <p:txBody>
          <a:bodyPr wrap="square" lIns="0" tIns="0" rIns="0" bIns="0" rtlCol="0" anchor="ctr"/>
          <a:lstStyle/>
          <a:p>
            <a:pPr indent="0" marL="0">
              <a:buNone/>
            </a:pPr>
            <a:r>
              <a:rPr lang="en-US" sz="2200" b="1" dirty="0">
                <a:solidFill>
                  <a:srgbClr val="FB8500"/>
                </a:solidFill>
                <a:latin typeface="Georgia" pitchFamily="34" charset="0"/>
                <a:ea typeface="Georgia" pitchFamily="34" charset="-122"/>
                <a:cs typeface="Georgia" pitchFamily="34" charset="-120"/>
              </a:rPr>
              <a:t>05</a:t>
            </a:r>
            <a:endParaRPr lang="en-US" sz="2200" dirty="0"/>
          </a:p>
        </p:txBody>
      </p:sp>
      <p:sp>
        <p:nvSpPr>
          <p:cNvPr id="33" name="Shape 27"/>
          <p:cNvSpPr/>
          <p:nvPr/>
        </p:nvSpPr>
        <p:spPr>
          <a:xfrm>
            <a:off x="7104888" y="4160520"/>
            <a:ext cx="594360" cy="594360"/>
          </a:xfrm>
          <a:prstGeom prst="ellipse">
            <a:avLst/>
          </a:prstGeom>
          <a:solidFill>
            <a:srgbClr val="FAF3E0"/>
          </a:solidFill>
          <a:ln w="19050">
            <a:solidFill>
              <a:srgbClr val="E36414"/>
            </a:solidFill>
            <a:prstDash val="solid"/>
          </a:ln>
        </p:spPr>
      </p:sp>
      <p:pic>
        <p:nvPicPr>
          <p:cNvPr id="34" name="Image 4" descr="preencoded.png">    </p:cNvPr>
          <p:cNvPicPr>
            <a:picLocks noChangeAspect="1"/>
          </p:cNvPicPr>
          <p:nvPr/>
        </p:nvPicPr>
        <p:blipFill>
          <a:blip r:embed="rId5"/>
          <a:stretch>
            <a:fillRect/>
          </a:stretch>
        </p:blipFill>
        <p:spPr>
          <a:xfrm>
            <a:off x="7196328" y="4242816"/>
            <a:ext cx="411480" cy="411480"/>
          </a:xfrm>
          <a:prstGeom prst="rect">
            <a:avLst/>
          </a:prstGeom>
        </p:spPr>
      </p:pic>
      <p:sp>
        <p:nvSpPr>
          <p:cNvPr id="35" name="Text 28"/>
          <p:cNvSpPr/>
          <p:nvPr/>
        </p:nvSpPr>
        <p:spPr>
          <a:xfrm>
            <a:off x="4544568" y="4800600"/>
            <a:ext cx="315468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Parathyroid</a:t>
            </a:r>
            <a:endParaRPr lang="en-US" sz="1500" dirty="0"/>
          </a:p>
        </p:txBody>
      </p:sp>
      <p:sp>
        <p:nvSpPr>
          <p:cNvPr id="36" name="Text 29"/>
          <p:cNvSpPr/>
          <p:nvPr/>
        </p:nvSpPr>
        <p:spPr>
          <a:xfrm>
            <a:off x="4544568" y="5193792"/>
            <a:ext cx="315468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Ca &amp; Phos see-saw. Trousseau &amp; Chvostek = low Ca. Stones/bones/groans/moans = high Ca.</a:t>
            </a:r>
            <a:endParaRPr lang="en-US" sz="1050" dirty="0"/>
          </a:p>
        </p:txBody>
      </p:sp>
      <p:sp>
        <p:nvSpPr>
          <p:cNvPr id="37" name="Shape 30"/>
          <p:cNvSpPr/>
          <p:nvPr/>
        </p:nvSpPr>
        <p:spPr>
          <a:xfrm>
            <a:off x="7991856" y="4023360"/>
            <a:ext cx="3520440" cy="2103120"/>
          </a:xfrm>
          <a:prstGeom prst="rect">
            <a:avLst/>
          </a:prstGeom>
          <a:solidFill>
            <a:srgbClr val="155E75"/>
          </a:solidFill>
          <a:ln w="12700">
            <a:solidFill>
              <a:srgbClr val="E36414"/>
            </a:solidFill>
            <a:prstDash val="solid"/>
          </a:ln>
        </p:spPr>
      </p:sp>
      <p:sp>
        <p:nvSpPr>
          <p:cNvPr id="38" name="Text 31"/>
          <p:cNvSpPr/>
          <p:nvPr/>
        </p:nvSpPr>
        <p:spPr>
          <a:xfrm>
            <a:off x="8174736" y="4160520"/>
            <a:ext cx="731520" cy="457200"/>
          </a:xfrm>
          <a:prstGeom prst="rect">
            <a:avLst/>
          </a:prstGeom>
          <a:noFill/>
          <a:ln/>
        </p:spPr>
        <p:txBody>
          <a:bodyPr wrap="square" lIns="0" tIns="0" rIns="0" bIns="0" rtlCol="0" anchor="ctr"/>
          <a:lstStyle/>
          <a:p>
            <a:pPr indent="0" marL="0">
              <a:buNone/>
            </a:pPr>
            <a:r>
              <a:rPr lang="en-US" sz="2200" b="1" dirty="0">
                <a:solidFill>
                  <a:srgbClr val="FB8500"/>
                </a:solidFill>
                <a:latin typeface="Georgia" pitchFamily="34" charset="0"/>
                <a:ea typeface="Georgia" pitchFamily="34" charset="-122"/>
                <a:cs typeface="Georgia" pitchFamily="34" charset="-120"/>
              </a:rPr>
              <a:t>06</a:t>
            </a:r>
            <a:endParaRPr lang="en-US" sz="2200" dirty="0"/>
          </a:p>
        </p:txBody>
      </p:sp>
      <p:sp>
        <p:nvSpPr>
          <p:cNvPr id="39" name="Shape 32"/>
          <p:cNvSpPr/>
          <p:nvPr/>
        </p:nvSpPr>
        <p:spPr>
          <a:xfrm>
            <a:off x="10735056" y="4160520"/>
            <a:ext cx="594360" cy="594360"/>
          </a:xfrm>
          <a:prstGeom prst="ellipse">
            <a:avLst/>
          </a:prstGeom>
          <a:solidFill>
            <a:srgbClr val="FAF3E0"/>
          </a:solidFill>
          <a:ln w="19050">
            <a:solidFill>
              <a:srgbClr val="E36414"/>
            </a:solidFill>
            <a:prstDash val="solid"/>
          </a:ln>
        </p:spPr>
      </p:sp>
      <p:pic>
        <p:nvPicPr>
          <p:cNvPr id="40" name="Image 5" descr="preencoded.png">    </p:cNvPr>
          <p:cNvPicPr>
            <a:picLocks noChangeAspect="1"/>
          </p:cNvPicPr>
          <p:nvPr/>
        </p:nvPicPr>
        <p:blipFill>
          <a:blip r:embed="rId6"/>
          <a:stretch>
            <a:fillRect/>
          </a:stretch>
        </p:blipFill>
        <p:spPr>
          <a:xfrm>
            <a:off x="10826496" y="4242816"/>
            <a:ext cx="411480" cy="411480"/>
          </a:xfrm>
          <a:prstGeom prst="rect">
            <a:avLst/>
          </a:prstGeom>
        </p:spPr>
      </p:pic>
      <p:sp>
        <p:nvSpPr>
          <p:cNvPr id="41" name="Text 33"/>
          <p:cNvSpPr/>
          <p:nvPr/>
        </p:nvSpPr>
        <p:spPr>
          <a:xfrm>
            <a:off x="8174736" y="4800600"/>
            <a:ext cx="315468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Diabetes</a:t>
            </a:r>
            <a:endParaRPr lang="en-US" sz="1500" dirty="0"/>
          </a:p>
        </p:txBody>
      </p:sp>
      <p:sp>
        <p:nvSpPr>
          <p:cNvPr id="42" name="Text 34"/>
          <p:cNvSpPr/>
          <p:nvPr/>
        </p:nvSpPr>
        <p:spPr>
          <a:xfrm>
            <a:off x="8174736" y="5193792"/>
            <a:ext cx="315468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Type 1 → DKA. Type 2 → HHNS. Rule of 15 for hypoglycemia. Clear before cloudy.</a:t>
            </a:r>
            <a:endParaRPr lang="en-US" sz="1050" dirty="0"/>
          </a:p>
        </p:txBody>
      </p:sp>
      <p:sp>
        <p:nvSpPr>
          <p:cNvPr id="43" name="Text 35"/>
          <p:cNvSpPr/>
          <p:nvPr/>
        </p:nvSpPr>
        <p:spPr>
          <a:xfrm>
            <a:off x="731520" y="6355080"/>
            <a:ext cx="10698480" cy="365760"/>
          </a:xfrm>
          <a:prstGeom prst="rect">
            <a:avLst/>
          </a:prstGeom>
          <a:noFill/>
          <a:ln/>
        </p:spPr>
        <p:txBody>
          <a:bodyPr wrap="square" lIns="0" tIns="0" rIns="0" bIns="0" rtlCol="0" anchor="ctr"/>
          <a:lstStyle/>
          <a:p>
            <a:pPr algn="ctr" indent="0" marL="0">
              <a:buNone/>
            </a:pPr>
            <a:r>
              <a:rPr lang="en-US" sz="1300" b="1" i="1" dirty="0">
                <a:solidFill>
                  <a:srgbClr val="E36414"/>
                </a:solidFill>
                <a:latin typeface="Georgia" pitchFamily="34" charset="0"/>
                <a:ea typeface="Georgia" pitchFamily="34" charset="-122"/>
                <a:cs typeface="Georgia" pitchFamily="34" charset="-120"/>
              </a:rPr>
              <a:t>Master these six pillars, and endocrine NCLEX becomes pattern recognition.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Endocrine System — NCLEX Review</dc:title>
  <dc:subject>PptxGenJS Presentation</dc:subject>
  <dc:creator>Nursing Study Guide</dc:creator>
  <cp:lastModifiedBy>Nursing Study Guide</cp:lastModifiedBy>
  <cp:revision>1</cp:revision>
  <dcterms:created xsi:type="dcterms:W3CDTF">2026-04-22T20:55:13Z</dcterms:created>
  <dcterms:modified xsi:type="dcterms:W3CDTF">2026-04-22T20:55:13Z</dcterms:modified>
</cp:coreProperties>
</file>