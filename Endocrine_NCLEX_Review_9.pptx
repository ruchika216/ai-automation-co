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4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NCLEX REVIEW SERIES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Endocrine System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CFB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• Physiology • Pharmacology • Disorders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937760"/>
            <a:ext cx="265176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983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5577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4937760"/>
            <a:ext cx="265176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4983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749040" y="5577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Disorders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4937760"/>
            <a:ext cx="2651760" cy="118872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4983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675120" y="5577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NCLEX Prep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6400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6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Hormones in Health &amp; Disease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28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9164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21945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endocrine organs and the hormones each one secretes.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44068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691640"/>
            <a:ext cx="7315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8288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315200" y="1828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Feedback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0" y="21945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hypothalamic–pituitary–target gland feedback loops.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544068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200400"/>
            <a:ext cx="7315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3375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91640" y="3337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Disorders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91640" y="37033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hypo- vs. hyper-states for adrenal, thyroid, parathyroid, ADH and pancreas.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3200400"/>
            <a:ext cx="544068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3200400"/>
            <a:ext cx="7315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3375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315200" y="3337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0" y="37033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key nursing considerations for hormones and antidiabetic agents.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709160"/>
            <a:ext cx="544068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709160"/>
            <a:ext cx="7315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8463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691640" y="4846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691640" y="52120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and manage adrenal crisis, thyroid storm, DKA, HHNS, and hypoglycemia.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4709160"/>
            <a:ext cx="544068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63640" y="4709160"/>
            <a:ext cx="73152" cy="13258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48463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315200" y="4846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Teaching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15200" y="52120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NCLEX-aligned education on insulin, levothyroxine, steroids, and metformin.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54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&amp; Physiology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CFB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Glands, hormones, and the language of the endocrine system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hypothalamus to the pancreas — how the system stays in balance.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Functions of the Endocrine System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88136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83080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202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97680" y="19202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male and female reproductive function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862072"/>
            <a:ext cx="1088136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862072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9992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Balance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297680" y="2999232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Regulates blood glucose, metabolism, fluids, and electrolytes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941064"/>
            <a:ext cx="1088136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941064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782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Response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297680" y="407822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Elevates blood glucose and BP during emergencies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020056"/>
            <a:ext cx="1088136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5020056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15721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&amp; Energy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297680" y="5157216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growth, development, and metabolic rate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"control + balance" — every disorder ahead is a deviation from normal hormonal homeostasis.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Endocrine Glands &amp; Their Hormones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830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Hypothalamus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14884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TRH, CRH (releasing hormones to pituitary)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91640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830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 Pituitary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14884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TSH, FSH, LH, ACTH, GH, prolactin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788920"/>
            <a:ext cx="544068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788920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8803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Pituitary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24612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 (vasopressin), Oxytocin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2788920"/>
            <a:ext cx="544068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2788920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288036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6520" y="324612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T3, T4 (energy/metabolism), Calcitonin (↓ Ca²⁺)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886200"/>
            <a:ext cx="544068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886200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9776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Parathyroid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434340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 (↑ serum Ca²⁺)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3886200"/>
            <a:ext cx="544068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3886200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397764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Cortex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46520" y="434340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Glucocorticoids, Mineralocorticoids, Sex hormones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4983480"/>
            <a:ext cx="544068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4983480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50749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Medulla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2960" y="544068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Epinephrine, Norepinephrine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63640" y="4983480"/>
            <a:ext cx="5440680" cy="914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3640" y="4983480"/>
            <a:ext cx="73152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50749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46520" y="544068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(β cells), Glucagon (α cells)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CORTEX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Steroid Hormones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the ADRENAL CORTEX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3520440" cy="3840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94560"/>
            <a:ext cx="73152" cy="3840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31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Glucocorticoids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6974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(cortisol)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108960"/>
            <a:ext cx="3246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 mood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immunosuppression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fats &amp; proteins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 insulin → ↑ glucose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2194560"/>
            <a:ext cx="3520440" cy="3840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2194560"/>
            <a:ext cx="73152" cy="3840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2331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Mineralocorticoids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26974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(aldosterone)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3108960"/>
            <a:ext cx="3246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sodium &amp; water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Excrete potassium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renal ↔ endocrine (RAAS)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blood pressure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38160" y="2194560"/>
            <a:ext cx="3520440" cy="3840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2194560"/>
            <a:ext cx="73152" cy="3840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233172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Sex Hormones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66760" y="26974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(androgens)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66760" y="3108960"/>
            <a:ext cx="3246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Testosterone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Estrogen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Progesterone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sex characteristics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NCLEX cue: Aldosterone links the renal system to the endocrine system via RAAS.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MEDULLA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Catecholamines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Secreted by the ADRENAL MEDULLA — the "fight or flight" response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5440680" cy="3840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94560"/>
            <a:ext cx="73152" cy="3840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Norepinephrine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a vasopressor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15468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Vasoconstriction → ↑ BP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 dilation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Cardiac contractility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Inhibits GI activity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2194560"/>
            <a:ext cx="5440680" cy="3840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2194560"/>
            <a:ext cx="73152" cy="3840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331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Epinephrine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537960" y="2743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/ metabolic surge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3154680"/>
            <a:ext cx="5029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Body's metabolism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Blood glucose levels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Inhibits insulin secretion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Bronchodilation, ↑ HR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PITUITARY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Antidiuretic Hormone (ADH)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8640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4480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28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Facts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Secreted by the posterior pituitary gland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Located in the brain — between the eyes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vasopressin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ANTI-diuresis → retain WATER (only)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ADH = ↑ water reabsorption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is NOT retained with ADH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691640"/>
            <a:ext cx="5166360" cy="4480560"/>
          </a:xfrm>
          <a:prstGeom prst="rect">
            <a:avLst/>
          </a:prstGeom>
          <a:solidFill>
            <a:srgbClr val="FEF2F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691640"/>
            <a:ext cx="73152" cy="4480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Watch For Disruption After: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9400" y="23317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Craniotomy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injury / trauma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Sinus or pituitary surgery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 infection or tumor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5120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can produce DI (too little ADH) or SIADH (too much ADH).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GLAND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Thyroid Hormone &amp; Negative Feedback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8640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4480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T3 &amp; T4 = Energy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237744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the thyroid gland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active forms: T3 and T4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metabolic rate ("energy")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under control of TSH from the anterior pituitary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by a NEGATIVE FEEDBACK loop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691640"/>
            <a:ext cx="5166360" cy="4480560"/>
          </a:xfrm>
          <a:prstGeom prst="rect">
            <a:avLst/>
          </a:prstGeom>
          <a:solidFill>
            <a:srgbClr val="F0FDF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2880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Feedback Loop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2331720"/>
            <a:ext cx="4434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24231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Hypothalamus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27889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TRH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0" y="3200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766560" y="3474720"/>
            <a:ext cx="4434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35661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Anterior Pituitary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39319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TSH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0" y="4343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766560" y="4617720"/>
            <a:ext cx="4434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47091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50749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T3 / T4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T3/T4 → ↑ TSH    |    High T3/T4 → ↓ TSH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REGULATION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PTH vs. Calcitonin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4480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Parathyroid Hormone (PTH)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4 parathyroid glands behind the thyroid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calcium OUT of bones into the blood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Serum calcium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Serum phosphorus (inverse relationship)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vitamin D &amp; GI absorption of Ca²⁺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4406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691640"/>
            <a:ext cx="73152" cy="4480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Calcitonin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by the thyroid gland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27432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when serum calcium is HIGH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Inhibits osteoclasts → bones STOP releasing Ca²⁺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Opposes PTH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against hypercalcemia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Insulin &amp; Glucagon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4480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Insulin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β-islets of Langerhans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"key" that unlocks cells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glucose from BLOOD into CELLS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cells to use glucose for fuel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when blood glucose is HIGH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BG: 70 – 110 mg/dL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4406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691640"/>
            <a:ext cx="73152" cy="4480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Glucagon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3796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α-cells of the pancreas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27432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Catabolic hormone — opposite of insulin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glycogenolysis in the liver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glycogen → glucose → ↑ BG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when BG is LOW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IM to rescue an unconscious hypoglycemic patient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Insulin: The "Lock &amp; Key" Model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520440" cy="4023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73152" cy="40233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659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Receptor = LOCK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606040"/>
            <a:ext cx="3246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on the cell membrane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binding site for insulin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insulin = stays closed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828800"/>
            <a:ext cx="3520440" cy="4023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828800"/>
            <a:ext cx="73152" cy="4023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9659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Insulin = KEY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2606040"/>
            <a:ext cx="3246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by pancreatic β cells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the receptor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glucose transporter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520440" cy="40233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828800"/>
            <a:ext cx="73152" cy="4023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9659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= DOOR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60" y="2606040"/>
            <a:ext cx="3246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channel opens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enters the cell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 falls back to normal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insulin → door stays shut → glucose builds up in the blood (hyperglycemia).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54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Endocrine Pharmacology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CFB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Hormones, replacements, and the agents that modulate them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Steroids • Thyroid drugs • Calcium regulators • Insulin • Oral hypoglycemics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Corticosteroids — Duration of Action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520440" cy="4114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83080"/>
            <a:ext cx="352044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745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Short-Acting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743200"/>
            <a:ext cx="3246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Cortisone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Hydrocortisone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1783080"/>
            <a:ext cx="3520440" cy="4114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783080"/>
            <a:ext cx="3520440" cy="731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8745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Intermediate-Acting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17720" y="2743200"/>
            <a:ext cx="3246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Methylprednisolone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Prednisone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Triamcinolone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520440" cy="4114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783080"/>
            <a:ext cx="3520440" cy="731520"/>
          </a:xfrm>
          <a:prstGeom prst="rect">
            <a:avLst/>
          </a:prstGeom>
          <a:solidFill>
            <a:srgbClr val="0B544F"/>
          </a:solidFill>
          <a:ln w="12700">
            <a:solidFill>
              <a:srgbClr val="0B54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8745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Long-Acting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66760" y="2743200"/>
            <a:ext cx="3246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Betamethasone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Dexamethasone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—sone, —solone endings often signal corticosteroids.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SPOTLIGHT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Methylprednisolone (Corticosteroid Prototype)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Indication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 class: Corticosteroid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Inflammation, allergic reactions, autoimmune disorders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9164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Suppresses inflammation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Suppresses normal immune response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931920"/>
            <a:ext cx="73152" cy="2057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Effects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Immunosuppression → infection risk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Hyperglycemia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Osteoporosis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wound healing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Cushingoid features ("buffalo hump")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93192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Considerations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too much steroid effect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stop abruptly — taper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with food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BG, weight, BP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Catecholamines &amp; ADH Agents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4480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Catecholamines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Sympathetic / vasopressor support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7432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Norepinephrine — vasoconstriction, ↑ BP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Epinephrine — inotrope, ↑ HR/contractility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shock, anaphylaxis, cardiac arrest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BP, HR, perfusion, IV site (extravasation)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4406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691640"/>
            <a:ext cx="73152" cy="4480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ADH Agents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3796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Diabetes Insipidus / low ADH states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2743200"/>
            <a:ext cx="5029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Vasopressin (IV) — also a vasopressor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Desmopressin (DDAVP) — intranasal, oral, SC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water retention → ↑ BP, ↓ urine output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I&amp;O, daily weight, serum sodium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54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Endocrine Disorders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CFB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Hypo- vs. Hyper- states, organ by organ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• Catecholamine • ADH • Thyroid • Parathyroid • Pancreas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5486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DISORDERS 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Hypo- vs. Hyper- States by Hormone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474720"/>
                <a:gridCol w="3383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Hormone Group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Enough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Much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Glucocorticoids (cortisol) + Mineralocorticoids (aldosterone)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Addison's Disease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Cushing's Disease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Catecholamines (Epi, NE)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Pheochromocytoma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ADH (vasopressin)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 Insipidus (DI)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SIADH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Thyroid Hormones (T3, T4)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Hypothyroidism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Hyperthyroidism / Graves'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Parathyroid Hormone (PTH)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Hypoparathyroidism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Hyperparathyroidism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 Mellitus (Type 1, 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Hypoglycemia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CORTEX • HYPO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Addison's Disease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4480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Pathophysiology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Adrenocortical insufficiency — NOT enough steroids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Glucocorticoids → fatigue, weight loss, hypoglycemia, confusion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Mineralocorticoids → lose Na⁺ &amp; H₂O, retain K⁺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Sex hormones → hair loss, decreased libido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Hallmark Labs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9834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Hyponatremia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Hyperkalemia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Hypoglycemia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Hypotension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1691640"/>
            <a:ext cx="52120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691640"/>
            <a:ext cx="73152" cy="4480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&amp; Symptoms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224028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Hyperpigmentation ("bronzing" of skin)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Postural hypotension, weakness, fatigue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loss, GI disturbances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 loss, hypoglycemia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CRISIS → fever, shock, renal shutdown,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↑ K⁺, ↓ Na⁺, life-threatening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CORTEX • HYPO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Addison's — Diagnostics &amp; Nursing Management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cortisol — LOW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ACTH stimulation test (no rise)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Na⁺, ↑ K⁺, ↓ BG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 often elevated (dehydration)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9164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Care — Stable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weights, strict I&amp;O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High-sodium diet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stress and infection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Lifelong steroid replacement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931920"/>
            <a:ext cx="73152" cy="2057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Crisis (Emergency)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SHOCK!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fluids: 0.9% Normal Saline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hydrocortisone STAT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dextrose if hypoglycemic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Vasopressors as ordered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93192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Teaching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medical alert bracelet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steroid dose during illness/stress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stop steroids abruptly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fever, vomiting, weakness immediately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FOR ADDISON'S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Replacement Therapy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4480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Glucocorticoid Replacement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Prednisone, Hydrocortisone, Prednisolone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78892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cortisol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with food (GI upset)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hyperglycemia, infection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abruptly discontinue — taper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Dose during stress / illness / surgery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4406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691640"/>
            <a:ext cx="73152" cy="4480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Mineralocorticoid Replacement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Fludrocortisone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278892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aldosterone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Promotes Na⁺ and water retention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BP, weight, and K⁺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edema and HTN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glucocorticoid in primary insufficiency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NCLEX PRACTICE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Addisonian Crisis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92708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1554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83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event of an Addisonian crisis, which IV medication is MOST appropriate to administer first?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544068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429000"/>
            <a:ext cx="73152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566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5661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3429000"/>
            <a:ext cx="5440680" cy="640080"/>
          </a:xfrm>
          <a:prstGeom prst="rect">
            <a:avLst/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3429000"/>
            <a:ext cx="73152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566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35661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saline solution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544068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206240"/>
            <a:ext cx="73152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343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3434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Dextrose 5% in water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4206240"/>
            <a:ext cx="544068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4206240"/>
            <a:ext cx="73152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343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43434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Dextrose 5% in half-normal saline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5074920"/>
            <a:ext cx="10927080" cy="1463040"/>
          </a:xfrm>
          <a:prstGeom prst="rect">
            <a:avLst/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5074920"/>
            <a:ext cx="73152" cy="1463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166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  •  Rationale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" y="55321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Hyponatremia is a primary problem in Addisonian crisis. Normal saline restores volume and sodium. Hydrocortisone, vasopressors, and glucose may also be given but NS is the priority IV fluid.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CORTEX • HYPER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Cushing's Disease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4480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Pathophysiology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of steroids — cortisol, aldosterone, androgens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Causes: pituitary tumor (↑ ACTH), adrenal tumor, long-term steroid use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Glucocorticoids → immunosuppression, hyperglycemia, mood changes, fat redistribution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Mineralocorticoids → fluid retention, ↑ Na⁺, ↓ K⁺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Sex hormones → oily skin, acne, hirsutism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1691640"/>
            <a:ext cx="52120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691640"/>
            <a:ext cx="73152" cy="4480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Signs &amp; Symptoms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24028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"Moon face", buffalo hump, truncal obesity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extremities, pendulous abdomen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 striae, easy bruising, thin skin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Hirsutism, acne, red cheeks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Hyperglycemia, hypertension, osteoporosis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CNS irritability, slow wound healing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CORTEX • HYPER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Cushing's — Diagnostics &amp; Management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Serum cortisol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24-hour urinary free cortisol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Dexamethasone suppression test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Hyperglycemia, ↑ Na⁺, ↓ K⁺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9164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Management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INFECTION (immunosuppressed)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hygiene, limit visitors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&amp; bone protection — fall risk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BG, BP, weight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Low-sodium, high-potassium, high-protein diet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93192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Treatment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Adrenalectomy (uni- or bilateral)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Hypophysectomy (if pituitary tumor)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Lifelong replacement after bilateral removal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93192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Teaching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reverse slowly after treatment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signs of infection promptly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crowds and sick contacts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steroids exactly as prescribed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FOR CUSHING'S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Cortisol-Lowering Agents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4480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Adrenal Enzyme Inhibitors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Ketoconazole, Metyrapone, Mitotane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78892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cortisol synthesis in the adrenal cortex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surgery is not curative or while awaiting it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LFTs (especially ketoconazole)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adrenal insufficiency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4406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691640"/>
            <a:ext cx="73152" cy="4480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Cortisol Receptor Antagonist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Mifepristone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278892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cortisol at the receptor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Cushing's with hyperglycemia / DM2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K⁺ (hypokalemia possible)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 contraindicated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bilateral adrenalectomy: lifelong glucocorticoid + mineralocorticoid replacement (e.g., hydrocortisone + fludrocortisone).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CORTEX • HYPER-ALDOSTERONE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Conn's Disease (Primary Aldosteronism)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tumor secreting EXCESS aldosterone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specifically from the adrenal cortex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9164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&amp; Symptoms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 (often severe / resistant)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Hypokalemia (muscle weakness, cramps)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Hypernatremia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Headache, polyuria, fatigue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93192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Aldosterone, ↓ renin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K⁺, ↑ Na⁺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CT/MRI to locate tumor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93192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removal of tumor (adrenalectomy)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Spironolactone — aldosterone antagonist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K⁺ as needed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Antihypertensives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MEDULLA • HYPER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Pheochromocytoma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4480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Pathophysiology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of the adrenal medulla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release of EPI and NE (catecholamines)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paroxysmal sympathetic surges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NEVER palpate the abdomen — can trigger catecholamine release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526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9377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urine for VMA &amp; metanephrines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catecholamines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CT/MRI of adrenals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1691640"/>
            <a:ext cx="52120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691640"/>
            <a:ext cx="73152" cy="4480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&amp; Symptoms ("5 P's")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22402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(hypertension — often severe)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Palpitations / tachycardia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(severe headache, chest, abdomen)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Perspiration (diaphoresis)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4572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49834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Alpha-blockade FIRST (phenoxybenzamine)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beta-blockers for tachycardia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Adrenalectomy (definitive)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FOR PHEOCHROMOCYTOMA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Adrenergic Blockade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4480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Alpha-blockers (FIRST)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Phenoxybenzamine, Phentolamine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78892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alpha-1 → vasodilation, ↓ BP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7–14 days BEFORE surgery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orthostatic hypotension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tachycardia possible → add β-blocker after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4406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691640"/>
            <a:ext cx="73152" cy="4480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Beta-blockers (after alpha)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2331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Propranolol, Metoprolol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37960" y="278892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HR / arrhythmias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give before alpha-blockade — risk of HTN crisis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HR, BP, BG (mask hypoglycemia)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PITUITARY • HYPO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Diabetes Insipidus (DI)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4480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Pathophysiology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ADH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ADH, kidneys excrete HUGE amounts of dilute urine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fluid volume DEFICIT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Hypotension, shock if untreated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526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Values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9377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— DILUTE: ↓ USG, ↓ osmolarity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— CONCENTRATED: ↑ Na⁺, ↑ osmolarity, Hct &gt;40%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1691640"/>
            <a:ext cx="52120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691640"/>
            <a:ext cx="73152" cy="4480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&amp; Symptoms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22402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POLYURIA (massive output)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POLYDIPSIA (excessive thirst, dry mouth)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Tachycardia, hypotension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loss, dry eyes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Lightheadedness, headache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Confusion, lack of focus, muscle cramps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INSIPIDUS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Nursing Management &amp; Drugs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Priorities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neuro status (↑ Na⁺ risk)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hourly I&amp;O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weights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volume + maintenance IV fluids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fluids if alert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91640"/>
            <a:ext cx="73152" cy="2057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Pharmacologic Therapy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Desmopressin (DDAVP) — synthetic ADH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Vasopressin (IV in acute settings)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PO, intranasal, SC, IV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water intoxication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hyponatremia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93192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Teaching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medical alert ID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weights at home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rapid weight gain or headache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Adhere to medication schedule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93192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of Therapy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normal fluid balance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serum sodium 135–145 mEq/L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specific gravity 1.005–1.030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shock and neuro injury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PITUITARY • HYPER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SIADH (Syndrome of Inappropriate ADH)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4480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Pathophysiology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ADH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Kidneys stop excreting water — they HOLD it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water retained — NOT sodium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remains EUVOLEMIC — no peripheral edema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Causes: head injury, lung cancer (SCLC), meds (SSRIs, carbamazepine)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1691640"/>
            <a:ext cx="52120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691640"/>
            <a:ext cx="73152" cy="4480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Signs, Symptoms &amp; Labs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24028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gain WITHOUT peripheral edema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Anorexia, nausea, vomiting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Urine output, concentrated urine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Hyponatremia: irritability, confusion, hallucinations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Seizures when Na⁺ &lt; 125 mEq/L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Urine: ↑ osmolality, ↑ USG, ↑ Na⁺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Blood: ↓ osmolality, hyponatremia, anemia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SIADH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Nursing Management &amp; Drugs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Priorities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serum sodium closely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I&amp;O, daily weights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RESTRICTION (often &lt;1000 mL/day)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 precautions (Na⁺ &lt; 125)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 checks every shift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9164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Pharmacologic Therapy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Hypertonic saline 3% — SLOW correction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Tolvaptan / conivaptan (vaptans) — block ADH receptor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Demeclocycline — ↓ renal response to ADH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diuretics (furosemide) sometimes used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931920"/>
            <a:ext cx="73152" cy="2057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Correction Caution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sodium SLOWLY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rapid → osmotic demyelination syndrome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&lt;8–12 mEq/L per 24 hours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93192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of Therapy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serum sodium gradually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seizures and cerebral edema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underlying cause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 vs. SIADH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270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863340"/>
                <a:gridCol w="38633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4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Diabetes Insipidus (↓ ADH)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SIADH (↑ ADH)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Urine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(polyuria)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(oliguria)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Urine Osmolarity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(dilute)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(concentrated)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Urine Specific Gravity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(&lt;1.005)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(&gt;1.030)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Serum Sodium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(hypernatremia)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(hyponatremia)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Serum Osmolarity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Hypovolemic / dehydrated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Euvolemic (no edema)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Vasopressin / DDAVP, fluids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Fluid restrict, hypertonic saline, vaptans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NCLEX PRACTICE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SIADH after Cranial Surgery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10927080" cy="15544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1554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83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0574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suddenly develops SIADH after undergoing cranial surgery. Which manifestation should the nurse expect?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544068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429000"/>
            <a:ext cx="73152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566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5661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Edema and weight gain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3429000"/>
            <a:ext cx="5440680" cy="640080"/>
          </a:xfrm>
          <a:prstGeom prst="rect">
            <a:avLst/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3429000"/>
            <a:ext cx="73152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5661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35661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Decreased urine production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206240"/>
            <a:ext cx="544068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4206240"/>
            <a:ext cx="73152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343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3434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Hypotension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4206240"/>
            <a:ext cx="5440680" cy="640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4206240"/>
            <a:ext cx="73152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343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43434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 urine specific gravity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5074920"/>
            <a:ext cx="10927080" cy="1463040"/>
          </a:xfrm>
          <a:prstGeom prst="rect">
            <a:avLst/>
          </a:prstGeom>
          <a:solidFill>
            <a:srgbClr val="ECFDF5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5074920"/>
            <a:ext cx="73152" cy="1463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166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  •  Rationale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" y="55321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SIADH, excess ADH causes water retention — urine output drops and the urine becomes concentrated (high specific gravity). Sodium is NOT retained, so the patient stays euvolemic and normotensive — no peripheral edema.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• HYPO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Hypothyroidism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4480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Pathophysiology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thyroid hormone (↓ T3, T4)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 rises trying to stimulate the thyroid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can't keep up — negative feedback broken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Causes: Hashimoto's (autoimmune), iodine deficiency, post-thyroidectomy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526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Pattern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9377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T4   |   HIGH TSH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see ↑ cholesterol, ↓ Na⁺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Anti-TPO antibodies in Hashimoto's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1691640"/>
            <a:ext cx="52120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691640"/>
            <a:ext cx="73152" cy="4480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&amp; Symptoms (everything SLOWS)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224028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gain, cold intolerance, fatigue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Bradycardia, hypotension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Constipation, dry coarse skin, thin hair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outer eyebrow, puffy face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memory, depression, slow speech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menstruation, infertility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MYXEDEMA COMA — emergency, life-threatening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SPOTLIGHT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Levothyroxine (Synthroid) — Hypothyroidism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Indication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Synthetic T4 (thyroid hormone)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Indication: Hypothyroidism, myxedema coma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Lifelong replacement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9164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deficient T4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normal metabolic rate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Suppresses elevated TSH back to normal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931920"/>
            <a:ext cx="73152" cy="2057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Effects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Tachycardia, palpitations, chest pain (overdose)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Insomnia, weight loss, heat intolerance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loss with chronic over-replacement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93192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Teaching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EARLY MORNING on EMPTY stomach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30–60 min before food/coffee/calcium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at the SAME TIME every day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Lifelong therapy — DO NOT stop suddenly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TSH every 6–8 weeks while titrating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• HYPER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Hyperthyroidism / Graves' Disease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4480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Pathophysiology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thyroid hormone (thyrotoxicosis)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Graves' = autoimmune; antibodies stimulate thyroid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 is suppressed by negative feedback, but the thyroid keeps firing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feedback loop is BROKEN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526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Pattern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9377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T4   |   Low TSH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Thyroid-stimulating immunoglobulins (Graves')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Radioactive iodine uptake (RAIU) increased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1691640"/>
            <a:ext cx="52120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691640"/>
            <a:ext cx="73152" cy="4480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&amp; Symptoms (everything SPEEDS UP)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224028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loss despite ↑ appetite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intolerance, sweating, tremor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Tachycardia, palpitations, atrial fibrillation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Anxiety, nervousness, emotional instability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Diarrhea, oligomenorrhea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EXOPHTHALMOS, GOITER (Graves')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Muscle weakness, insomnia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Thyroid Storm (Thyrotoxic Crisis)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2057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Untreated Graves' / hyperthyroidism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thyroid surgery or trauma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infection or stress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Abrupt withdrawal of antithyroid meds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91640"/>
            <a:ext cx="73152" cy="2057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&amp; Symptoms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fever (100–106°F / 38–41°C)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tachycardia (up to 200 BPM)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Palpitations, chest pain, dyspnea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Restlessness, agitation, delirium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N/V/D, dehydration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93192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measures (ice packs, cool blanket — NO aspirin)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fluids and electrolytes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Antithyroid drugs: PTU or methimazole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Beta-blockers (propranolol) for HR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Iodine (after antithyroid started)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Glucocorticoids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93192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Priorities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cardiac monitoring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Quiet, cool environment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temperature q15–30 min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I&amp;O, neuro checks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FOR HYPERTHYROIDISM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Antithyroid Medications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83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Methimazole / PTU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Thioamides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synthesis of T3/T4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PTU also blocks T4 → T3 conversion (preferred in storm, 1st trimester)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Onset: weeks for full effect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Agranulocytosis — report sore throat, fever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LFTs, CBC; teach lifelong follow-up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69164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783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Iodine (Lugol's, SSKI)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2057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iodine solutions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7960" y="23317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Size &amp; vascularity of thyroid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pre-op or in thyroid storm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with juice; sip with straw (stains teeth)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use only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931920"/>
            <a:ext cx="73152" cy="2057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23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Radioactive Iodine (I-131)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297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Definitive therapy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5720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DESTROYS thyroid cells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causes permanent hypothyroidism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precautions: limit close contact, no pregnancy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 toilet 2–3 times after voiding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393192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4023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Beta-Blockers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4297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Symptomatic relief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37960" y="45720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Propranolol — controls HR, tremor, anxiety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while waiting for antithyroid effect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HR, BP, glucose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TREATMENT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Thyroidectomy — Pre-op &amp; Post-op Care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Pre-op Care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euthyroid state (antithyroid drugs + iodine)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cardiac rhythm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Teach: support neck after surgery, avoid strain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serum calcium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91640"/>
            <a:ext cx="73152" cy="2057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Post-op Care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Semi-Fowler's; support head &amp; neck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tracheostomy kit at bedside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HEMORRHAGE — check behind neck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voice (laryngeal nerve injury)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airway obstruction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93192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Hypocalcemia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parathyroid injury during surgery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Trousseau's &amp; Chvostek's signs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Tingling around mouth, fingers, toes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IV calcium gluconate available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93192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Care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Lifelong levothyroxine if total thyroidectomy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TSH levels routinely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Educate: signs of hypo- and hyperthyroid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follow-up labs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PARATHYROID • HYPO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Hypoparathyroidism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4480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Pathophysiology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Parathyroids do NOT secrete enough PTH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Serum calcium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Serum phosphorus (inverse)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cause: accidental removal during thyroid surgery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526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9377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PTH, low Ca²⁺, high phosphate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ECG: prolonged QT interval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Trousseau's &amp; Chvostek's signs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1691640"/>
            <a:ext cx="52120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691640"/>
            <a:ext cx="73152" cy="4480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&amp; Symptoms (Hypocalcemia)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22402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Tetany, muscle cramps, paresthesia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Trousseau's &amp; Chvostek's signs (+)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Laryngospasm, bronchospasm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Seizures, anxiety, depression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arrhythmias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skin, brittle nails, cataracts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FOR HYPOPARATHYROIDISM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Calcium-Raising Therapy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83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Replacement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Calcium chloride / gluconate / lactate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calcium gluconate for acute hypocalcemia / tetany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calcium for maintenance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with meals (improves absorption)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ECG, serum Ca, watch for arrhythmias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69164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783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Vitamin 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2057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Calcitriol (active form)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7960" y="23317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Enhances GI calcium absorption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serum calcium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hypercalcemia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given with calcium supplements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93192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23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Phosphate Binders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297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Sevelamer, calcium acetate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5720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serum phosphate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WITH meals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correct Ca²⁺:phosphate balance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393192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4023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Teaching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45720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High-calcium, low-phosphorus diet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Dairy is high in BOTH — use with caution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Lifelong therapy in most cases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tetany &amp; call provider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PARATHYROID • HYPER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Hyperparathyroidism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4480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Pathophysiology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Parathyroids secrete TOO MUCH PTH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Serum calcium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Serum phosphorus (inverse)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Causes: parathyroid adenoma, CKD (secondary), hyperplasia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526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9377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PTH, ↑ Ca²⁺, ↓ phosphate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density scan: osteoporosis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ultrasound: kidney stones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1691640"/>
            <a:ext cx="52120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691640"/>
            <a:ext cx="73152" cy="4480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&amp; Symptoms (Hypercalcemia)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22402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"Stones, bones, groans, psychiatric overtones"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Bone/joint pain, fractures, muscle weakness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stones, polyuria, polydipsia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Anorexia, nausea, vomiting, constipation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Fatigue, depression, confusion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Cardiac: shortened QT, arrhythmias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FOR HYPERPARATHYROIDISM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Calcium-Lowering Therapy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83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Bisphosphonates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Alendronate, Risedronate, Zoledronic acid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 osteoclasts → ↓ bone resorption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serum calcium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with FULL glass of water; sit upright 30 min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stomach, before first food/drink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69164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783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Calcitonin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2057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Salmon calcitonin (Miacalcin)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7960" y="23317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Inhibits osteoclasts; lowers Ca rapidly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SC, IM, or intranasal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acute hypercalcemia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calcium and watch for tetany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93192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23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Calcimimetics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297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Cinacalcet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5720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PTH secretion (↑ sensitivity to Ca²⁺)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CKD-related hyperparathyroidism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calcium — risk of HYPOcalcemia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with food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3931920"/>
            <a:ext cx="73152" cy="2057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4023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&amp; Supportive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45720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parathyroidectomy (remove 2 of 4 glands)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NS + loop diuretics for severe hypercalcemia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fluids; mobility to protect bones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rebound HYPOcalcemia post-op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Diabetes Mellitus — The Big Picture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and glucose enter the bloodstream and should be in BALANCE. Insulin is the "key" that opens the cell door for glucose.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5440680" cy="1828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331720"/>
            <a:ext cx="73152" cy="1828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4231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 Diabetes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Autoimmune β-cell destruction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97180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or no insulin produced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 usually in childhood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INSULIN for survival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for DKA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2331720"/>
            <a:ext cx="5440680" cy="1828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2331720"/>
            <a:ext cx="73152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24231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Diabetes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2697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resistance / relative deficiency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297180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resist insulin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associated with obesity, lifestyle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with diet, oral agents, sometimes insulin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for HHNS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343400"/>
            <a:ext cx="5440680" cy="1828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343400"/>
            <a:ext cx="73152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4348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Gestational DM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709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Pregnancy-related hyperglycemia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98348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Develops during pregnancy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resolves after delivery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Lifelong risk of type 2 DM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4343400"/>
            <a:ext cx="5440680" cy="1828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4343400"/>
            <a:ext cx="73152" cy="1828800"/>
          </a:xfrm>
          <a:prstGeom prst="rect">
            <a:avLst/>
          </a:prstGeom>
          <a:solidFill>
            <a:srgbClr val="0B544F"/>
          </a:solidFill>
          <a:ln w="12700">
            <a:solidFill>
              <a:srgbClr val="0B54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44348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Hypoglycemia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7960" y="4709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 &lt; 70 mg/dL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498348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insulin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food / too much exercise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with 15 g rapid carbs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PANCREAS • HYPO-INSULIN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Diabetes Mellitus Type 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4480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Pathophysiology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Autoimmune destruction of pancreatic β cells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or no insulin produced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stays in bloodstream → hyperglycemia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starve → break down fat → ketones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Lifelong INSULIN therapy required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1691640"/>
            <a:ext cx="52120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691640"/>
            <a:ext cx="73152" cy="4480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"3 P's" + More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2402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POLYURIA — frequent urination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POLYDIPSIA — excessive thirst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POLYPHAGIA — increased hunger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weight loss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Fatigue, irritability, blurred vision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Fasting BG ≥126 mg/dL or A1c ≥6.5%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TYPE 1 EMERGENCY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Diabetic Ketoacidosis (DKA)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2057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Pathophysiology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insulin to move glucose into cells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 climbs — blood becomes hyperosmolar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Polyuria → dehydration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starve → break down fat → KETONES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 acidosis develops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91640"/>
            <a:ext cx="73152" cy="2057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&amp; Symptoms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Polyuria, polydipsia, polyphagia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Kussmaul respirations (deep, rapid)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Fruity-smelling (acetone) breath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N/V, abdominal pain, dehydration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Hyperkalemia initially, then hypokalemia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status changes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93192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Priorities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IV FLUIDS — 0.9% NS first, then 0.45%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Regular INSULIN drip (only IV insulin)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Replace POTASSIUM (drops as insulin works)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Monitor BG hourly, ABGs, electrolytes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D5 to fluids when BG ~250 mg/dL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93192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Cue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Ket-ONE bodies are seen in type ONE diabetes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Develops over HOURS (vs days for HHNS)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trigger: infection, missed insulin, illness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PANCREAS • INSULIN RESISTANCE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Diabetes Mellitus Type 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4480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Pathophysiology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resistance, relative deficiency, or "bad" insulin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can't keep up with glucose load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linked to obesity, sedentary lifestyle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 usually adulthood (now seen in youth too)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insidious onset — often discovered on routine labs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1691640"/>
            <a:ext cx="52120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691640"/>
            <a:ext cx="73152" cy="4480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&amp; Symptoms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24028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Blurred vision, fatigue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urination, excessive thirst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wound healing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fungal/yeast infections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Tingling/numbness in hands &amp; feet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 dysfunction, dry mouth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TYPE 2 EMERGENCY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HHNS — Hyperosmolar Nonketotic Syndrome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Pathophysiology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Exacerbation of type 2 DM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high BG (often &gt;600 mg/dL)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becomes hyperosmolar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polyuria → severe dehydration → shock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ketones (some insulin still suppresses lipolysis)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9164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&amp; Symptoms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dehydration — dry mucosa, poor turgor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Hypotension, tachycardia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Altered LOC, seizures, coma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Polyuria progressing to oliguria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Develops over DAYS to WEEKS (vs. hours in DKA)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93192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IV fluid replacement (large volumes)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regular insulin (lower doses than DKA)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Potassium replacement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underlying cause (often infection)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931920"/>
            <a:ext cx="73152" cy="2057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DKA vs. HHNS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DKA: Type 1, ketones present, faster onset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HHNS: Type 2, NO ketones, slower onset, higher BG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life-threatening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Insulin — Onset, Peak &amp; Duration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270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1645920"/>
                <a:gridCol w="2148840"/>
                <a:gridCol w="20116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Rapid-Acting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Aspart, Lispro, Glulisine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30–90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hrs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Short-Acting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 (only IV insulin)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30–60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hrs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5–8 hrs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NPH (cloudy)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hrs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6–14 hrs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16–24 hrs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Long-Acting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Glargine, Detemir, Degludec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hrs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(flat)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~24 hrs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16636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NCLEX cues: Regular is the ONLY insulin given IV. NPH is the ONLY cloudy insulin. Glargine is NEVER mixed.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5623560"/>
            <a:ext cx="10927080" cy="91440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5623560"/>
            <a:ext cx="7315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57607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Insulin: "R-N" — draw up REGULAR (clear) FIRST, then NPH (cloudy). Clear before cloudy.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PRACTICAL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Storage, Administration &amp; Mixing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Refrigerate UNUSED vials/pens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freeze insulin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away from heat &amp; direct sunlight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opened (room temp): NPH ~1 month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Glargine, rapid, short-acting: 28 days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9164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 injection at 45–90° angle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insulin is the ONLY one given IV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insulin syringe (units, not mL)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sites to prevent lipodystrophy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Sites: abdomen (preferred), thigh, arm, buttock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93192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Rules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before cloudy: REGULAR first, then NPH ("R-N")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air into NPH first, then regular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mix long-acting (glargine) with anything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if discolored or expired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NPH is the only CLOUDY insulin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931920"/>
            <a:ext cx="73152" cy="2057400"/>
          </a:xfrm>
          <a:prstGeom prst="rect">
            <a:avLst/>
          </a:prstGeom>
          <a:solidFill>
            <a:srgbClr val="0B544F"/>
          </a:solidFill>
          <a:ln w="12700">
            <a:solidFill>
              <a:srgbClr val="0B54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Teaching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BG before meals &amp; at bedtime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signs of hypo- and hyperglycemia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carry a fast-acting carb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medical alert 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skip meals after rapid/short insulin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ANTIDIABETIC AGENTS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Drug Classes for Type 2 DM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83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Biguanides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Metformin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Hepatic glucose production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Cell sensitivity to insulin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with meals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24–48 hrs around IV contrast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lactic acidosis (renal/hepatic disease)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69164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7830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Sulfonylureas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2057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Glimepiride, Glyburide, Glipizide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7960" y="23317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Stimulate β cells to release insulin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HYPOGLYCEMIA, weight gain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alcohol (disulfiram-like reaction)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cautiously in elderly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93192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023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Thiazolidinediones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42976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Pioglitazone, Rosiglitazone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45720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Insulin sensitivity at receptor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fluid retention, heart failure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LFTs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onset (weeks)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3931920"/>
            <a:ext cx="73152" cy="2057400"/>
          </a:xfrm>
          <a:prstGeom prst="rect">
            <a:avLst/>
          </a:prstGeom>
          <a:solidFill>
            <a:srgbClr val="0B544F"/>
          </a:solidFill>
          <a:ln w="12700">
            <a:solidFill>
              <a:srgbClr val="0B54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40233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Agents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45720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DPP-4 inhibitors ("-gliptins"): sitagliptin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agonists: liraglutide, semaglutide (↓ weight)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SGLT2 inhibitors ("-flozins"): empagliflozin (↑ UTI risk)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Alpha-glucosidase inhibitors: acarbose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SPOTLIGHT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Metformin (Biguanide) — First-Line for Type 2 DM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Indication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Oral antidiabetic, biguanide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Indication: Type 2 DM, prediabetes, PCOS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FIRST-LINE in type 2 diabetes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9164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Hepatic glucose production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GI glucose absorption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Insulin sensitivity at peripheral cells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lower blood glucose without causing hypoglycemia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931920"/>
            <a:ext cx="73152" cy="2057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Effects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GI: nausea, diarrhea, metallic taste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B12 deficiency with chronic use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LACTIC ACIDOSIS — rare but life-threatening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↑ in renal or hepatic impairment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93192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Considerations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WITH FOOD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24 hrs BEFORE and 48 hrs AFTER IV contrast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BG, BUN, creatinine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in renal/hepatic disease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S/S of lactic acidosis (muscle pain, weakness)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 Management &amp; Education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simple carbs, prefer complex carbs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proteins &amp; non-starchy vegetables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carb intake at meals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saturated fats and added sugars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9164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 BEFORE exercising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when BG is at its peak (post-meal)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routine (avoid erratic patterns)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exercise if BG &lt;100 or &gt;250 with ketones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93192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Basal–bolus regimen common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Long-acting once daily for basal coverage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Rapid-acting with meals to cover carbs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insulin pump if appropriate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931920"/>
            <a:ext cx="73152" cy="2057400"/>
          </a:xfrm>
          <a:prstGeom prst="rect">
            <a:avLst/>
          </a:prstGeom>
          <a:solidFill>
            <a:srgbClr val="0B544F"/>
          </a:solidFill>
          <a:ln w="12700">
            <a:solidFill>
              <a:srgbClr val="0B54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&amp; Skin Care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foot inspection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well-fitting shoes; never go barefoot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skin moisturized — not between toes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foot exam, dilated eye exam, A1c every 3 months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PANCREAS • HYPER-INSULIN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Hypoglycemia (BG &lt; 70 mg/dL)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4480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&amp; Definition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food intake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insulin or sulfonylurea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physical exercise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use without food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 &lt; 70 mg/dL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434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&amp; Symptoms — "TIRED"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8463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— Tachycardia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Irritability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Restlessness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Excessive hunger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Diaphoresis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55080" y="1691640"/>
            <a:ext cx="5212080" cy="4480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691640"/>
            <a:ext cx="73152" cy="44805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15-15-15 Rule (Conscious)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224028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15 g rapid carbs (juice, soda, glucose tabs)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15 minutes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Recheck BG — if still &lt;70, repeat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BG normal: eat complex carb + protein (e.g., crackers + peanut butter)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4663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Unconscious Patient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50749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access → push D50W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IV → GLUCAGON IM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in side-lying position; protect airway</a:t>
            </a:r>
            <a:endParaRPr lang="en-US" sz="13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SPOTLIGHT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Glucagon — Hypoglycemia Rescue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Indication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Catabolic hormone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Indication: Severe hypoglycemia (when patient can't eat/drink)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when no IV access available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691640"/>
            <a:ext cx="73152" cy="2057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801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37960" y="219456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Stimulates the LIVER to break down glycogen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Glycogenolysis → glucose release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blood glucose within ~10–15 min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931920"/>
            <a:ext cx="73152" cy="2057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or SC injection — patient teaching critical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formulations: intranasal, auto-injector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patient in side-lying position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effect: nausea/vomiting (protect airway)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440680" cy="20574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3931920"/>
            <a:ext cx="73152" cy="2057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Considerations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awake — give complex carbs + protein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BG closely afterward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work if liver glycogen depleted (alcoholics, prolonged starvation)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family how to administer at home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REMINDER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Injection Angles &amp; Sites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520440" cy="4114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83080"/>
            <a:ext cx="73152" cy="4114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202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Subcutaneous (SubQ)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468880"/>
            <a:ext cx="3246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Angle: 45° (or 90° if pinched skin)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 up skin / fatty layer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insulin, heparin, glucagon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sites: abdomen, thigh, upper arm, lower loins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783080"/>
            <a:ext cx="3520440" cy="4114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783080"/>
            <a:ext cx="73152" cy="4114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9202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Intramuscular (IM)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2468880"/>
            <a:ext cx="3246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Angle: 90°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the skin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glucagon (emergency), vaccines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Sites: deltoid, vastus lateralis, ventrogluteal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520440" cy="4114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783080"/>
            <a:ext cx="73152" cy="4114800"/>
          </a:xfrm>
          <a:prstGeom prst="rect">
            <a:avLst/>
          </a:prstGeom>
          <a:solidFill>
            <a:srgbClr val="0B544F"/>
          </a:solidFill>
          <a:ln w="12700">
            <a:solidFill>
              <a:srgbClr val="0B54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19202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4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Insulin Site Tips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66760" y="2468880"/>
            <a:ext cx="3246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Abdomen absorbs FASTEST and most reliably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within an area (not random body parts)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injecting into scar tissue or lipohypertrophy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at least 1 inch from previous injection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4592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3840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10 NCLEX Pearls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46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44068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856232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828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Aldosterone bridges renal &amp; endocrine — RAAS keeps BP &amp; K⁺ in check.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856232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49440" y="1828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Addison's = SHOCK + low everything; Cushing's = excess + moon face/buffalo hump.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2606040"/>
            <a:ext cx="544068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2770632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2743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DI: ↓ ADH → dilute urine, hypernatremia. SIADH: ↑ ADH → concentrated urine, hyponatremia.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2606040"/>
            <a:ext cx="544068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770632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9440" y="2743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Hypothyroidism = SLOW &amp; cold; Hyperthyroidism = FAST &amp; hot. Watch for thyroid storm.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3520440"/>
            <a:ext cx="544068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3685032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25880" y="36576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Levothyroxine: empty stomach, same time daily, lifelong therapy.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63640" y="3520440"/>
            <a:ext cx="544068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3685032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9440" y="36576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PTH ↑ → ↑ Ca, ↓ phosphate. Calcitonin opposes PTH.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0080" y="4434840"/>
            <a:ext cx="544068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" y="4599432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325880" y="45720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DKA = type 1 + ketones; HHNS = type 2 + no ketones, slow onset, severe dehydration.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63640" y="4434840"/>
            <a:ext cx="544068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4599432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49440" y="45720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mixing: Regular FIRST, NPH second ("R-N"). Never mix glargine.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0080" y="5349240"/>
            <a:ext cx="544068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7240" y="5513832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325880" y="5486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Hypoglycemia: 15 g carbs, wait 15 min, recheck. Unconscious = D50W or IM glucagon.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263640" y="5349240"/>
            <a:ext cx="544068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0" y="5513832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949440" y="54864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Metformin: HOLD 24 hrs before &amp; 48 hrs after IV contrast — risk of lactic acidosis.</a:t>
            </a:r>
            <a:endParaRPr lang="en-US" sz="11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B54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011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22960" y="32918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CFB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You've now reviewed the endocrine system end-to-end.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4297680"/>
            <a:ext cx="3520440" cy="146304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4434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49377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NCLEX-style questions on each disorder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4297680"/>
            <a:ext cx="3520440" cy="146304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4434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00600" y="49377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hypo- vs. hyper- patterns side-by-side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321040" y="4297680"/>
            <a:ext cx="3520440" cy="146304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9640" y="4434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549640" y="49377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labs → S/S → priority nursing actions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6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• NCLEX Review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Endocrine System – NCLEX Review</dc:title>
  <dc:subject>PptxGenJS Presentation</dc:subject>
  <dc:creator>Nursing Education</dc:creator>
  <cp:lastModifiedBy>Nursing Education</cp:lastModifiedBy>
  <cp:revision>1</cp:revision>
  <dcterms:created xsi:type="dcterms:W3CDTF">2026-05-04T13:25:51Z</dcterms:created>
  <dcterms:modified xsi:type="dcterms:W3CDTF">2026-05-04T13:25:51Z</dcterms:modified>
</cp:coreProperties>
</file>