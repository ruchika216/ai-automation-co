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image" Target="../media/image-36-10.png"/><Relationship Id="rId11" Type="http://schemas.openxmlformats.org/officeDocument/2006/relationships/image" Target="../media/image-3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NCLEX REVIEW SERIES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Anatomy, Physiology, Pharmacology &amp; Clinical Disorders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4023360"/>
            <a:ext cx="18288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clinical review covering: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4846320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77316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physiology &amp; feedback regulation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5138928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0657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Adrenal, pituitary, thyroid, parathyroid &amp; pancreatic disorders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5431536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3583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pharmacology &amp; nursing implications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5724144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56509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complications — DKA, HHNS, thyroid storm, adrenal crisis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Saunders Comprehensive Review for NCLEX-RN® Examination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Review Covers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65960" y="1993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&amp; Organization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359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Glands, hormone chemistry, feedback regulation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828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828800"/>
            <a:ext cx="109728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608" y="1920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558888" y="1993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Hormones by Class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58888" y="2359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Steroids, catecholamines, ADH, thyroid, PTH, insulin, glucagon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71800"/>
            <a:ext cx="109728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65960" y="3136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 Disorders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65960" y="3502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Addison's, Cushing's, Conn's, Pheochromocytoma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3008" y="2971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3008" y="2971800"/>
            <a:ext cx="109728" cy="960120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608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58888" y="3136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Pituitary / ADH Disorders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58888" y="3502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Insipidus, SIADH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114800"/>
            <a:ext cx="10972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06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965960" y="4279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Disorders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65960" y="4645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Hypothyroidism, Hyperthyroidism, Graves', Thyroid Storm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3008" y="4114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3008" y="4114800"/>
            <a:ext cx="109728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1608" y="4206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558888" y="4279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 Disorders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58888" y="4645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Hypoparathyroidism, Hyperparathyroidism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257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257800"/>
            <a:ext cx="109728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349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965960" y="5422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965960" y="5788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1, Type 2, DKA, HHNS, Hypoglycemia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33008" y="5257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3008" y="5257800"/>
            <a:ext cx="109728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1608" y="5349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558888" y="5422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Pharmacology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58888" y="5788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Steroids, insulins, orals, antithyroids, hormone replacements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24602" y="0"/>
            <a:ext cx="4267093" cy="68580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291840"/>
            <a:ext cx="73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&amp;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Physiology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glands, hormones, and feedback mechanisms that regulate homeostasis, metabolism, growth, and reproduction.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· INTRODUCTION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Endocrine System?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9436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9436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endocrine system is a network of ductless glands that secrete chemical messengers called hormones directly into the bloodstream. Hormones travel to distant target tissues where they bind to specific receptors and regulate cellular activity.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Core Functions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0624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4160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Homeostasis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25880" y="4434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optimal blood glucose, fluid, electrolyte, and pH balance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77316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727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Metabolism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25880" y="5001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cellular metabolism, growth, and energy use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400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5294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5568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male and female reproductive systems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907024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861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Response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25880" y="61356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 glucose &amp; raise BP in emergencies (fight-or-flight)</a:t>
            </a:r>
            <a:endParaRPr lang="en-US" sz="10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554480"/>
            <a:ext cx="4754880" cy="4937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· Introduction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56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CATALOG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Glands &amp; Their Hormones — Master Reference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365760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Hormones Secreted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Hypothalamus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— above pituitary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TRH, CRH, GnRH, GHRH, Somatostatin, Dopamine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anterior pituitary 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 Pituitary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of brain (sella turcica)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TSH, ACTH, FSH, LH, GH, Prolactin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"Master gland" — regulates other glands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Pituitary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of brain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 (Vasopressin), Oxytocin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&amp; releases hypothalamic hormones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 neck, below larynx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 (Triiodothyronine), T₄ (Thyroxine), Calcitonin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Metabolism, growth, Ca²⁺ regulation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Parathyroid (×4)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surface of thyroid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Parathyroid Hormone (PTH)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Raises serum Ca²⁺ from bone, kidney, gut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Adrenal Cortex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to each kidney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Cortisol, Aldosterone, Androgens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response, Na/K balance, sex hormones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Adrenal Medulla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of adrenal gland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Epinephrine, Norepinephrine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Fight-or-flight sympathetic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Pancreas (Islets)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stomach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(β), Glucagon (α), Somatostatin (δ)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glucose homeostasis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Ovaries / Testes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Estrogen, Progesterone, Testosterone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Reproduction &amp; secondary sex characteristics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Catalog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BIOCHEMISTRY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 Chemistry — Three Classes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1525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3515258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 / Protein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1494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Insulin, Glucagon, ADH, Oxytocin, GH, TSH, ACTH, FSH, LH, Prolactin, PTH, Calcitonin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31494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8912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Water-soluble. Bind surface receptors. Fast onset, short duration. Cannot cross cell membrane.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53212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parenterally — stomach acid would destroy them.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38218" y="1737360"/>
            <a:ext cx="351525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38218" y="1737360"/>
            <a:ext cx="351525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1098" y="17373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Steroid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21098" y="251460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1098" y="2788920"/>
            <a:ext cx="31494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Cortisol, Aldosterone, Estrogen, Progesterone, Testosterone, Vitamin 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1098" y="4297680"/>
            <a:ext cx="31494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1098" y="438912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1098" y="466344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Lipid-soluble (cholesterol-derived). Bind intracellular/nuclear receptors. Slow onset, long duration.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1098" y="553212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1098" y="58064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Oral, IV, IM, topical. Cross cell membrane freely.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36357" y="1737360"/>
            <a:ext cx="351525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36357" y="1737360"/>
            <a:ext cx="3515258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9237" y="17373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Amine / Amino-Acid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19237" y="251460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19237" y="2788920"/>
            <a:ext cx="31494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T₃, T₄ (tyrosine-based), Epinephrine, Norepinephrine, Dopamine, Melatonin, Serotonin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19237" y="4297680"/>
            <a:ext cx="31494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9237" y="438912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19237" y="466344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Varied: thyroid hormones lipid-soluble (nuclear), catecholamines water-soluble (surface).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19237" y="5532120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19237" y="58064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hormones oral; catecholamines IV only (destroyed orally).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Chemistry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Feedback Regulation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9436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691640"/>
            <a:ext cx="470916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40880" y="1874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Hormones Stay in Range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40880" y="22860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endocrine systems are regulated by negative feedback — rising hormone levels (or the response they produce) shut off further secretion, keeping values within a narrow range.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33832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Example — Thyroid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40880" y="3794760"/>
            <a:ext cx="228600" cy="22860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3776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T₃/T₄ in blood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40880" y="4114800"/>
            <a:ext cx="228600" cy="22860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4096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6092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releases TRH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040880" y="4434840"/>
            <a:ext cx="228600" cy="22860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4416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60920" y="4389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releases TSH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040880" y="4754880"/>
            <a:ext cx="228600" cy="22860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4736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60920" y="4709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secretes T₃/T₄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040880" y="5074920"/>
            <a:ext cx="228600" cy="22860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5056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60920" y="5029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T₃/T₄ inhibits TRH &amp; TSH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040880" y="5577840"/>
            <a:ext cx="4343400" cy="64008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78040" y="562356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exception: </a:t>
            </a:r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drives oxytocin release during labor &amp; milk let-down.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Regulation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Glands — Labeled Anatomy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554480"/>
            <a:ext cx="758952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GLANDS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Hypothalamus &amp; Pituitary Gland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58368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691640"/>
            <a:ext cx="4480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0" y="1691640"/>
            <a:ext cx="44805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Hypothalamus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0664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Neuroendocrine command center linking the nervous and endocrine systems.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2880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Releases: TRH · CRH · GnRH · GHRH · Dopamine · Somatostatin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06640" y="3291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regulates: temperature, thirst, hunger, sleep-wake cycle, emotion.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23760" y="4023360"/>
            <a:ext cx="44805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23760" y="4023360"/>
            <a:ext cx="4480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Pituitary Gland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06640" y="4572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(adenohypophysis):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TSH, ACTH, FSH, LH, GH, Prolactin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06640" y="5257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(neurohypophysis):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releases ADH + Oxytocin (made in hypothalamus)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06640" y="5943600"/>
            <a:ext cx="4160520" cy="365760"/>
          </a:xfrm>
          <a:prstGeom prst="rect">
            <a:avLst/>
          </a:prstGeom>
          <a:solidFill>
            <a:srgbClr val="FBEAEC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5943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Head trauma, sinus/pituitary surgery → risk of ADH disturbance (DI/SIADH)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&amp; Pituitary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&amp; Parathyroid Glands — Anatomy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4008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691640"/>
            <a:ext cx="46634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0" y="1691640"/>
            <a:ext cx="46634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Gland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269480" y="2331720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Butterfly-shaped — two lobes connected by isthmus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69480" y="2715768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2670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to trachea, inferior to larynx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3099816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3054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vascular (one of most vascular organs)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69480" y="3483864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438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Hormones: T₃, T₄ (iodine-dependent), Calcitonin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40880" y="4114800"/>
            <a:ext cx="4663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40880" y="4114800"/>
            <a:ext cx="46634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2376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 Glands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269480" y="4754880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4709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tiny glands on posterior thyroid surface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9480" y="5138928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5093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grains of rice (~6 mm)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269480" y="5522976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0" y="5477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Parathyroid Hormone (PTH) — raises serum Ca²⁺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69480" y="5907024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5861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 risk during thyroidectomy → hypocalcemia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Anatomy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GLANDS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Cortex, Medulla &amp; Their Hormones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8580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69164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52360" y="1691640"/>
            <a:ext cx="42519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 CORTEX (outer)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3524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"Salt, Sugar, Sex"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outer to inner: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3524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Zona glomerulosa →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Zona fasciculata →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3524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Zona reticularis →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52360" y="374904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52360" y="3749040"/>
            <a:ext cx="4251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 MEDULLA (inner)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3524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sympathetic ganglion — secretes 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35240" y="4800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Epinephrine (80%) — metabolic + cardiac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35240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Norepinephrine (20%) — vasoconstriction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52360" y="5715000"/>
            <a:ext cx="4251960" cy="594360"/>
          </a:xfrm>
          <a:prstGeom prst="rect">
            <a:avLst/>
          </a:prstGeom>
          <a:solidFill>
            <a:srgbClr val="EFF4FB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5760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GFR = Glomerulosa · Fasciculata · Reticularis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43800" y="6035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Mineralocorticoid · Glucocorticoid · Gonadocorticoid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Anatomy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Function — Islets of Langerhans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91640"/>
            <a:ext cx="3108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95360" y="1691640"/>
            <a:ext cx="3108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1828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α-cells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32520" y="21945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islet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GLUCAGON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blood glucose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(glycogenolysis in liver)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95360" y="3977640"/>
            <a:ext cx="31089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95360" y="3977640"/>
            <a:ext cx="310896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4114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β-cells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32520" y="448056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islet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INSULIN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blood glucose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(glucose into cells, glycogen storage)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669280"/>
            <a:ext cx="7863840" cy="777240"/>
          </a:xfrm>
          <a:prstGeom prst="rect">
            <a:avLst/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064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5760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Fasting Blood Glucose: 70–110 mg/dL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371600" y="6080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and glucagon operate in opposition to maintain tight glucose control.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 HORMONES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Produced by the Adrenal Cortex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15258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351525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Glucocorticoids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71600" y="21488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(main)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6517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" y="3044952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blood glucose (gluconeogenesis)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3611880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53872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fats &amp; proteins for energy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4178808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4105656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inflammation &amp; immune response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4745736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8992" y="4672584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mood, cognition, sleep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5312664"/>
            <a:ext cx="137160" cy="13716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78992" y="52395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insulin action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38218" y="1691640"/>
            <a:ext cx="3515258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38218" y="1691640"/>
            <a:ext cx="3515258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18" y="1892808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69738" y="182880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Mineralocorticoids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5069738" y="21488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21098" y="26517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66818" y="3044952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77130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sodium &amp; water in kidneys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66818" y="3611880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77130" y="353872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Excrete potassium &amp; hydrogen ions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66818" y="4178808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77130" y="4105656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blood volume &amp; blood pressure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566818" y="4745736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77130" y="4672584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RAAS pathway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66818" y="5312664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77130" y="52395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link to renal system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036357" y="1691640"/>
            <a:ext cx="3515258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036357" y="1691640"/>
            <a:ext cx="3515258" cy="777240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957" y="1892808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767877" y="182880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 Hormones</a:t>
            </a:r>
            <a:endParaRPr lang="en-US" sz="1700" dirty="0"/>
          </a:p>
        </p:txBody>
      </p:sp>
      <p:sp>
        <p:nvSpPr>
          <p:cNvPr id="41" name="Text 36"/>
          <p:cNvSpPr/>
          <p:nvPr/>
        </p:nvSpPr>
        <p:spPr>
          <a:xfrm>
            <a:off x="8767877" y="21488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Androgens, small amounts estrogen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8219237" y="26517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8264957" y="3044952"/>
            <a:ext cx="137160" cy="137160"/>
          </a:xfrm>
          <a:prstGeom prst="oval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475269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androgens: DHEA, androstenedione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264957" y="3611880"/>
            <a:ext cx="137160" cy="137160"/>
          </a:xfrm>
          <a:prstGeom prst="oval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475269" y="353872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gonadal output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8264957" y="4178808"/>
            <a:ext cx="137160" cy="137160"/>
          </a:xfrm>
          <a:prstGeom prst="oval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8475269" y="4105656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pubic &amp; axillary hair in females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264957" y="4745736"/>
            <a:ext cx="137160" cy="137160"/>
          </a:xfrm>
          <a:prstGeom prst="oval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475269" y="4672584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→ hirsutism, virilization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8264957" y="5312664"/>
            <a:ext cx="137160" cy="137160"/>
          </a:xfrm>
          <a:prstGeom prst="oval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75269" y="52395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testosterone / estrogen peripherally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 Hormones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56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Epinephrine &amp; Norepinephrine — Fight-or-Flight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822960"/>
          </a:xfrm>
          <a:prstGeom prst="rect">
            <a:avLst/>
          </a:prstGeom>
          <a:solidFill>
            <a:srgbClr val="EFF4FB"/>
          </a:solidFill>
          <a:ln w="9525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0136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from adrenal MEDULLA during stress. Activate α- and β-adrenergic receptors throughout the body to mobilize glucose and raise cardiac output.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5577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697480"/>
            <a:ext cx="55778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880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Norepinephrine (Noradrenaline)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effect: α₁ adrenergic — potent VASOCONSTRICTOR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703320"/>
            <a:ext cx="73152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703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Blood pressure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05840" y="3904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Vasoconstriction of arteries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" y="4197096"/>
            <a:ext cx="73152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1970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Pupil dilation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05840" y="4398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Mydriasis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4690872"/>
            <a:ext cx="73152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4690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Cardiac contractility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05840" y="4892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heart contraction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2960" y="5184648"/>
            <a:ext cx="73152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5184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GI motility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05840" y="5385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Diverts blood from gut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2960" y="5678424"/>
            <a:ext cx="73152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56784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use: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05840" y="5879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pressor in septic/neurogenic shock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00800" y="2697480"/>
            <a:ext cx="53035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00800" y="2697480"/>
            <a:ext cx="5303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Epinephrine (Adrenaline)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58368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α + β effects — cardiac, metabolic, bronchodilator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83680" y="3703320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Metabolism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766560" y="3904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energy mobilization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583680" y="4197096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66560" y="4197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Blood glucose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766560" y="43982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Glycogenolysis + lipolysis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583680" y="4690872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0" y="4690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Inhibits insulin release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76656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circulating glucose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583680" y="5184648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66560" y="5184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Bronchodilation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6766560" y="53858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β₂ — opens airways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583680" y="5678424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0" y="5678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use: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766560" y="5879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Anaphylaxis, cardiac arrest, severe asthma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/ VASOPRESSIN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Antidiuretic Hormone — Water Balance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76072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7607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&amp; 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(supraoptic nuclei)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Stored/released: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54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plasma osmolality or ↓ blood volume/BP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Effects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73152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reabsorption 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V2 receptors in renal collecting ducts → inserts aquaporin-2 channels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846320"/>
            <a:ext cx="73152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846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Urine volume ↓ / concentration 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5120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volume of concentrated urine produced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5532120"/>
            <a:ext cx="73152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532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Vasoconstriction (high doses)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806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receptors on arteriolar smooth muscle — raises BP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1691640"/>
            <a:ext cx="51206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691640"/>
            <a:ext cx="51206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Conditions That Disrupt ADH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0" y="2377440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Craniotomy / neurosurgery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2743200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Traumatic brain injury (TBI)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3108960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tumor or apoplexy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66560" y="3474720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Transsphenoidal/sinus surgery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66560" y="3840480"/>
            <a:ext cx="137160" cy="137160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Meningitis, encephalitis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434340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0" y="4343400"/>
            <a:ext cx="24688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ADH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Insipidus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766560" y="5715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Polyuria, dilute urine, dehydration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235440" y="434340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5440" y="4343400"/>
            <a:ext cx="24688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ADH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418320" y="4846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SIADH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418320" y="5349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retention, hyponatremia, ↓ UOP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Physiology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REGULATION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 Hormone (PTH) — ↑ Serum Ca²⁺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3949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&amp; Regulation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Secreted by: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parathyroid glands (posterior thyroid)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serum calcium (hypocalcemia)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540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 by: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Ca²⁺ (negative feedback)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381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Ca²⁺: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8.6–10.0 mg/dL (total)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Target Sites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4754880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Stimulates osteoclasts → releases Ca²⁺ into blood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257800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257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Ca²⁺ reabsorption, ↑ phosphate excretion, ↑ calcitriol production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5760720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760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GUT (indirect)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51560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active vitamin D → ↑ dietary Ca²⁺ absorption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539496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691640"/>
            <a:ext cx="539496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Calcitonin — Opposing Hormone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92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Secreted by: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parafollicular C-cells of thyroid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670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Ca²⁺ (hypercalcemia)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0540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serum Ca²⁺ (opposite of PTH)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4233672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osteoclasts → ↓ bone resorption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4645152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urinary Ca²⁺ excretion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5056632"/>
            <a:ext cx="137160" cy="13716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use: hypercalcemia of malignancy, Paget's disease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5486400"/>
            <a:ext cx="5029200" cy="777240"/>
          </a:xfrm>
          <a:prstGeom prst="rect">
            <a:avLst/>
          </a:prstGeom>
          <a:solidFill>
            <a:srgbClr val="EFF4FB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5532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29400" y="57790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and calcitonin work in opposition — a calcium thermostat keeping Ca²⁺ between 8.6–10.0 mg/dL.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&amp; Calcitonin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— The Only Hormone That Lowers BG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0911535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846320"/>
            <a:ext cx="351525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846320"/>
            <a:ext cx="351525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1206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5074920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Glucose Uptake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63040" y="5394960"/>
            <a:ext cx="2600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GLUT-4 transporters in muscle &amp; fat cells, allowing glucose entry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38218" y="4846320"/>
            <a:ext cx="351525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38218" y="4846320"/>
            <a:ext cx="351525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206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61178" y="5074920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Glycogen Storage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1178" y="5394960"/>
            <a:ext cx="2600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converts glucose → glycogen for storage (glycogenesis)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36357" y="4846320"/>
            <a:ext cx="351525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36357" y="4846320"/>
            <a:ext cx="351525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7" y="51206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59317" y="5074920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Anabolic Effects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859317" y="5394960"/>
            <a:ext cx="2600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protein synthesis, lipogenesis, K⁺ shift into cells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Physiology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56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Glucagon — Raises BG During Fasting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76072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7607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&amp; Trigger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Secreted by: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α-cells of pancreatic islets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blood glucose, fasting, exercise, stress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54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 insulin —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to raise blood glucose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Mechanisms of Action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73152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251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Glycogenolysis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liver glycogen → glucose released into blood (fast)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910328"/>
            <a:ext cx="73152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910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Gluconeogenesis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51846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synthesizes new glucose from amino acids, lactate, glycerol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5568696"/>
            <a:ext cx="73152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5686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Ketogenesis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58430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fasting → liver produces ketones as alternate fuel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1691640"/>
            <a:ext cx="512064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691640"/>
            <a:ext cx="512064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Use — Emergency Hypoglycemia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331720"/>
            <a:ext cx="731520" cy="7315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58952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Glucagon 1 mg IM/SC/IN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8952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when patient is UNCONSCIOUS and cannot swallow safely.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6656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Nursing Essentials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12280" y="3977640"/>
            <a:ext cx="137160" cy="137160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patient on side — vomiting is a common response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812280" y="4416552"/>
            <a:ext cx="137160" cy="137160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40880" y="4325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response within 15 minutes; may repeat × 1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812280" y="4855464"/>
            <a:ext cx="137160" cy="137160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40880" y="47640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conscious → give complex carbohydrate (crackers + protein)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812280" y="5294376"/>
            <a:ext cx="137160" cy="137160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40880" y="52029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adequate liver glycogen — ineffective in chronic alcoholism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812280" y="5733288"/>
            <a:ext cx="137160" cy="137160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40880" y="5641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BG every 15 min until stable above 70 mg/dL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Glucagon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HPT AXIS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Feedback Loop — TRH · TSH · T₃ · T₄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21792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691640"/>
            <a:ext cx="45720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0" y="1691640"/>
            <a:ext cx="4572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Lab Values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60920" y="2331720"/>
            <a:ext cx="7315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32520" y="2331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– 4.0 mIU/L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380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 hypothyroid, ↓ in hyperthyroid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60920" y="3017520"/>
            <a:ext cx="7315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32520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– 1.8 ng/dL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438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unbound form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60920" y="3703320"/>
            <a:ext cx="7315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T₃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732520" y="3703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200 ng/dL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4380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Metabolically most active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60920" y="4389120"/>
            <a:ext cx="7315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43800" y="4389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Anti-TPO Ab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732520" y="4389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normally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380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 Hashimoto's / Graves'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0" y="5303520"/>
            <a:ext cx="4297680" cy="960120"/>
          </a:xfrm>
          <a:prstGeom prst="rect">
            <a:avLst/>
          </a:prstGeom>
          <a:solidFill>
            <a:srgbClr val="CFFAFE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2360" y="5376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 — Inverse Relationship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452360" y="56509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is inversely proportional to T₃/T₄.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T₃/T₄ ⇒ ↓ TSH (hyperthyroid)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T₃/T₄ ⇒ ↑ TSH (hypothyroid)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HPT Axis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&amp; FLUID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Renin–Angiotensin–Aldosterone System (RAAS)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77295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349240"/>
            <a:ext cx="351525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5349240"/>
            <a:ext cx="351525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321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Addison's Disease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824728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Aldosterone → Na/H₂O loss, K⁺ retention, hypotension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8218" y="5349240"/>
            <a:ext cx="351525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8218" y="5349240"/>
            <a:ext cx="351525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1098" y="55321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Conn's Syndrome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21098" y="5824728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Aldosterone → Na/H₂O retention, hypokalemia, hypertension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36357" y="5349240"/>
            <a:ext cx="351525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36357" y="5349240"/>
            <a:ext cx="351525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9237" y="55321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Inhibitors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19237" y="5824728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angiotensin II → vasodilation, lower BP (-pril drugs)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RAAS Pathway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24602" y="0"/>
            <a:ext cx="4267093" cy="68580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291840"/>
            <a:ext cx="731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Disorders &amp;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Pharmacology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presentations, diagnostic work-up, medical management, nursing interventions, and acute complications across all endocrine glands.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Disorders — Deficit vs. Excess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4688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Gland / Hormone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1691640"/>
            <a:ext cx="42062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DEFICIT (↓)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1691640"/>
            <a:ext cx="420624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 (↑)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4688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40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(Adrenal Cortex)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2194560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Addison's — fatigue, hypotension, bronze skin, hypoNa, hyperK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06640" y="2194560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Cushing's — moon face, buffalo hump, striae, hyperglycemia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761488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072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276148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807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Hypoaldosteronism — hyperK, hypoNa, acidosis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06640" y="276148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807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Conn's — hypertension, hypokalemia, alkalosis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328416"/>
            <a:ext cx="24688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7413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Catecholamines (Medulla)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328416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37413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orthostatic hypotension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3328416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337413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Pheochromocytoma — episodic HTN, palpitations, sweating, HA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895344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410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Hormones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389534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9410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Hypothyroidism — fatigue, weight gain, cold, bradycardia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06640" y="389534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9410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Hyperthyroidism / Graves' — weight loss, heat, tachycardia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4462272"/>
            <a:ext cx="24688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079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54680" y="4462272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5079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Hypoparathyroidism — tetany, Chvostek/Trousseau, hypocalcemia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06640" y="4462272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45079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Hyperparathyroidism — stones, bones, groans, moans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5029200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0749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54680" y="502920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5074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Insipidus — polyuria (&gt;3 L/day), polydipsia, hyperNa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06640" y="502920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5074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SIADH — water retention, hyponatremia, concentrated urine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" y="5596128"/>
            <a:ext cx="24688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6418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154680" y="5596128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56418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Mellitus — hyperglycemia, polyuria/dipsia, DKA, HHNS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06640" y="5596128"/>
            <a:ext cx="42062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56418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 — shaky, sweaty, confused, seizures, coma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Overview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INSUFFICIENCY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Addison's Disease — Primary Adrenal Failure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685800"/>
          </a:xfrm>
          <a:prstGeom prst="rect">
            <a:avLst/>
          </a:prstGeom>
          <a:solidFill>
            <a:srgbClr val="FBEA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destruction (most common) or TB/hemorrhage destroys adrenal cortex → deficiency of CORTISOL + ALDOSTERONE + adrenal androgens.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5778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14600"/>
            <a:ext cx="55778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08152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Hypotension, orthostatic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308152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Sodium (hyponatremia)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63016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Potassium (hyperkalemia)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363016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17880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muscle weakness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417880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loss, anorexia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72744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N/V, abdominal pain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472744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hyperpigmentation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527608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Aldosterone → Na/H₂O loss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527608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craving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82472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5760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Menstrual changes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29000" y="582472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5760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Depression, irritability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2514600"/>
            <a:ext cx="5303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251460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651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&amp; Management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Tests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0" y="32918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ACTH stimulation test (gold standard)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cortisol, ↓ aldosterone, ↑ ACTH (primary)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Na⁺, ↑ K⁺, ↓ glucose, metabolic acidosis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0" y="4343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(Lifelong)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0" y="46177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Hydrocortisone (glucocorticoid) PO daily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Fludrocortisone (mineralocorticoid) daily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 dose during illness/surgery ("stress dosing")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Diet: high sodium, adequate fluids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Wear medical ID bracelet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Addison's Disease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Addisonian Crisis — Life-Threatening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55648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EMERGENCY — ACUTE ADRENAL CRISIS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14884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cortisol deficiency. Can follow acute illness, trauma, abrupt steroid withdrawal, or surgery in untreated Addison's.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37490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69748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26440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32004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steroid stop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14600" y="326440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15768" y="32004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infection/sepsis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2960" y="427024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42062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trauma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14600" y="427024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15768" y="42062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surgery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" y="527608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52120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bleed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514600" y="527608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15768" y="52120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26280" y="2697480"/>
            <a:ext cx="37490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26280" y="2697480"/>
            <a:ext cx="37490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709160" y="326440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0328" y="320040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hypotension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00800" y="326440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01968" y="320040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Profound weakness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709160" y="401878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10328" y="395478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pain, N/V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00800" y="401878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01968" y="395478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fever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709160" y="477316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10328" y="470916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→ coma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400800" y="477316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01968" y="470916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709160" y="552754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10328" y="546354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400800" y="5527548"/>
            <a:ext cx="118872" cy="118872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01968" y="5463540"/>
            <a:ext cx="1463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412480" y="2697480"/>
            <a:ext cx="3291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412480" y="2697480"/>
            <a:ext cx="329184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4964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Rx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595360" y="3273552"/>
            <a:ext cx="128016" cy="128016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796528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hydrocortisone 100 mg STAT, then q6h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595360" y="3749040"/>
            <a:ext cx="128016" cy="128016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96528" y="3675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normal saline (0.9% NS) for volume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595360" y="4224528"/>
            <a:ext cx="128016" cy="128016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796528" y="41513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Dextrose IV for hypoglycemia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595360" y="4700016"/>
            <a:ext cx="128016" cy="128016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796528" y="46268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hyperkalemia if severe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595360" y="5175504"/>
            <a:ext cx="128016" cy="128016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796528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treat underlying cause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595360" y="5650992"/>
            <a:ext cx="128016" cy="128016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96528" y="5577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monitoring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Addisonian Crisis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56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NCLEX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Fluid of Choice for Addisonian Crisis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10911535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0136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Vignette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10312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Addison's disease presents to the ED with BP 76/44, pulse 132, mental status changes, and a recent viral illness. The provider suspects acute adrenal crisis. Which IV fluid should the nurse anticipate administering first?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1091153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383280"/>
            <a:ext cx="365760" cy="365760"/>
          </a:xfrm>
          <a:prstGeom prst="oval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D5W (5% dextrose in water)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80160" y="3611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Hypotonic — worsens hyponatremia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995928"/>
            <a:ext cx="1091153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133088"/>
            <a:ext cx="365760" cy="365760"/>
          </a:xfrm>
          <a:prstGeom prst="oval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40873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0.45% Normal Saline (½ NS)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80160" y="43616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Hypotonic — inadequate volume support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745736"/>
            <a:ext cx="10911535" cy="64008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4882896"/>
            <a:ext cx="365760" cy="365760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80160" y="48371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0.9% Normal Saline (NS)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80160" y="51114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— restores volume AND corrects hyponatremia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82896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818120" y="4910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818120" y="5093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0.9% NS is isotonic — provides rapid volume replacement without worsening the hyponatremia.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40080" y="5495544"/>
            <a:ext cx="1091153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22960" y="5632704"/>
            <a:ext cx="365760" cy="365760"/>
          </a:xfrm>
          <a:prstGeom prst="oval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2960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1280160" y="55869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Lactated Ringer's (LR)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280160" y="5861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K⁺ — worsens hyperkalemia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NCLEX Question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56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EXCESS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Cushing's Syndrome / Disease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77724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Cushing's SYNDROME —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chronic cortisol excess (most often exogenous steroid therapy).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Cushing's DISEASE —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adenoma → ↑ ACTH → ↑ cortisol.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5778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55778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Signs &amp; Symptoms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089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face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31729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1089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 hump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7063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6423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Truncal obesity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37063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36423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extremities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2397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1757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striae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42397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41757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fragility, bruising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7731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7091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47731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47091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53065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2425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Hypokalemia, hypernatremia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53065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52425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Osteoporosis, fractures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8399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57759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Immunosuppression → infections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29000" y="58399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57759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changes, psychosis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2606040"/>
            <a:ext cx="5303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260604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3017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24-hr urinary free cortisol (↑)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Late-night salivary cortisol (↑)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Dexamethasone suppression test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Plasma ACTH level → localize source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0" y="4343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— By Cause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0" y="46634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Iatrogenic → taper steroids slowly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Pituitary adenoma → transsphenoidal surgery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Adrenal tumor → adrenalectomy (lifelong replacement may be needed)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Ectopic ACTH → treat primary tumor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Ketoconazole or mitotane to block cortisol synthesis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Cushing's Syndrome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Corticosteroids — Nursing Implications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25014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262501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Hydrocortisone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25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Short-acting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225925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dose in Addison's. Preferred in acute adrenal crisis.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2259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Half-life: 8–12 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2254" y="1691640"/>
            <a:ext cx="2625014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02254" y="1691640"/>
            <a:ext cx="262501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5134" y="187452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Prednisone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5134" y="2240280"/>
            <a:ext cx="225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Intermediate-acting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85134" y="2514600"/>
            <a:ext cx="225925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5134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PO steroid. Used for inflammation, autoimmune, asthma.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85134" y="3657600"/>
            <a:ext cx="2259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Half-life: 12–36 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1691640"/>
            <a:ext cx="2625014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4428" y="1691640"/>
            <a:ext cx="262501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7308" y="187452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Methylprednisolone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7308" y="2240280"/>
            <a:ext cx="225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Intermediate-acting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47308" y="2514600"/>
            <a:ext cx="225925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7308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Solu-Medrol in acute exacerbations (asthma, MS, anaphylaxis).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7308" y="3657600"/>
            <a:ext cx="2259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Half-life: 12–36 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26601" y="1691640"/>
            <a:ext cx="2625014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26601" y="1691640"/>
            <a:ext cx="262501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481" y="1874520"/>
            <a:ext cx="2259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Dexamethasone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09481" y="2240280"/>
            <a:ext cx="225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Long-acting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09481" y="2514600"/>
            <a:ext cx="225925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09481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edema, chemo-induced N/V, dexamethasone suppression test.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09481" y="3657600"/>
            <a:ext cx="2259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Half-life: 36–54 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114800"/>
            <a:ext cx="55778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114800"/>
            <a:ext cx="55778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251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Adverse Effects (Long-term)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468172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4617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74720" y="468172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4617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Hypokalemia, hypernatremia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" y="500176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937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74720" y="500176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4937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Cushingoid features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" y="532180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5257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Immunosuppression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0" y="532180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5257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wound healing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2960" y="564184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5577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Peptic ulcer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474720" y="564184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5577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changes, insomnia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22960" y="596188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" y="5897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Cataracts, glaucoma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474720" y="596188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5897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suppression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400800" y="4114800"/>
            <a:ext cx="53035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00800" y="4114800"/>
            <a:ext cx="530352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Nursing Teaching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629400" y="4681728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 abruptly — taper gradually to avoid adrenal crisis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629400" y="4965192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12280" y="4901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food — reduces GI irritation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629400" y="5248656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12280" y="5184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 AM to mimic natural cortisol rhythm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629400" y="5532120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5468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BG, BP, weight, signs of infection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629400" y="5815584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12280" y="5751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doses needed for illness, surgery, trauma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629400" y="6099048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1228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medical ID, wear bracelet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Corticosteroids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 EXCESS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Conn's Syndrome (Primary Hyperaldosteronism)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77724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adenoma or hyperplasia produces EXCESS ALDOSTERONE → kidney retains Na⁺ and water, excretes K⁺ and H⁺. Classic secondary cause of hypertension in young adults.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5778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55778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(resistant to Rx)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317296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Hypokalemia — muscle weakness, cramps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1304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Hypernatremia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381304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alkalosis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45312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389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 &amp; polydipsia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4453128"/>
            <a:ext cx="118872" cy="118872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4389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Headache, cardiac arrhythmias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2606040"/>
            <a:ext cx="5303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60604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Work-up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310896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Plasma aldosterone/renin ratio — ↑ ratio suggests Conn's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Serum K⁺ &lt; 3.5 mEq/L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24-hr urine aldosterone (↑)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CT/MRI adrenals to localize adenoma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Adrenal venous sampling if needed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10911535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5212080"/>
            <a:ext cx="10911535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49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" y="5715000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66928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Unilateral adrenalectomy (curative for adenoma)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925312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87959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 antagonists — spironolactone or eplerenone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6135624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608990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replacement, low-sodium diet, BP control (multiple agents)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Conn's Syndrome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 EXCESS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Pheochromocytoma — Adrenal Medullary Tumor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777240"/>
          </a:xfrm>
          <a:prstGeom prst="rect">
            <a:avLst/>
          </a:prstGeom>
          <a:solidFill>
            <a:srgbClr val="FBEA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Catecholamine-secreting tumor of the adrenal medulla (chromaffin cells). Episodic release of epinephrine/norepinephrine causes paroxysmal hypertensive crises.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6576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36576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"5 P's"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200400"/>
            <a:ext cx="9144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(episodic or sustained)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767328"/>
            <a:ext cx="9144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headaches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334256"/>
            <a:ext cx="9144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34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Perspiration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Diaphoresis, flushing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4901184"/>
            <a:ext cx="9144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901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Palpitations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5157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Tachycardia, arrhythmias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5468112"/>
            <a:ext cx="9144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468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Pallor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724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Vasoconstriction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2606040"/>
            <a:ext cx="36576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2606040"/>
            <a:ext cx="36576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Tests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3273552"/>
            <a:ext cx="109728" cy="109728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24-hr urine VMA (vanillylmandelic acid) — 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749040"/>
            <a:ext cx="109728" cy="109728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24-hr urine metanephrines — 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4224528"/>
            <a:ext cx="109728" cy="109728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151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free metanephrines — most sensitive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700016"/>
            <a:ext cx="109728" cy="109728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626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 adrenals to localize tumor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5175504"/>
            <a:ext cx="109728" cy="109728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5102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MIBG scan for metastases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5650992"/>
            <a:ext cx="109728" cy="109728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testing (MEN 2, VHL syndromes)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0" y="2606040"/>
            <a:ext cx="34747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2606040"/>
            <a:ext cx="347472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Rx Order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412480" y="3200400"/>
            <a:ext cx="3108960" cy="548640"/>
          </a:xfrm>
          <a:prstGeom prst="rect">
            <a:avLst/>
          </a:prstGeom>
          <a:solidFill>
            <a:srgbClr val="FBEA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32461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α-blocker FIRST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03920" y="3493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(phenoxybenzamine)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3840480"/>
            <a:ext cx="3108960" cy="502920"/>
          </a:xfrm>
          <a:prstGeom prst="rect">
            <a:avLst/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38862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β-blocker AFTER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03920" y="40965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once α-blockade is effective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41248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Adrenalectomy (curative)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412480" y="4846320"/>
            <a:ext cx="3108960" cy="1417320"/>
          </a:xfrm>
          <a:prstGeom prst="rect">
            <a:avLst/>
          </a:prstGeom>
          <a:solidFill>
            <a:srgbClr val="FBEA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4892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WHY THE ORDER MATTERS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03920" y="514807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β-blocker first would allow unopposed α-stimulation → severe hypertensive crisis. α-blocker must be in place to prevent this.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Pheochromocytoma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 Disorders — Side-by-Side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0116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88336" y="1691640"/>
            <a:ext cx="17373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88336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1691640"/>
            <a:ext cx="3657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S/S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6448" y="1691640"/>
            <a:ext cx="21945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387584" y="1691640"/>
            <a:ext cx="12801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87584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20116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Addison's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88336" y="2194560"/>
            <a:ext cx="1737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9776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Cortisol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Aldosterone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62272" y="2194560"/>
            <a:ext cx="3657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Hypotension, bronzing, fatigue, hypoNa, hyperK, hypoglycemia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56448" y="219456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2240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cortisol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ACTH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87584" y="2194560"/>
            <a:ext cx="12801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79024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 diet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9718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017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Addisonian Crisis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88336" y="297180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9776" y="30175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cortisol loss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62272" y="297180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3017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Shock, coma, severe hypotension, fever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56448" y="297180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Na, ↑ 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387584" y="297180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79024" y="30175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HC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+ 0.9% 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749040"/>
            <a:ext cx="20116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794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Cushing's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88336" y="3749040"/>
            <a:ext cx="1737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9776" y="3794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Cortisol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62272" y="3749040"/>
            <a:ext cx="3657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53712" y="3794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face, buffalo hump, striae, HTN, hyperglycemia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56448" y="374904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3794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urine cortisol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387584" y="3749040"/>
            <a:ext cx="12801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79024" y="37947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/ taper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452628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572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Conn's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88336" y="452628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79776" y="4572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Aldosterone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62272" y="452628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53712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HTN, hypokalemia, muscle weakness, alkalosis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56448" y="452628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4572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aldosterone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K⁺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387584" y="452628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79024" y="45720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spironolactone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5303520"/>
            <a:ext cx="20116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5349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Pheochromocytoma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88336" y="5303520"/>
            <a:ext cx="1737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79776" y="5349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Catecholamines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462272" y="5303520"/>
            <a:ext cx="3657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53712" y="5349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Paroxysmal HTN, HA, sweating, palpitations, pallor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56448" y="530352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47888" y="5349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urine VMA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metanephrines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387584" y="5303520"/>
            <a:ext cx="12801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479024" y="5349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α-block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β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Summary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ADH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Insipidus (DI)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777240"/>
          </a:xfrm>
          <a:prstGeom prst="rect">
            <a:avLst/>
          </a:prstGeom>
          <a:solidFill>
            <a:srgbClr val="CFFAFE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ADH production/release (pituitary damage, tumor, surgery).   </a:t>
            </a:r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Nephrogenic DI: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 unresponsive to ADH (lithium toxicity, hypercalcemia).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5778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557784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 (&gt;3 L/day, up to 20 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317296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polydipsia (thirst)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1304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 urine (SG &lt; 1.005)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381304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sodium (hypernatremia)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45312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389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osmolality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445312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4389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Dehydration, weight loss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09320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029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Hypotension, tachycardia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509320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5029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changes if severe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573328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669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constipation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5733288"/>
            <a:ext cx="118872" cy="118872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5669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Nocturia, preference for cold water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2606040"/>
            <a:ext cx="5303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260604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&amp; Treatment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Tests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3383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 deprivation test (no ↑ urine osmolality)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Desmopressin challenge — distinguishes central vs nephrogenic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↑ serum Na (&gt;145), ↑ serum osm, ↓ urine osm/SG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DESMOPRESSIN (DDAVP)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synthetic ADH (intranasal, PO, SC)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I&amp;O monitoring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weights (1 kg = 1 L fluid)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Nephrogenic DI: thiazides, low-salt diet, NSAIDs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0" y="6035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 for water intoxication with desmopressin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Insipidus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SPOTLIGHT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Desmopressin (DDAVP) — Synthetic ADH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0292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Desmopressin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(DDAVP, Stimate)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834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081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vasopressin (ADH) analog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36758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V2 receptors in renal collecting ducts → inserts aquaporin-2 channels → ↑ water reabsorption.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4480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7274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 · Nocturnal enuresis · von Willebrand disease (mild) · Hemophilia 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5486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5733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Intranasal · PO tablet · SC/IV injection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52160" y="1691640"/>
            <a:ext cx="58521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52160" y="1691640"/>
            <a:ext cx="585216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Nursing Monitoring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80760" y="2313432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2240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I&amp;O every 1–2 hours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80760" y="2633472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2560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weights at same time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80760" y="2953512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2880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Na⁺ q6–12h initially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80760" y="3273552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6364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specific gravity → should normalize (1.010–1.025)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80760" y="3593592"/>
            <a:ext cx="109728" cy="109728"/>
          </a:xfrm>
          <a:prstGeom prst="oval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40" y="3520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&amp; heart rate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852160" y="4114800"/>
            <a:ext cx="58521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52160" y="4114800"/>
            <a:ext cx="58521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Side Effects &amp; Warnings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080760" y="472744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63640" y="46634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 (water intoxication) — most serious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080760" y="500176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63640" y="49377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Headache, nausea, facial flushing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80760" y="527608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63640" y="52120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in sensitive patients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080760" y="555040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6364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Seizures if severe hyponatremia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080760" y="582472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63640" y="5760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fluid intake if Na⁺ falls below 135 mEq/L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080760" y="6099048"/>
            <a:ext cx="109728" cy="109728"/>
          </a:xfrm>
          <a:prstGeom prst="oval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63640" y="60350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 coronary artery disease (vasoconstriction)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Desmopressin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56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Syndrome of Inappropriate ADH (SIADH)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777240"/>
          </a:xfrm>
          <a:prstGeom prst="rect">
            <a:avLst/>
          </a:prstGeom>
          <a:solidFill>
            <a:srgbClr val="EFF4FB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ADH secretion → water retention, dilutional hyponatremia, and concentrated urine. Common causes: small-cell lung cancer (ectopic ADH), head injury, meningitis, SSRIs, chemotherapy.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5778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557784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Urine output (oliguria)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317296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urine (SG &gt; 1.030)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1304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Serum Na⁺ (&lt;135 mEq/L)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381304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Serum osmolality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45312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389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 (without edema)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445312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4389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Headache, confusion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09320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029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Irritability, lethargy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509320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5029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Nausea, vomiting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573328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669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cramps, weakness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5733288"/>
            <a:ext cx="118872" cy="118872"/>
          </a:xfrm>
          <a:prstGeom prst="oval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5669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Seizures, coma if severe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2606040"/>
            <a:ext cx="5303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2606040"/>
            <a:ext cx="530352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29400" y="3200400"/>
            <a:ext cx="73152" cy="5303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200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Fluid restriction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12280" y="3456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500–1000 mL/day — cornerstone of therapy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29400" y="3822192"/>
            <a:ext cx="73152" cy="5303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Hypertonic saline (3% NaCl)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12280" y="40782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severe hyponatremia with neuro symptoms. Raise Na slowly (&lt;12 mEq/L/24h)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29400" y="4443984"/>
            <a:ext cx="73152" cy="5303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44439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Vasopressin receptor antagonists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812280" y="47000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Tolvaptan, conivaptan — "vaptans" block V2 receptors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9400" y="5065776"/>
            <a:ext cx="73152" cy="5303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5065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Demeclocycline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12280" y="53218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Induces nephrogenic DI (backup option)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29400" y="5687568"/>
            <a:ext cx="73152" cy="5303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56875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underlying cause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812280" y="5943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offending drugs, treat infection/tumor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Insipidus vs SIADH — Quick Compare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603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41605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INSIPIDUS (↓ ADH)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691640"/>
            <a:ext cx="4160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SIADH (↑ ADH)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56032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945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194560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94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↑↑↑ (3–20 L/day)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2194560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194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(oliguria)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670048"/>
            <a:ext cx="2560320" cy="475488"/>
          </a:xfrm>
          <a:prstGeom prst="rect">
            <a:avLst/>
          </a:prstGeom>
          <a:solidFill>
            <a:srgbClr val="E9E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6700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concentration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670048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6700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 (SG &lt; 1.005)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2670048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6700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(SG &gt; 1.030)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145536"/>
            <a:ext cx="256032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1455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sodium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145536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455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(hypernatremia &gt;145)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3145536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31455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(hyponatremia &lt;135)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621024"/>
            <a:ext cx="2560320" cy="475488"/>
          </a:xfrm>
          <a:prstGeom prst="rect">
            <a:avLst/>
          </a:prstGeom>
          <a:solidFill>
            <a:srgbClr val="E9E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62102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osmolality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621024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6210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52360" y="3621024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36210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096512"/>
            <a:ext cx="256032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0965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weight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4096512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0965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(dehydration)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52360" y="4096512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40965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(water retention)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572000"/>
            <a:ext cx="2560320" cy="475488"/>
          </a:xfrm>
          <a:prstGeom prst="rect">
            <a:avLst/>
          </a:prstGeom>
          <a:solidFill>
            <a:srgbClr val="E9E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45720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46120" y="457200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4572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polydipsia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52360" y="457200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4572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suppressed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047488"/>
            <a:ext cx="256032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0474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/ HR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46120" y="5047488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50474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BP, ↑ HR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52360" y="5047488"/>
            <a:ext cx="4160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50474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 ↑ BP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5522976"/>
            <a:ext cx="2560320" cy="475488"/>
          </a:xfrm>
          <a:prstGeom prst="rect">
            <a:avLst/>
          </a:prstGeom>
          <a:solidFill>
            <a:srgbClr val="E9EF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" y="552297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46120" y="5522976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55229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Desmopressin, fluids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452360" y="5522976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0" y="55229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restrict, 3% NS, vaptans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vs SIADH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DISORDERS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Hypothyroidism — Insufficient Thyroid Hormone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94360"/>
          </a:xfrm>
          <a:prstGeom prst="rect">
            <a:avLst/>
          </a:prstGeom>
          <a:solidFill>
            <a:srgbClr val="FBEA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Underactive thyroid gland fails to produce adequate T₃ and T₄ → slowed cellular metabolism throughout every body system.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Causes &amp; Diagnostic Labs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I M A R Y   C A U S E 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Hashimoto thyroiditis (autoimmune — most common in US)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Iodine deficiency (most common worldwide)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511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Post-thyroidectomy or post-radioactive iodine therapy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7673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Medications: lithium, amiodarone, interferon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Congenital hypothyroidism (cretinism in newborns)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 B O R A T O R Y   F I N D I N G 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4709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 (primary)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4983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5257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 or normal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532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5532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Anti-TPO antibodies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58064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(Hashimoto)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2194560"/>
            <a:ext cx="52120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194560"/>
            <a:ext cx="52120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Manifestations — Slowed Everything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3063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Fatigue, lethargy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 gain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3575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Cold intolerance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831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↓ basal metabolic 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6112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INTEGUMENTARY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61120" y="3063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Dry, coarse skin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0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Brittle hair, hair loss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0" y="3575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Loss of outer eyebrows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0" y="3831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Periorbital edema (myxedema)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4526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/ GI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520" y="4800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Bradycardia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5056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Hypotension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5312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Constipation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55686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↑ LDL cholesterol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961120" y="4526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/ REPRO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961120" y="4800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Slow mentation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961120" y="5056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Depression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961120" y="5312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Menorrhagia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961120" y="55686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Infertility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6400800"/>
            <a:ext cx="10911535" cy="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Hypothyroidism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SPOTLIGHT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Levothyroxine (Synthroid) — Thyroid Replacement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0352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Levothyroxine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17320" y="1920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(Synthroid, Levoxyl, Unithroid)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286000"/>
            <a:ext cx="4937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4231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 A S 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26243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T₄ hormone (thyroid replacement)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3246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C H A N I S 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34472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endogenous T₄ → peripheral conversion to active T₃ → restores cellular metabolism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2960" y="42336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D I C A T I O N 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2960" y="4434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Primary/secondary hypothyroidism · Myxedema coma · Post-thyroidectomy · Thyroid cancer (TSH suppression)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2960" y="52212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S I N 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22960" y="54223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low in elderly/cardiac (25 mcg) · Usual adult 1.6 mcg/kg/day · Adjust every 6–8 weeks by TSH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6480" y="1417320"/>
            <a:ext cx="5394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1417320"/>
            <a:ext cx="539496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Teaching (Critical)</a:t>
            </a:r>
            <a:endParaRPr lang="en-US" sz="16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65960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65392" y="19202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EARLY MORNING on empty stomach — 30–60 min before breakfast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13432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65392" y="22677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same time daily · Do not skip doses · Lifelong therapy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60904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65392" y="26151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iron, calcium, antacids, soy, high-fiber foods (≥4 h)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00837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65392" y="29626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chest pain, palpitations, insomnia, tremor (→ overdose)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55848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565392" y="3310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discontinue abruptly · Do not switch brands without MD approval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126480" y="3931920"/>
            <a:ext cx="5394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126480" y="393192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30936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Adverse Effects</a:t>
            </a:r>
            <a:endParaRPr lang="en-US" sz="16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480560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565392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level every 6–8 weeks until therapeutic, then every 6–12 months</a:t>
            </a:r>
            <a:endParaRPr lang="en-US" sz="10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828032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565392" y="47823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HR, BP, weight, resolution of hypothyroid symptoms</a:t>
            </a:r>
            <a:endParaRPr lang="en-US" sz="10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5175504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65392" y="5129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 dose typically ↑ 25–30% in first trimester</a:t>
            </a:r>
            <a:endParaRPr lang="en-US" sz="105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5522976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565392" y="54772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Overdose s/sx: thyrotoxicosis — tachycardia, tremor, weight loss, heat intolerance</a:t>
            </a:r>
            <a:endParaRPr lang="en-US" sz="10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5870448"/>
            <a:ext cx="182880" cy="18288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565392" y="5824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CAD (may precipitate angina), osteoporosis (long-term)</a:t>
            </a:r>
            <a:endParaRPr lang="en-US" sz="1050" dirty="0"/>
          </a:p>
        </p:txBody>
      </p:sp>
      <p:sp>
        <p:nvSpPr>
          <p:cNvPr id="45" name="Shape 32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Levothyroxine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56</a:t>
            </a:r>
            <a:endParaRPr lang="en-US" sz="900" dirty="0"/>
          </a:p>
        </p:txBody>
      </p:sp>
      <p:sp>
        <p:nvSpPr>
          <p:cNvPr id="48" name="Text 35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DISORDERS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Hyperthyroidism — Excess Thyroid Hormone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Overactive thyroid produces excessive T₃/T₄ (thyrotoxicosis) → hypermetabolism in every body system. Graves disease is the most common cause (autoimmune).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5486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Causes &amp; Laboratory Profile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 I O L O G 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Graves disease — TSH-receptor autoantibodies (TRAb) stimulate thyroid (#1 cause)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273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Toxic multinodular goiter / toxic adenoma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Thyroiditis (subacute, postpartum, silent)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822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Excess exogenous thyroid hormone (factitious)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096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Iodine-induced (amiodarone, contrast media)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 B O R A T O R Y   F I N D I N G 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4754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suppressed (primary)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T₄ / Free T₃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50292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 / TSI antibodies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5303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positive (Graves)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577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RAIU scan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55778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diffuse uptake (Graves)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852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5852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decreased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2194560"/>
            <a:ext cx="52120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194560"/>
            <a:ext cx="52120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Manifestations — Accelerated Everything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4652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3063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Heat intolerance, ↑ sweating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 loss despite ↑ appetite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3575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Fine tremor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831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Fatigue, weakness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6112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61120" y="3063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Tachycardia, palpitations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0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Atrial fibrillation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0" y="3575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Systolic hypertension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0" y="3831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Widened pulse pressure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4526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/ PSYCH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520" y="4800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Nervousness, anxiety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5056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Irritability, restlessness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5312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Insomnia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55686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Hyperreflexia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961120" y="4526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GRAVES-SPECIFIC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961120" y="4800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Exophthalmos (proptosis)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961120" y="5056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Goiter with bruit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961120" y="5312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Pretibial myxedema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961120" y="55686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Lid lag, stare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Hyperthyroidism / Graves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• LIFE-THREATENING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Storm — Thyrotoxic Crisis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685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44752"/>
            <a:ext cx="100885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EMERGENCY — Mortality 10–30% even with treatment. Extreme, life-threatening exacerbation of hyperthyroidism.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37490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28600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Triggers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Untreated / undertreated hyperthyroidism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218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Recent thyroid surgery (manipulation releases hormone)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36027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Infection or sepsis (most common trigger)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3986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Trauma, surgery, or childbirth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3708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DKA or severe illness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4754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Iodine contrast exposure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5138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Abrupt withdrawal of antithyroid meds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80560" y="2286000"/>
            <a:ext cx="37490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80560" y="2286000"/>
            <a:ext cx="37490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Hallmark Signs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663440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 Temp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60720" y="2834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40°C (104°F) — hyperthermia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6344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 HR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60720" y="33832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130 bpm (can exceed 200)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663440" y="3931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760720" y="39319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High-output cardiac failure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663440" y="4480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60720" y="4480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Agitation → delirium → coma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663440" y="5029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760720" y="50292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N/V, diarrhea, abdominal pain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663440" y="5577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BP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760720" y="55778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hypotension, shock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321040" y="2286000"/>
            <a:ext cx="3200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321040" y="2286000"/>
            <a:ext cx="3200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5820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— The 4 B's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458200" y="28346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synthesis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458200" y="3081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PTU or methimazole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458200" y="34930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release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458200" y="37398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Iodine (Lugol, SSKI) — ≥1 h after PTU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458200" y="41513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conversion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458200" y="43982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Propranolol, corticosteroids, PTU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458200" y="48097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Beta-blockade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458200" y="5056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Propranolol (controls HR, tremor)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458200" y="54681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458200" y="5715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Cooling, O₂, IV fluids, treat cause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Storm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Antithyroid Medications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974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6974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Methimazole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(Tapazole)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Thionamide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thyroid peroxidase → blocks T₃/T₄ synthesis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for Graves disease (non-pregnant)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/ 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7240" y="477316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Agranulocytosis (fever, sore throat!)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Hepatotoxicity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546811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Rash, arthralgia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581558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Teratogenic 1st trim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47288" y="1463040"/>
            <a:ext cx="26974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47288" y="1463040"/>
            <a:ext cx="269748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Propylthiouracil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84448" y="19202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(PTU)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84448" y="2240280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331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84448" y="25146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Thionamide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84448" y="27889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84448" y="2971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synthesis + blocks peripheral T₄→T₃ conversion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84448" y="3749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84448" y="3931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(1st trimester) · Thyroid storm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84448" y="4572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/ 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84448" y="477316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Severe hepatotoxicity (black box)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84448" y="512064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Agranulocytosis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84448" y="546811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Vasculitis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54496" y="1463040"/>
            <a:ext cx="26974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54496" y="1463040"/>
            <a:ext cx="26974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Iodine (Lugol / SSKI)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91656" y="2240280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2331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91656" y="25146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Iodine solution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91656" y="27889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91656" y="2971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thyroid vascularity &amp; hormone release (Wolff-Chaikoff)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91656" y="3749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91656" y="3931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 thyroidectomy · Thyroid storm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91656" y="4572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/ SE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91656" y="477316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Metallic taste, brown stain teeth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91656" y="512064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Mix in juice, use straw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91656" y="546811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Short-term use only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061704" y="1463040"/>
            <a:ext cx="26974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061704" y="1463040"/>
            <a:ext cx="26974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98864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Radioactive Iodine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198864" y="19202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(I-131)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198864" y="2240280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98864" y="2331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198864" y="25146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Radiopharmaceutical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98864" y="27889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198864" y="2971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Concentrates in thyroid → destroys cells (ablation)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198864" y="3749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198864" y="3931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Rx for Graves / toxic nodule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198864" y="4572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/ SE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198864" y="477316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CONTRAINDICATED in pregnancy/lactation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198864" y="512064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Radiation precautions 3–7 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198864" y="546811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Hypothyroidism expected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Antithyroid Medications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CARE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Thyroidectomy — Post-op Nursing Priorities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solidFill>
            <a:srgbClr val="EFF4FB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(subtotal) or total removal of thyroid. Total thyroidectomy requires lifelong levothyroxine replacement.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611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361188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677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Respiratory Distress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27614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Laryngeal nerve damage → vocal cord paralysis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1729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Tracheal compression from hematoma or edema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5844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Stridor, hoarseness, dyspnea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39959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BEDSIDE: tracheostomy tray + suction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34840" y="2103120"/>
            <a:ext cx="3611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2103120"/>
            <a:ext cx="36118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6771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Hemorrhage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17720" y="27614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BEHIND the neck — blood pools there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17720" y="31729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Unexplained ↑ HR, ↓ BP, restlessness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617720" y="35844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Feeling of tightness or fullness at incision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617720" y="39959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 HOB at 30–45° — supports venous return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229600" y="2103120"/>
            <a:ext cx="3611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29600" y="2103120"/>
            <a:ext cx="36118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67712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6968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Tetany / Hypocalcemia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412480" y="27614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Accidental parathyroid removal → ↓ Ca²⁺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412480" y="31729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Tingling around mouth/fingers, muscle cramps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412480" y="35844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+Chvostek · +Trousseau sign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412480" y="39959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BEDSIDE: IV calcium gluconate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40080" y="4709160"/>
            <a:ext cx="54864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40080" y="470916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22960" y="4800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Post-op Nursing Care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22960" y="51389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Semi-Fowler's position with neck supported (sandbags) · avoid neck flexion/extension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22960" y="54132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Assess voice q2h · minimal talking first 24 h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22960" y="56875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Monitor for S/S thyroid storm (rare but possible)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2960" y="59618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Pain management · ice collar to reduce edema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309360" y="4709160"/>
            <a:ext cx="5212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309360" y="4709160"/>
            <a:ext cx="521208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92240" y="4800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/ Discharge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6492240" y="5138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Lifelong levothyroxine if total thyroidectomy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492240" y="5413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Monitor TSH every 6–8 weeks during titration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492240" y="5687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Report: weight change, fatigue, palpitations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492240" y="5961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 bracelet · carry medication list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Thyroidectomy Care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56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Hypothyroidism vs Hyperthyroidism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1089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PARAMETER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49040" y="1417320"/>
            <a:ext cx="420624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417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HYPOTHYROIDISM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417320"/>
            <a:ext cx="36576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HYPERTHYROIDISM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10972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20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level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8620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2440" y="1920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suppressed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304288"/>
            <a:ext cx="10972800" cy="38404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3042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T₃ / T₄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86200" y="23042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decreased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92440" y="23042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688336"/>
            <a:ext cx="10972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6883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2688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Bradycardia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26883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Tachycardia, atrial fib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072384"/>
            <a:ext cx="10972800" cy="38404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0723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86200" y="3072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92440" y="30723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hypertension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456432"/>
            <a:ext cx="10972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4564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86200" y="3456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intolerance, ↓ temp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92440" y="34564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intolerance, ↑ temp, sweating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840480"/>
            <a:ext cx="10972800" cy="38404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840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8620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 despite ↓ appetite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92440" y="3840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despite ↑ appetite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4224528"/>
            <a:ext cx="10972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2245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function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86200" y="4224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Constipation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92440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Diarrhea, ↑ motility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4608576"/>
            <a:ext cx="10972800" cy="38404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6085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status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86200" y="46085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Lethargy, depression, slow speech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92440" y="46085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nervousness, insomnia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4992624"/>
            <a:ext cx="10972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49926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/ hair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86200" y="49926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coarse · hair loss · myxedema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92440" y="49926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moist · fine hair · pretibial myxedema (Graves)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" y="5376672"/>
            <a:ext cx="10972800" cy="38404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376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886200" y="5376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Diminished, delayed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92440" y="53766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Hyperreflexia, tremor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" y="5760720"/>
            <a:ext cx="10972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5760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886200" y="5760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Levothyroxine (lifelong)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092440" y="5760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Methimazole / PTU / I-131 / surgery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Comparison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GLANDS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Regulation — PTH Axis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solidFill>
            <a:srgbClr val="EFF4FB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parathyroid glands on the posterior thyroid secrete PTH to regulate serum calcium. Calcium and phosphorus exist in an inverse (reciprocal) relationship.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611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36118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Stimulates OSTEOCLASTS → releases Ca²⁺ and phosphate from bone into blood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4840" y="2103120"/>
            <a:ext cx="3611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4840" y="2103120"/>
            <a:ext cx="36118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31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17720" y="2880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Ca²⁺ reabsorption · ↑ phosphate EXCRETION · activates vitamin D (calcitriol)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0" y="2103120"/>
            <a:ext cx="3611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2103120"/>
            <a:ext cx="36118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3317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 Tract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12480" y="2880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activated vit D → ↑ calcium &amp; phosphate absorption from intestine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931920"/>
            <a:ext cx="10911535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393192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effect of PTH:   ↑ Serum Calcium      ↓ Serum Phosphate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40080" y="461772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" y="461772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2960" y="4754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Calcitonin — The Opposer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2296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thyroid parafollicular (C) cells.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2960" y="5376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Released when serum calcium is HIGH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22960" y="561441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Inhibits osteoclasts → stops Ca²⁺ release from bone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2296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Protects against hypercalcemia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22960" y="608990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Directly opposes PTH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309360" y="4617720"/>
            <a:ext cx="5212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309360" y="4617720"/>
            <a:ext cx="52120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9224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Serum Values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6492240" y="5074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Calcium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869680" y="5074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– 10.2 mg/dL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6492240" y="53126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Ionized Calcium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869680" y="5312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– 5.6 mg/dL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492240" y="5550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8869680" y="5550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– 4.5 mg/dL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6492240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 PTH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8869680" y="5788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65 pg/mL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6492240" y="60258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(25-OH)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8869680" y="6025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100 ng/mL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/ Calcium Axis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56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DISORDERS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Hypoparathyroidism — ↓ PTH → Hypocalcemia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solidFill>
            <a:srgbClr val="FBEA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PTH → ↓ serum calcium + ↑ serum phosphate.  Most common iatrogenic cause: accidental removal/damage during thyroidectomy.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035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5303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Etiology &amp; Lab Profile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 U S E 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Post-thyroidectomy (most common) — inadvertent gland removal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Autoimmune destruction of parathyroids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Radiation to neck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DiGeorge syndrome (congenital absence)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Severe hypomagnesemia (impairs PTH release)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 B O R A T O R Y   F I N D I N G 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61772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461772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decreased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86460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Calcium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486460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&lt; 8.6 mg/dL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11149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Ionized Calcium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511149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&lt; 4.5 mg/dL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35838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Phosphate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535838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&gt; 4.5 mg/dL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60527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56052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585216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585216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QT interval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10312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10312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Signs — Hypocalcemic Tetany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309360" y="2697480"/>
            <a:ext cx="5029200" cy="777240"/>
          </a:xfrm>
          <a:prstGeom prst="rect">
            <a:avLst/>
          </a:prstGeom>
          <a:solidFill>
            <a:srgbClr val="FBEA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743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Chvostek Sign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facial nerve (CN VII) anterior to the ear → ipsilateral twitching of lip/nose/cheek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566160"/>
            <a:ext cx="5029200" cy="777240"/>
          </a:xfrm>
          <a:prstGeom prst="rect">
            <a:avLst/>
          </a:prstGeom>
          <a:solidFill>
            <a:srgbClr val="FBEA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Trousseau Sign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 BP cuff above systolic × 3 min → carpopedal spasm (flexion of wrist &amp; MCP)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4526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Manifestations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846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Perioral / fingertip paresthesia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915400" y="4846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Muscle cramps, hyperreflexia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Laryngospasm, bronchospasm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15400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Seizures (severe hypocalcemia)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Cardiac arrhythmias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1540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Anxiety, depression, confusion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Hypoparathyroidism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DISORDERS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Hyperparathyroidism — ↑ PTH → Hypercalcemia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PTH → ↑ serum calcium + ↓ serum phosphate.  Classic mnemonic:  "Stones, Bones, abdominal Groans, psychic Moans, Thrones (polyuria)."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035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5303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&amp; Lab Profile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 A S S I F I C A T I O 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PRIMARY — Parathyroid adenoma (~85%) · hyperplasia · carcinoma (rare)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SECONDARY — CKD with ↓ calcium · vitamin D deficiency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TERTIARY — Autonomous PTH secretion after long-standing secondary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 B O R A T O R Y   F I N D I N G 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457200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 (primary)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81888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Calcium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48188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&gt; 10.2 mg/dL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506577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Phosphate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506577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&lt; 2.5 mg/dL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31266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Calcium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531266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hypercalciuria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55955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Alkaline Phosphatase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555955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(bone turnover)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580644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Shortened QT interval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210312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10312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Manifestations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309360" y="2697480"/>
            <a:ext cx="118872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697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43800" y="2697480"/>
            <a:ext cx="3794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2697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calculi · nephrocalcinosis · polyuria, polydipsia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383280"/>
            <a:ext cx="118872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3832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43800" y="3383280"/>
            <a:ext cx="3794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3383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pain · osteoporosis · pathologic fractures · osteitis fibrosa cystica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4069080"/>
            <a:ext cx="118872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0690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GROANS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4069080"/>
            <a:ext cx="3794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Anorexia · N/V · constipation · peptic ulcer · pancreatitis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4754880"/>
            <a:ext cx="118872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7548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43800" y="4754880"/>
            <a:ext cx="3794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4754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· depression · memory loss · confusion · psychosis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5440680"/>
            <a:ext cx="118872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5440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43800" y="5440680"/>
            <a:ext cx="3794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35240" y="5440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 (Ca²⁺ impairs renal concentrating ability) → dehydration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Hyperparathyroidism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Regulation — Medications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RAISE Calcium  (for Hypocalcemia / Hypoparathyroidism)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5486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96596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Gluconate IV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23317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IV for severe hypocalcemia / tetany / laryngospasm. Give slowly via central line preferred. Cardiac monitor. Less tissue-irritating than CaCl.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5486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306324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54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Chloride IV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3429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more elemental Ca than gluconate. Highly vesicant — CENTRAL line only. Reserved for cardiac arrest with hypocalcemia.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4160520"/>
            <a:ext cx="5486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416052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Oral Calcium (carbonate/citrate)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45262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for chronic hypocalcemia. Take with meals (carbonate) / without food (citrate). Separate from levothyroxine &amp; iron.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5257800"/>
            <a:ext cx="5486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525780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5349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Calcitriol (Vitamin D)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" y="5623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form of vit D. ↑ intestinal Ca²⁺ absorption. Used with oral Ca for chronic hypoparathyroidism.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9360" y="1417320"/>
            <a:ext cx="521208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6656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LOWER Calcium  (for Hypercalcemia / Hyperparathyroidism)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309360" y="1965960"/>
            <a:ext cx="5212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09360" y="1965960"/>
            <a:ext cx="52120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0.9% NS + Loop Diuretic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492240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acute hypercalcemia. Aggressive hydration promotes Ca²⁺ excretion; furosemide enhances renal clearance (NOT thiazides — they retain Ca²⁺).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309360" y="3063240"/>
            <a:ext cx="5212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09360" y="3063240"/>
            <a:ext cx="52120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9224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Bisphosphonates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492240" y="3429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Alendronate, risedronate (PO) · zoledronic acid, pamidronate (IV). Inhibit osteoclasts. Take PO upright × 30 min, empty stomach, full glass water.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309360" y="4160520"/>
            <a:ext cx="5212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309360" y="4160520"/>
            <a:ext cx="52120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92240" y="4251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Calcitonin (Miacalcin)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492240" y="4526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onset but short-lived (tachyphylaxis). IM or nasal spray. Useful as temporizing agent while bisphosphonates take effect.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309360" y="5257800"/>
            <a:ext cx="5212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309360" y="5257800"/>
            <a:ext cx="52120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92240" y="5349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Cinacalcet (Sensipar)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492240" y="5623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Calcimimetic — ↑ calcium-sensing receptor sensitivity → ↓ PTH. Used in secondary HPT (dialysis) and parathyroid carcinoma.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Pharmacology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56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DISORDERS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 — Overview &amp; Diagnosis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solidFill>
            <a:srgbClr val="EFF4FB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metabolic disorders characterized by chronic hyperglycemia resulting from defects in insulin secretion, insulin action, or both. Affects ~537 million adults worldwide (IDF 2021).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911535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1091153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 Diagnostic Criteria for Diabetes Mellitus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 following criteria confirms diabetes (repeat on separate day unless unequivocal hyperglycemia):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105156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34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0" y="2834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127248"/>
            <a:ext cx="10515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0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6.5%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3127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2–3 month avg glucose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383280"/>
            <a:ext cx="10515600" cy="25603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Plasma Glucose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126 mg/dL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3383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caloric intake ≥ 8 hours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639312"/>
            <a:ext cx="10515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639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OGTT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0" y="3639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200 mg/dL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3639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75-g oral glucose load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3895344"/>
            <a:ext cx="10515600" cy="25603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895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Plasma Glucose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0" y="3895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200 mg/dL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3895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classic symptoms (polyuria, polydipsia, weight loss)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343400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4343400"/>
            <a:ext cx="5486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480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Prediabetes (Increased Risk)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66160" y="4846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– 6.4%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Impaired Fasting Glucose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5138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125 mg/dL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431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Impaired Glucose Tolerance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66160" y="54315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– 199 mg/dL (2-h OGTT)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5806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modification (diet + exercise) can reduce progression to DM by 58%.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4343400"/>
            <a:ext cx="5212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4343400"/>
            <a:ext cx="52120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480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Complications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92240" y="4846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Retinopathy → blindness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Nephropathy → ESRD / dialysis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5431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Neuropathy (peripheral, autonomic)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0684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 · stroke · PAD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06840" y="5138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Diabetic foot ulcers, amputation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006840" y="5431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Gastroparesis, erectile dysfunction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5852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goal: &lt;7% for most adults · &lt;6.5% for younger/healthier · &lt;8% for elderly/CV disease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Overview &amp; Diagnosis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DISORDERS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1 vs Type 2 Diabetes Mellitus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492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1 DIABETES MELLITUS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Insulin-dependent · Autoimmune β-cell destruction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34924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4173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2 DIABETES MELLITUS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71907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 + relative insulin deficiency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103120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305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92240" y="21305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30428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of DM cases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230428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90–95% of DM cases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542032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5694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onset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92240" y="25694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onset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274320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Childhood/adolescence (can occur any age)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&gt;40 y (now in children due to obesity)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980944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980944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0083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habitus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0" y="30083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habitus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" y="318211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thin/normal weight at diagnosis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318211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overweight/obese, central adiposity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419856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419856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447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92240" y="3447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" y="36210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destruction of β-cells → absolute insulin deficiency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36210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 + progressive β-cell failure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3858768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3858768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886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onset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92240" y="3886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onset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77240" y="405993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(days–weeks) · 3 P's prominent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92240" y="405993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(months–years) · often asymptomatic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4297680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4297680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43251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Ketoacidosis risk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92240" y="43251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Ketoacidosis risk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77240" y="449884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may be presenting feature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92240" y="449884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(HHNS is more typical)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" y="4736592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4736592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47640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C-peptide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47640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C-peptide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77240" y="493776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Low/absent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493776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Normal/elevated early, declines late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40080" y="5175504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5175504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52029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Autoantibodies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492240" y="52029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Autoantibodies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7240" y="53766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GAD65, IA-2, ZnT8, insulin (IAA)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492240" y="53766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0080" y="5614416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5614416"/>
            <a:ext cx="5349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" y="56418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492240" y="56418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77240" y="58155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from diagnosis (lifelong)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92240" y="58155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→ oral agents → insulin as needed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40080" y="6053328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55080" y="6053328"/>
            <a:ext cx="5349240" cy="438912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6080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possible?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92240" y="6080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possible?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77240" y="625449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(unless islet/pancreas transplant)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492240" y="625449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remission with weight loss/bariatric surgery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vs Type 2 DM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• TYPE 1 DM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Diabetic Ketoacidosis (DKA)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685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44752"/>
            <a:ext cx="100885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LIFE-THREATENING EMERGENCY — Primarily in Type 1 DM. Triad: hyperglycemia + ketosis + metabolic acidosis.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37490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286000"/>
            <a:ext cx="37490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377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Absolute insulin deficiency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3101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↑ counter-regulatory hormones (glucagon, cortisol, catecholamines)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Cells can't uptake glucose → starvation mode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44439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Lipolysis → free fatty acids → liver converts to ketones (β-OH-butyrate, acetoacetate)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501091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Ketones are acidic → metabolic acidosis (pH &lt; 7.35)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Hyperglycemia → osmotic diuresis → profound dehydration + electrolyte loss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80560" y="2286000"/>
            <a:ext cx="37490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80560" y="228600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2377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Presentation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63440" y="269748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Onset: hours to 1–2 days (rapid)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63440" y="29718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Polyuria, polydipsia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0" y="31363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Osmotic diuresis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63440" y="3337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Kussmaul respirations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54880" y="35021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rapid breathing (compensation)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63440" y="370332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Fruity breath (acetone)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0" y="38679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Ketone excretion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63440" y="40690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N/V, abdominal pain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54880" y="42336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Acidosis, gastroparesis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63440" y="44348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Dehydration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45994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mucosa, poor turgor, ↓ BP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663440" y="48006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Altered LOC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54880" y="49651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→ stupor → coma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63440" y="51663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 &gt; 250 mg/dL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53309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300–800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63440" y="553212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 &lt; 7.35, HCO₃ &lt; 18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54880" y="56967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 gap metabolic acidosis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663440" y="58978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Ketones in urine &amp; serum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54880" y="60624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 from HHNS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321040" y="2286000"/>
            <a:ext cx="3200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321040" y="2286000"/>
            <a:ext cx="3200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5820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Priorities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458200" y="2743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FLUIDS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4582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 NS bolus → 0.45% NS once stable · Replace deficit over 24 h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458200" y="343814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INSULIN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458200" y="36667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insulin IV continuous drip (0.1 u/kg/h) — lowers BG gradually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458200" y="41330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POTASSIUM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458200" y="4361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even if normal (insulin drives K⁺ into cells — prevent hypokalemia)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8458200" y="48280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DEXTROSE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458200" y="5056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D5 to IVF when BG ≤ 200 (prevent hypoglycemia while continuing insulin)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458200" y="552297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BICARB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458200" y="57515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pH &lt; 6.9 (controversial)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56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• TYPE 2 DM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Hyperosmolar Hyperglycemic State (HHS / HHNS)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44752"/>
            <a:ext cx="100885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EMERGENCY — Primarily in Type 2 DM (often elderly). Mortality 10–20% (higher than DKA). Extreme hyperglycemia + severe dehydration WITHOUT significant ketosis.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28600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377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Pathophysiology &amp; Triggers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 T H O P H Y S I O L O G 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Enough circulating insulin to suppress ketogenesis but NOT enough to control hyperglycemia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BG often 600 – 1200 mg/dL → extreme hyperosmolarity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Massive osmotic diuresis → severe dehydration (10–20% body water deficit)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Serum osmolality &gt; 320 mOsm/kg → CNS dysfunction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Minimal/absent ketones &amp; acidosis (key distinction from DKA)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49377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M M O N   T R I G G E R 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4400" y="5166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Infection (pneumonia, UTI — most common) · sepsis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4400" y="5440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MI, stroke, pancreatitis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" y="5715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Medications (steroids, thiazides, atypical antipsychotics)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4400" y="5989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Poor oral intake (elderly/institutionalized) · dialysis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17920" y="2286000"/>
            <a:ext cx="5303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17920" y="2286000"/>
            <a:ext cx="5303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&amp; Management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26974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over DAYS to WEEKS (vs hours for DKA)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294436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 I N I C A L   F I N D I N G 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92240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BG &gt; 600 mg/dL · Serum osm &gt; 320 mOsm/kg · pH &gt; 7.3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92240" y="34655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Profound dehydration — hypotension, tachycardia, shock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92240" y="37581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Neurological signs PROMINENT — lethargy → seizures → coma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92240" y="4050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Kussmaul · no fruity breath · minimal/no ketones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00800" y="448056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R E A T M E N 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92240" y="4709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AGGRESSIVE IV fluid resuscitation (0.9% NS) — priority #1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92240" y="5001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Regular insulin IV drip (lower doses than DKA)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492240" y="5294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Electrolyte replacement — esp. potassium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92240" y="5586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Identify &amp; treat underlying cause (sepsis, MI, etc.)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92240" y="5879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ICU monitoring · frequent neuro checks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HHNS / HHS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DKA vs HHS — Side-by-Side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1089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49040" y="1417320"/>
            <a:ext cx="420624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417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417320"/>
            <a:ext cx="3657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/ HHNS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10972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2024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patient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86200" y="192024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DM (young)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2440" y="1920240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DM (elderly)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10972800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25856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86200" y="2258568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days (rapid)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92440" y="2258568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weeks (insidious)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596896"/>
            <a:ext cx="10972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59689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259689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– 800 mg/dL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2596896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600 mg/dL (often &gt; 1000)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935224"/>
            <a:ext cx="10972800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93522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pH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86200" y="293522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7.35 (acidosis)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92440" y="2935224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7.3 (normal)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273552"/>
            <a:ext cx="10972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273552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bicarbonate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86200" y="3273552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 mEq/L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92440" y="327355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15 mEq/L (normal)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611880"/>
            <a:ext cx="10972800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61188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Ketones (serum/urine)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86200" y="361188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large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92440" y="3611880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minimal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3950208"/>
            <a:ext cx="10972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95020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 gap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86200" y="3950208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elevated (&gt;12)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92440" y="3950208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 mildly ↑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4288536"/>
            <a:ext cx="10972800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28853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osmolality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86200" y="428853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300–320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92440" y="4288536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320 mOsm/kg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4626864"/>
            <a:ext cx="10972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462686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Kussmaul breathing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86200" y="462686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(compensation)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92440" y="4626864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" y="4965192"/>
            <a:ext cx="10972800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4965192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 breath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886200" y="4965192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(acetone)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92440" y="496519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" y="5303520"/>
            <a:ext cx="10972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53035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886200" y="530352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(3–6 L deficit)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092440" y="5303520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(8–12 L deficit)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" y="5641848"/>
            <a:ext cx="10972800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" y="564184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status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886200" y="5641848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drowsy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92440" y="5641848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Lethargy → coma (prominent)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0080" y="5980176"/>
            <a:ext cx="10972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" y="598017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886200" y="598017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~1–5%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092440" y="5980176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~10–20%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 vs HHS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THERAPY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Types — Onset, Peak, Duration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solidFill>
            <a:srgbClr val="EFF4FB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Basal-bolus regimen mimics physiologic insulin secretion: long-acting "basal" + rapid/short "bolus" with meals.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911535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(Brand)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20574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0" y="20574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0" y="2057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10911535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6888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246888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Lispro (Humalog)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46888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0" y="2468880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0" y="2468880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WITH meal · clear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2807208"/>
            <a:ext cx="10911535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80720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280720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Aspart (Novolog)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0" y="2807208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807208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280720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0" y="2807208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WITH meal · clear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145536"/>
            <a:ext cx="10911535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145536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20240" y="3145536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Glulisine (Apidra)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3145536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35040" y="314553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0" y="314553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0" y="3145536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WITH meal · clear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3483864"/>
            <a:ext cx="10911535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48386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20240" y="348386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(Humulin R)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80560" y="3483864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35040" y="348386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0" y="348386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86800" y="3483864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insulin given IV · clear · 30 min AC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3822192"/>
            <a:ext cx="10911535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3822192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920240" y="382219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NPH (Humulin N)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80560" y="3822192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35040" y="382219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 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15200" y="382219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14–24 h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0" y="3822192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— must gently roll · only insulin that is cloudy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10911535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416052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920240" y="416052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Glargine (Lantus, Basaglar)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480560" y="4160520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035040" y="416052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peak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15200" y="4160520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686800" y="4160520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once daily same time · NEVER mix · clear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0080" y="4498848"/>
            <a:ext cx="10911535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449884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920240" y="449884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Detemir (Levemir)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480560" y="4498848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035040" y="4498848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h flat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315200" y="449884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24 h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686800" y="4498848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or twice daily · NEVER mix · clear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0080" y="4837176"/>
            <a:ext cx="10911535" cy="338328"/>
          </a:xfrm>
          <a:prstGeom prst="rect">
            <a:avLst/>
          </a:prstGeom>
          <a:solidFill>
            <a:srgbClr val="EF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" y="4837176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920240" y="4837176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Degludec (Tresiba)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480560" y="4837176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035040" y="483717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peak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315200" y="483717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h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686800" y="4837176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daily · very flat profile · clear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40080" y="5175504"/>
            <a:ext cx="10911535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17550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Premixed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920240" y="517550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(NPH/Regular)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480560" y="5175504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035040" y="517550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+ 6–12 h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315200" y="517550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14–24 h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686800" y="5175504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· twice daily 30 min AC · less flexible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40080" y="5650992"/>
            <a:ext cx="10911535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2960" y="565099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Regular is the ONLY insulin given IV       ✓ NPH is the ONLY cloudy insulin       ✓ NEVER mix long-acting insulin (glargine, detemir, degludec) with any other type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Types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THERAPY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Administration, Mixing &amp; Storage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Subcutaneous route for all insulins EXCEPT Regular (IV compatible)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Insulin syringes measured in UNITS — use only insulin syringes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SubQ sites: abdomen (fastest absorption), thigh, upper arm, buttock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Rotate WITHIN the same anatomic region (consistent absorption)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not massage site · 45° or 90° angle based on body habitus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Never use insulin that is expired, discolored, or clumped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Gently roll NPH vial (never shake) to resuspend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52120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417320"/>
            <a:ext cx="521208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Mixing Insulin — "RN" / Clear → Cloudy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Regular + NPH may be mixed. Long-acting insulins are NEVER mixed.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Inject air into NPH vial (= dose of NPH), do NOT withdraw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532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Inject air into Regular vial (= dose of Regular)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825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Withdraw Regular (clear) FIRST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118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Then withdraw NPH (cloudy) SECOND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410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Administer immediately after mixing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730752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"R before N" · RN  (Regular, then NPH)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54864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97764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069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SubQ Injection Sites — Absorption Rates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480560"/>
            <a:ext cx="137160" cy="274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889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· most consistent · preferred for meal-time doses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4892040"/>
            <a:ext cx="1371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846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arm (lateral)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8892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absorption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5303520"/>
            <a:ext cx="13716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257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Thigh (anterior/lateral)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8892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· good for bedtime NPH/long-acting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" y="5715000"/>
            <a:ext cx="13716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5669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Buttocks / hips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88920" y="5669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absorption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3977640"/>
            <a:ext cx="52120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3977640"/>
            <a:ext cx="52120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Guidelines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UNOPENED vials — refrigerate at 36–46°F (2–8°C) until expiration date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7274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IN-USE vials — room temperature up to 28 days (except NPH: 30 d)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50200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freeze · discard if frozen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5312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 away from direct sunlight and heat (&gt;86°F / 30°C)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5605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Insulin pens: 28 days at room temp after first use (check package)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2240" y="5897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 not store in car, glove box, or bathroom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Administration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Oral &amp; Non-Insulin Antidiabetic Agents (Type 2 DM)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721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Biguanides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0" y="14904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(Glucophage)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7465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↓ hepatic gluconeogenesis · ↑ insulin sensitivity · ↓ intestinal glucose absorption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0665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1st-line Rx · no hypoglycemia · GI upset common · HOLD 48 h before &amp; after IV contrast (lactic acidosis risk) · avoid in renal/hepatic impairment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417320"/>
            <a:ext cx="5486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4721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Sulfonylureas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0" y="14904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Glipizide, Glyburide, Glimepiride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17465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Stimulate pancreatic β-cells to secrete more insulin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20665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HYPOGLYCEMIA risk · weight gain · avoid alcohol (disulfiram-like) · caution in elderly &amp; sulfa allergy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65176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65176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7066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Meglitinides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74720" y="2724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Repaglinide, Nateglinide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29809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Stimulate insulin release (faster, shorter-acting than sulfonylureas)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3009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Take 15–30 min AC · skip dose if skipping meal · hypoglycemia risk (less than sulfonylureas)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65176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65176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7066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Thiazolidinediones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0" y="2724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Pioglitazone, Rosiglitazone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29809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↑ peripheral insulin sensitivity (PPAR-γ agonist)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33009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Weight gain, fluid retention · BLACK BOX: CHF exacerbation · bladder cancer risk · hepatotoxicity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88620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886200"/>
            <a:ext cx="548640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9410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DPP-4 Inhibitors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74720" y="3959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Sitagliptin, Saxagliptin, Linagliptin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240" y="42153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↑ incretin (GLP-1) levels → ↑ insulin release, ↓ glucagon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45354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Weight-neutral · low hypoglycemia risk · pancreatitis risk · renal dose adjust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388620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88620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9410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SGLT-2 Inhibitors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144000" y="3959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Empagliflozin, Dapagliflozin, Canagliflozin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46520" y="42153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Block renal glucose reabsorption → glucosuria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46520" y="45354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Weight loss · ↓ BP · CV/renal benefit · UTI/GU infections · euglycemic DKA · amputation risk (canagliflozin)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512064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512064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175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GLP-1 Agonists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474720" y="5193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Liraglutide, Semaglutide, Dulaglutide, Exenatide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7240" y="5449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Mimic incretin: ↑ insulin, ↓ glucagon, ↓ gastric emptying, ↑ satiety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57698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SubQ injection (daily/weekly) · weight loss · N/V common · pancreatitis risk · BLACK BOX: thyroid C-cell tumors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5120640"/>
            <a:ext cx="5486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9360" y="5120640"/>
            <a:ext cx="548640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5175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α-Glucosidase Inhibitors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144000" y="5193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Acarbose, Miglitol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46520" y="5449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MOA: Delay intestinal carbohydrate absorption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46520" y="57698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CLIN: Take with FIRST BITE of meal · flatulence, diarrhea · treat hypoglycemia with GLUCOSE (not sucrose — blocked absorption)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Antidiabetic Agents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COMPLICATION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Hypoglycemia — Recognition &amp; Treatment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solidFill>
            <a:srgbClr val="FBEA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&lt; 70 mg/dL · Severe: BG &lt; 54 mg/dL or requiring assistance · Life-threatening — the brain depends on glucose for energy.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749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37490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Too much insulin or oral hypoglycemic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Missed or delayed meal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Excessive exercise without carb adjustment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Alcohol intake (inhibits gluconeogenesis)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Vomiting or diarrhea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Renal impairment (drug accumulation)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Beta-blocker use (masks symptoms!)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057400"/>
            <a:ext cx="3749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205740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945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Symptoms — "TIRED"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256032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ADRENERGIC (early)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27889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Tachycardia, palpitations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9992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Tremor, shakiness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32095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Diaphoresis (cold, clammy)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4198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Hunger, irritability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36301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Anxiety, pallor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388620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NEUROGLYCOPENIC (late)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41148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Confusion, blurred vision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43251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Headache, dizziness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45354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Slurred speech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47457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Seizures → coma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21040" y="2057400"/>
            <a:ext cx="3200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2057400"/>
            <a:ext cx="320040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15-15-15 Rule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2514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 patient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58200" y="2788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Give 15 g fast carbs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58200" y="3063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Recheck BG in 15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Repeat if still &lt; 70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5820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Follow with protein + complex carb once stable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58200" y="3931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 = any of these: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5820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oz juice / regular soda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58200" y="4389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3–4 glucose tablets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58200" y="4617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Tbsp honey or sugar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58200" y="4846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oz non-fat milk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58200" y="5074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 candies (6–8 pieces)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" y="5440680"/>
            <a:ext cx="10911535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23560"/>
            <a:ext cx="457200" cy="4572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41732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UNCONSCIOUS Patient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1417320" y="5806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access:  D50W 25–50 mL IV push    |    No IV access:  Glucagon 1 mg IM or SubQ  (turn patient to side — N/V common on waking)    |    Recheck BG in 15 min · recovery in 5–15 min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56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MANAGEMENT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Lifestyle, Monitoring &amp; Patient Teaching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9748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9748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600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194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2587752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Consistent carbohydrate counting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200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Complex carbs (whole grains, legumes)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↑ fiber (25–38 g/day)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4206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Lean protein, healthy fats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4709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 saturated fat &amp; sodium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5212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Moderate alcohol (with food)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5715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concentrated sweets if poorly controlled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20440" y="1417320"/>
            <a:ext cx="269748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20440" y="1417320"/>
            <a:ext cx="269748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60020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0" y="2194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069080" y="2587752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03320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≥ 150 min/week moderate aerobic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703320" y="3200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Resistance training 2–3×/week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70332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BG BEFORE exercise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703320" y="4206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Snack if BG &lt; 100 mg/dL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703320" y="4709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 if BG &gt; 250 + ketones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703320" y="5212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Carry fast-acting carbs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703320" y="5715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Wear ID bracelet · proper footwear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400800" y="1417320"/>
            <a:ext cx="269748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00800" y="1417320"/>
            <a:ext cx="269748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1600200"/>
            <a:ext cx="548640" cy="5486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37960" y="2194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6949440" y="2587752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583680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SMBG — fingerstick as prescribed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583680" y="3200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Typical: fasting, pre-meals, bedtime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58368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CGM — continuous glucose monitoring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583680" y="4206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HbA1c every 3 months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583680" y="4709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Goal: HbA1c &lt; 7% (most adults)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583680" y="5212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BP &lt; 130/80 · LDL &lt; 100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583680" y="5715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Log: BG, food, activity, meds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9281160" y="1417320"/>
            <a:ext cx="269748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9281160" y="1417320"/>
            <a:ext cx="26974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80" y="1600200"/>
            <a:ext cx="548640" cy="54864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418320" y="2194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Preventive Care</a:t>
            </a:r>
            <a:endParaRPr lang="en-US" sz="1600" dirty="0"/>
          </a:p>
        </p:txBody>
      </p:sp>
      <p:sp>
        <p:nvSpPr>
          <p:cNvPr id="45" name="Shape 39"/>
          <p:cNvSpPr/>
          <p:nvPr/>
        </p:nvSpPr>
        <p:spPr>
          <a:xfrm>
            <a:off x="9829800" y="2587752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9464040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Annual dilated eye exam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9464040" y="3200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Annual urine microalbumin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946404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Annual comprehensive foot exam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9464040" y="4206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 foot self-inspection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9464040" y="4709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Dental exams every 6 months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464040" y="5212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Flu · pneumococcal vaccines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9464040" y="5715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Sick day plan · glucagon on hand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DM Management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56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Clinical Takeaways — Endocrine NCLEX Essentials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03320" cy="2423160"/>
          </a:xfrm>
          <a:prstGeom prst="rect">
            <a:avLst/>
          </a:prstGeom>
          <a:solidFill>
            <a:srgbClr val="13315C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7033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83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Loops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2395728"/>
            <a:ext cx="3246120" cy="0"/>
          </a:xfrm>
          <a:prstGeom prst="line">
            <a:avLst/>
          </a:prstGeom>
          <a:noFill/>
          <a:ln w="6350">
            <a:solidFill>
              <a:srgbClr val="1E4A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Hormone excess → ↓ trophic hormone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Target-gland disease ≠ pituitary disease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3191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TSH is the best screen for thyroid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Always interpret labs together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80560" y="1554480"/>
            <a:ext cx="3703320" cy="2423160"/>
          </a:xfrm>
          <a:prstGeom prst="rect">
            <a:avLst/>
          </a:prstGeom>
          <a:solidFill>
            <a:srgbClr val="13315C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554480"/>
            <a:ext cx="37033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830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1783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 Disorders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709160" y="2395728"/>
            <a:ext cx="3246120" cy="0"/>
          </a:xfrm>
          <a:prstGeom prst="line">
            <a:avLst/>
          </a:prstGeom>
          <a:noFill/>
          <a:ln w="6350">
            <a:solidFill>
              <a:srgbClr val="1E4A7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0916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DI: ↑ dilute UOP · ↑ serum Na⁺ · hypotension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0916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SIADH: ↓ concentrated UOP · ↓ serum Na⁺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09160" y="3191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 → replace fluids · vasopressin/DDAVP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0916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SIADH → fluid restrict · 3% NS if severe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321040" y="1554480"/>
            <a:ext cx="3703320" cy="2423160"/>
          </a:xfrm>
          <a:prstGeom prst="rect">
            <a:avLst/>
          </a:prstGeom>
          <a:solidFill>
            <a:srgbClr val="13315C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21040" y="1554480"/>
            <a:ext cx="37033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98280" y="1783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Crises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549640" y="2395728"/>
            <a:ext cx="3246120" cy="0"/>
          </a:xfrm>
          <a:prstGeom prst="line">
            <a:avLst/>
          </a:prstGeom>
          <a:noFill/>
          <a:ln w="6350">
            <a:solidFill>
              <a:srgbClr val="1E4A7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54964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Storm: ↑↑ T, HR, BP · PTU + iodine + β-block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54964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Myxedema coma: bradycardia · hypothermia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549640" y="3191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Levothyroxine: empty stomach AM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54964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Post-thyroidectomy: tetany + airway watch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40080" y="4114800"/>
            <a:ext cx="3703320" cy="2423160"/>
          </a:xfrm>
          <a:prstGeom prst="rect">
            <a:avLst/>
          </a:prstGeom>
          <a:solidFill>
            <a:srgbClr val="13315C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40080" y="4114800"/>
            <a:ext cx="37033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502920" cy="5029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417320" y="43434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Balance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868680" y="4956048"/>
            <a:ext cx="3246120" cy="0"/>
          </a:xfrm>
          <a:prstGeom prst="line">
            <a:avLst/>
          </a:prstGeom>
          <a:noFill/>
          <a:ln w="6350">
            <a:solidFill>
              <a:srgbClr val="1E4A7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68680" y="5074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PTH ↑ Ca²⁺ · ↓ PO₄³⁻ (inverse relationship)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868680" y="5413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Chvostek + Trousseau = hypocalcemia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868680" y="5751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"Stones, bones, groans" = hypercalcemia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868680" y="6089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Hypercalcemia Rx: IVF + loop diuretic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480560" y="4114800"/>
            <a:ext cx="3703320" cy="2423160"/>
          </a:xfrm>
          <a:prstGeom prst="rect">
            <a:avLst/>
          </a:prstGeom>
          <a:solidFill>
            <a:srgbClr val="13315C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480560" y="4114800"/>
            <a:ext cx="37033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43400"/>
            <a:ext cx="502920" cy="5029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257800" y="43434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Rules</a:t>
            </a:r>
            <a:endParaRPr lang="en-US" sz="1600" dirty="0"/>
          </a:p>
        </p:txBody>
      </p:sp>
      <p:sp>
        <p:nvSpPr>
          <p:cNvPr id="46" name="Shape 39"/>
          <p:cNvSpPr/>
          <p:nvPr/>
        </p:nvSpPr>
        <p:spPr>
          <a:xfrm>
            <a:off x="4709160" y="4956048"/>
            <a:ext cx="3246120" cy="0"/>
          </a:xfrm>
          <a:prstGeom prst="line">
            <a:avLst/>
          </a:prstGeom>
          <a:noFill/>
          <a:ln w="6350">
            <a:solidFill>
              <a:srgbClr val="1E4A7B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709160" y="5074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Regular is the ONLY IV insulin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4709160" y="5413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NPH is the ONLY cloudy insulin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4709160" y="5751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mix long-acting (glargine, detemir)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4709160" y="6089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Mixing: CLEAR before CLOUDY (R → N)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8321040" y="4114800"/>
            <a:ext cx="3703320" cy="2423160"/>
          </a:xfrm>
          <a:prstGeom prst="rect">
            <a:avLst/>
          </a:prstGeom>
          <a:solidFill>
            <a:srgbClr val="13315C"/>
          </a:solidFill>
          <a:ln w="9525">
            <a:solidFill>
              <a:srgbClr val="1E4A7B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8321040" y="4114800"/>
            <a:ext cx="37033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43400"/>
            <a:ext cx="502920" cy="50292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9098280" y="43434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Emergencies</a:t>
            </a:r>
            <a:endParaRPr lang="en-US" sz="1600" dirty="0"/>
          </a:p>
        </p:txBody>
      </p:sp>
      <p:sp>
        <p:nvSpPr>
          <p:cNvPr id="55" name="Shape 47"/>
          <p:cNvSpPr/>
          <p:nvPr/>
        </p:nvSpPr>
        <p:spPr>
          <a:xfrm>
            <a:off x="8549640" y="4956048"/>
            <a:ext cx="3246120" cy="0"/>
          </a:xfrm>
          <a:prstGeom prst="line">
            <a:avLst/>
          </a:prstGeom>
          <a:noFill/>
          <a:ln w="6350">
            <a:solidFill>
              <a:srgbClr val="1E4A7B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8549640" y="5074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DKA: Type 1 · ketones · pH &lt; 7.35 · Kussmaul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8549640" y="5413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HHS: Type 2 · BG &gt; 600 · no ketones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8549640" y="5751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Both: IVF → insulin drip → replace K⁺</a:t>
            </a:r>
            <a:endParaRPr lang="en-US" sz="1000" dirty="0"/>
          </a:p>
        </p:txBody>
      </p:sp>
      <p:sp>
        <p:nvSpPr>
          <p:cNvPr id="59" name="Text 51"/>
          <p:cNvSpPr/>
          <p:nvPr/>
        </p:nvSpPr>
        <p:spPr>
          <a:xfrm>
            <a:off x="8549640" y="6089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Hypoglycemia (&lt;70): 15-15-15 rule · glucagon IM if unconscious</a:t>
            </a:r>
            <a:endParaRPr lang="en-US" sz="1000" dirty="0"/>
          </a:p>
        </p:txBody>
      </p:sp>
      <p:sp>
        <p:nvSpPr>
          <p:cNvPr id="60" name="Shape 52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1E4A7B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clinical NCLEX-RN® review — Saunders Comprehensive Review framework</a:t>
            </a:r>
            <a:endParaRPr lang="en-US" sz="1000" dirty="0"/>
          </a:p>
        </p:txBody>
      </p:sp>
      <p:sp>
        <p:nvSpPr>
          <p:cNvPr id="62" name="Text 54"/>
          <p:cNvSpPr/>
          <p:nvPr/>
        </p:nvSpPr>
        <p:spPr>
          <a:xfrm>
            <a:off x="853409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Presentation  •  56 / 56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Endocrine System — NCLEX Review</dc:title>
  <dc:subject>PptxGenJS Presentation</dc:subject>
  <dc:creator>Clinical Education</dc:creator>
  <cp:lastModifiedBy>Clinical Education</cp:lastModifiedBy>
  <cp:revision>1</cp:revision>
  <dcterms:created xsi:type="dcterms:W3CDTF">2026-04-22T22:14:53Z</dcterms:created>
  <dcterms:modified xsi:type="dcterms:W3CDTF">2026-04-22T22:14:53Z</dcterms:modified>
</cp:coreProperties>
</file>