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Changing — Current vs Proposed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35040" y="128016"/>
            <a:ext cx="713232" cy="182880"/>
          </a:xfrm>
          <a:prstGeom prst="rect">
            <a:avLst/>
          </a:prstGeom>
          <a:solidFill>
            <a:srgbClr val="FEF3C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0" y="12801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manual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803136" y="128016"/>
            <a:ext cx="713232" cy="182880"/>
          </a:xfrm>
          <a:prstGeom prst="rect">
            <a:avLst/>
          </a:prstGeom>
          <a:solidFill>
            <a:srgbClr val="D6E4F7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03136" y="12801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auto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7571232" y="128016"/>
            <a:ext cx="713232" cy="182880"/>
          </a:xfrm>
          <a:prstGeom prst="rect">
            <a:avLst/>
          </a:prstGeom>
          <a:solidFill>
            <a:srgbClr val="EEEDFE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71232" y="12801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change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8339328" y="128016"/>
            <a:ext cx="713232" cy="182880"/>
          </a:xfrm>
          <a:prstGeom prst="rect">
            <a:avLst/>
          </a:prstGeom>
          <a:solidFill>
            <a:srgbClr val="FEF3C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9328" y="12801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64592" y="658368"/>
            <a:ext cx="1170432" cy="29260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" y="65836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89888" y="658368"/>
            <a:ext cx="1444752" cy="29260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89888" y="65836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(Manual)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889504" y="658368"/>
            <a:ext cx="2011680" cy="29260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9504" y="6583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Automates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56048" y="658368"/>
            <a:ext cx="2633472" cy="29260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65836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Change (PipeApprove / DeployMind)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62672" y="658368"/>
            <a:ext cx="1389888" cy="29260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62672" y="658368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4592" y="969264"/>
            <a:ext cx="1170432" cy="749808"/>
          </a:xfrm>
          <a:prstGeom prst="rect">
            <a:avLst/>
          </a:prstGeom>
          <a:solidFill>
            <a:srgbClr val="D4860B"/>
          </a:solidFill>
          <a:ln w="3810">
            <a:solidFill>
              <a:srgbClr val="BBBBBB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060704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64592" y="137160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389888" y="969264"/>
            <a:ext cx="1444752" cy="749808"/>
          </a:xfrm>
          <a:prstGeom prst="rect">
            <a:avLst/>
          </a:prstGeom>
          <a:solidFill>
            <a:srgbClr val="FEF3CD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444752" y="1024128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A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&amp; Finance approve via email / Excel. No enforcement, no timeout, no audit trail.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2889504" y="969264"/>
            <a:ext cx="2011680" cy="749808"/>
          </a:xfrm>
          <a:prstGeom prst="rect">
            <a:avLst/>
          </a:prstGeom>
          <a:solidFill>
            <a:srgbClr val="D6E4F7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944368" y="102412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pauses pipeline at approval stage automatically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956048" y="969264"/>
            <a:ext cx="2633472" cy="749808"/>
          </a:xfrm>
          <a:prstGeom prst="rect">
            <a:avLst/>
          </a:prstGeom>
          <a:solidFill>
            <a:srgbClr val="EEEDFE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10912" y="1024128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changeset → generates risk score → adds plain-English summary to approval email (PipeApprove)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7662672" y="969264"/>
            <a:ext cx="1389888" cy="749808"/>
          </a:xfrm>
          <a:prstGeom prst="rect">
            <a:avLst/>
          </a:prstGeom>
          <a:solidFill>
            <a:srgbClr val="FEF3CD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17536" y="1024128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&amp; Finance click Approve / Reject in email. Email + timestamp logged to ServiceNow.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164592" y="1719072"/>
            <a:ext cx="1170432" cy="749808"/>
          </a:xfrm>
          <a:prstGeom prst="rect">
            <a:avLst/>
          </a:prstGeom>
          <a:solidFill>
            <a:srgbClr val="1B4F8A"/>
          </a:solidFill>
          <a:ln w="3810">
            <a:solidFill>
              <a:srgbClr val="BBBBBB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10512"/>
            <a:ext cx="274320" cy="27432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64592" y="212140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1389888" y="1719072"/>
            <a:ext cx="1444752" cy="749808"/>
          </a:xfrm>
          <a:prstGeom prst="rect">
            <a:avLst/>
          </a:prstGeom>
          <a:solidFill>
            <a:srgbClr val="FEF3CD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1444752" y="1773936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A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runs expdp manually. Ops runs tar manually. Separate SNOW tickets to each team.</a:t>
            </a:r>
            <a:endParaRPr lang="en-US" sz="800" dirty="0"/>
          </a:p>
        </p:txBody>
      </p:sp>
      <p:sp>
        <p:nvSpPr>
          <p:cNvPr id="39" name="Shape 35"/>
          <p:cNvSpPr/>
          <p:nvPr/>
        </p:nvSpPr>
        <p:spPr>
          <a:xfrm>
            <a:off x="2889504" y="1719072"/>
            <a:ext cx="2011680" cy="749808"/>
          </a:xfrm>
          <a:prstGeom prst="rect">
            <a:avLst/>
          </a:prstGeom>
          <a:solidFill>
            <a:srgbClr val="E8F1FA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2944368" y="177393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SSH → runs expdp + tar + holds GL jobs automatically. Logs attached to single SNOW ticket.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4956048" y="1719072"/>
            <a:ext cx="2633472" cy="749808"/>
          </a:xfrm>
          <a:prstGeom prst="rect">
            <a:avLst/>
          </a:prstGeom>
          <a:solidFill>
            <a:srgbClr val="F4F2FF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5010912" y="1773936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backup output → confirms rollback point is clean before any deployment starts (DeployMind)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7662672" y="1719072"/>
            <a:ext cx="1389888" cy="749808"/>
          </a:xfrm>
          <a:prstGeom prst="rect">
            <a:avLst/>
          </a:prstGeom>
          <a:solidFill>
            <a:srgbClr val="FAFAFA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7717536" y="1773936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45" name="Shape 41"/>
          <p:cNvSpPr/>
          <p:nvPr/>
        </p:nvSpPr>
        <p:spPr>
          <a:xfrm>
            <a:off x="164592" y="2468880"/>
            <a:ext cx="1170432" cy="749808"/>
          </a:xfrm>
          <a:prstGeom prst="rect">
            <a:avLst/>
          </a:prstGeom>
          <a:solidFill>
            <a:srgbClr val="3C3489"/>
          </a:solidFill>
          <a:ln w="3810">
            <a:solidFill>
              <a:srgbClr val="BBBBBB"/>
            </a:solidFill>
            <a:prstDash val="solid"/>
          </a:ln>
        </p:spPr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560320"/>
            <a:ext cx="274320" cy="274320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164592" y="287121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850" dirty="0"/>
          </a:p>
        </p:txBody>
      </p:sp>
      <p:sp>
        <p:nvSpPr>
          <p:cNvPr id="48" name="Shape 43"/>
          <p:cNvSpPr/>
          <p:nvPr/>
        </p:nvSpPr>
        <p:spPr>
          <a:xfrm>
            <a:off x="1389888" y="2468880"/>
            <a:ext cx="1444752" cy="749808"/>
          </a:xfrm>
          <a:prstGeom prst="rect">
            <a:avLst/>
          </a:prstGeom>
          <a:solidFill>
            <a:srgbClr val="FEF3CD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1444752" y="2523744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A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runs SQL manually. Ops SCP'd FMX/Unix files manually. Per instance, per team.</a:t>
            </a:r>
            <a:endParaRPr lang="en-US" sz="800" dirty="0"/>
          </a:p>
        </p:txBody>
      </p:sp>
      <p:sp>
        <p:nvSpPr>
          <p:cNvPr id="50" name="Shape 45"/>
          <p:cNvSpPr/>
          <p:nvPr/>
        </p:nvSpPr>
        <p:spPr>
          <a:xfrm>
            <a:off x="2889504" y="2468880"/>
            <a:ext cx="2011680" cy="749808"/>
          </a:xfrm>
          <a:prstGeom prst="rect">
            <a:avLst/>
          </a:prstGeom>
          <a:solidFill>
            <a:srgbClr val="D6E4F7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2944368" y="252374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runs sqlplus + SCP FMX + SCP Unix/SH across CRB → NA → SP → Canada → NDH</a:t>
            </a:r>
            <a:endParaRPr lang="en-US" sz="800" dirty="0"/>
          </a:p>
        </p:txBody>
      </p:sp>
      <p:sp>
        <p:nvSpPr>
          <p:cNvPr id="52" name="Shape 47"/>
          <p:cNvSpPr/>
          <p:nvPr/>
        </p:nvSpPr>
        <p:spPr>
          <a:xfrm>
            <a:off x="4956048" y="2468880"/>
            <a:ext cx="2633472" cy="749808"/>
          </a:xfrm>
          <a:prstGeom prst="rect">
            <a:avLst/>
          </a:prstGeom>
          <a:solidFill>
            <a:srgbClr val="EEEDFE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5010912" y="2523744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spool log → identifies exact error, object &amp; line → recommends targeted fix or rollback → emails developer (DeployMind) ★ Most critical</a:t>
            </a:r>
            <a:endParaRPr lang="en-US" sz="750" dirty="0"/>
          </a:p>
        </p:txBody>
      </p:sp>
      <p:sp>
        <p:nvSpPr>
          <p:cNvPr id="54" name="Shape 49"/>
          <p:cNvSpPr/>
          <p:nvPr/>
        </p:nvSpPr>
        <p:spPr>
          <a:xfrm>
            <a:off x="7662672" y="2468880"/>
            <a:ext cx="1389888" cy="749808"/>
          </a:xfrm>
          <a:prstGeom prst="rect">
            <a:avLst/>
          </a:prstGeom>
          <a:solidFill>
            <a:srgbClr val="FEF3CD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7717536" y="252374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fixes object if error found. Clicks Redeploy in email. Jenkins redeploys that one object only.</a:t>
            </a:r>
            <a:endParaRPr lang="en-US" sz="800" dirty="0"/>
          </a:p>
        </p:txBody>
      </p:sp>
      <p:sp>
        <p:nvSpPr>
          <p:cNvPr id="56" name="Shape 51"/>
          <p:cNvSpPr/>
          <p:nvPr/>
        </p:nvSpPr>
        <p:spPr>
          <a:xfrm>
            <a:off x="164592" y="3218688"/>
            <a:ext cx="1170432" cy="749808"/>
          </a:xfrm>
          <a:prstGeom prst="rect">
            <a:avLst/>
          </a:prstGeom>
          <a:solidFill>
            <a:srgbClr val="2E86C1"/>
          </a:solidFill>
          <a:ln w="3810">
            <a:solidFill>
              <a:srgbClr val="BBBBBB"/>
            </a:solidFill>
            <a:prstDash val="solid"/>
          </a:ln>
        </p:spPr>
      </p:sp>
      <p:pic>
        <p:nvPicPr>
          <p:cNvPr id="5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3310128"/>
            <a:ext cx="274320" cy="274320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164592" y="362102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50" dirty="0"/>
          </a:p>
        </p:txBody>
      </p:sp>
      <p:sp>
        <p:nvSpPr>
          <p:cNvPr id="59" name="Shape 53"/>
          <p:cNvSpPr/>
          <p:nvPr/>
        </p:nvSpPr>
        <p:spPr>
          <a:xfrm>
            <a:off x="1389888" y="3218688"/>
            <a:ext cx="1444752" cy="749808"/>
          </a:xfrm>
          <a:prstGeom prst="rect">
            <a:avLst/>
          </a:prstGeom>
          <a:solidFill>
            <a:srgbClr val="FEF3CD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1444752" y="3273552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A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validated by email reply. No formal record of who confirmed or when.</a:t>
            </a:r>
            <a:endParaRPr lang="en-US" sz="800" dirty="0"/>
          </a:p>
        </p:txBody>
      </p:sp>
      <p:sp>
        <p:nvSpPr>
          <p:cNvPr id="61" name="Shape 55"/>
          <p:cNvSpPr/>
          <p:nvPr/>
        </p:nvSpPr>
        <p:spPr>
          <a:xfrm>
            <a:off x="2889504" y="3218688"/>
            <a:ext cx="2011680" cy="749808"/>
          </a:xfrm>
          <a:prstGeom prst="rect">
            <a:avLst/>
          </a:prstGeom>
          <a:solidFill>
            <a:srgbClr val="E8F1FA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62" name="Text 56"/>
          <p:cNvSpPr/>
          <p:nvPr/>
        </p:nvSpPr>
        <p:spPr>
          <a:xfrm>
            <a:off x="2944368" y="32735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emails deployment log + AI summary to developer per instance automatically</a:t>
            </a:r>
            <a:endParaRPr lang="en-US" sz="800" dirty="0"/>
          </a:p>
        </p:txBody>
      </p:sp>
      <p:sp>
        <p:nvSpPr>
          <p:cNvPr id="63" name="Shape 57"/>
          <p:cNvSpPr/>
          <p:nvPr/>
        </p:nvSpPr>
        <p:spPr>
          <a:xfrm>
            <a:off x="4956048" y="3218688"/>
            <a:ext cx="2633472" cy="749808"/>
          </a:xfrm>
          <a:prstGeom prst="rect">
            <a:avLst/>
          </a:prstGeom>
          <a:solidFill>
            <a:srgbClr val="F4F2FF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64" name="Text 58"/>
          <p:cNvSpPr/>
          <p:nvPr/>
        </p:nvSpPr>
        <p:spPr>
          <a:xfrm>
            <a:off x="5010912" y="3273552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plain-English log summary → developer reads 4 lines not 400 (DeployMind)</a:t>
            </a:r>
            <a:endParaRPr lang="en-US" sz="800" dirty="0"/>
          </a:p>
        </p:txBody>
      </p:sp>
      <p:sp>
        <p:nvSpPr>
          <p:cNvPr id="65" name="Shape 59"/>
          <p:cNvSpPr/>
          <p:nvPr/>
        </p:nvSpPr>
        <p:spPr>
          <a:xfrm>
            <a:off x="7662672" y="3218688"/>
            <a:ext cx="1389888" cy="749808"/>
          </a:xfrm>
          <a:prstGeom prst="rect">
            <a:avLst/>
          </a:prstGeom>
          <a:solidFill>
            <a:srgbClr val="FEF3CD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66" name="Text 60"/>
          <p:cNvSpPr/>
          <p:nvPr/>
        </p:nvSpPr>
        <p:spPr>
          <a:xfrm>
            <a:off x="7717536" y="3273552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clicks Validate in email. Name + timestamp recorded in build log and ServiceNow.</a:t>
            </a:r>
            <a:endParaRPr lang="en-US" sz="800" dirty="0"/>
          </a:p>
        </p:txBody>
      </p:sp>
      <p:sp>
        <p:nvSpPr>
          <p:cNvPr id="67" name="Shape 61"/>
          <p:cNvSpPr/>
          <p:nvPr/>
        </p:nvSpPr>
        <p:spPr>
          <a:xfrm>
            <a:off x="164592" y="3968496"/>
            <a:ext cx="1170432" cy="749808"/>
          </a:xfrm>
          <a:prstGeom prst="rect">
            <a:avLst/>
          </a:prstGeom>
          <a:solidFill>
            <a:srgbClr val="0E6655"/>
          </a:solidFill>
          <a:ln w="3810">
            <a:solidFill>
              <a:srgbClr val="BBBBBB"/>
            </a:solidFill>
            <a:prstDash val="solid"/>
          </a:ln>
        </p:spPr>
      </p:sp>
      <p:pic>
        <p:nvPicPr>
          <p:cNvPr id="6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4059936"/>
            <a:ext cx="274320" cy="274320"/>
          </a:xfrm>
          <a:prstGeom prst="rect">
            <a:avLst/>
          </a:prstGeom>
        </p:spPr>
      </p:pic>
      <p:sp>
        <p:nvSpPr>
          <p:cNvPr id="69" name="Text 62"/>
          <p:cNvSpPr/>
          <p:nvPr/>
        </p:nvSpPr>
        <p:spPr>
          <a:xfrm>
            <a:off x="164592" y="437083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Close</a:t>
            </a:r>
            <a:endParaRPr lang="en-US" sz="850" dirty="0"/>
          </a:p>
        </p:txBody>
      </p:sp>
      <p:sp>
        <p:nvSpPr>
          <p:cNvPr id="70" name="Shape 63"/>
          <p:cNvSpPr/>
          <p:nvPr/>
        </p:nvSpPr>
        <p:spPr>
          <a:xfrm>
            <a:off x="1389888" y="3968496"/>
            <a:ext cx="1444752" cy="749808"/>
          </a:xfrm>
          <a:prstGeom prst="rect">
            <a:avLst/>
          </a:prstGeom>
          <a:solidFill>
            <a:srgbClr val="FEF3CD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71" name="Text 64"/>
          <p:cNvSpPr/>
          <p:nvPr/>
        </p:nvSpPr>
        <p:spPr>
          <a:xfrm>
            <a:off x="1444752" y="4023360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5A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team manually bounced WebLogic. Multiple SNOW tickets closed separately.</a:t>
            </a:r>
            <a:endParaRPr lang="en-US" sz="800" dirty="0"/>
          </a:p>
        </p:txBody>
      </p:sp>
      <p:sp>
        <p:nvSpPr>
          <p:cNvPr id="72" name="Shape 65"/>
          <p:cNvSpPr/>
          <p:nvPr/>
        </p:nvSpPr>
        <p:spPr>
          <a:xfrm>
            <a:off x="2889504" y="3968496"/>
            <a:ext cx="2011680" cy="749808"/>
          </a:xfrm>
          <a:prstGeom prst="rect">
            <a:avLst/>
          </a:prstGeom>
          <a:solidFill>
            <a:srgbClr val="D6E4F7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73" name="Text 66"/>
          <p:cNvSpPr/>
          <p:nvPr/>
        </p:nvSpPr>
        <p:spPr>
          <a:xfrm>
            <a:off x="2944368" y="40233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SSH → WebLogic refresh script + GL jobs released + single SNOW ticket auto-closed with all logs</a:t>
            </a:r>
            <a:endParaRPr lang="en-US" sz="800" dirty="0"/>
          </a:p>
        </p:txBody>
      </p:sp>
      <p:sp>
        <p:nvSpPr>
          <p:cNvPr id="74" name="Shape 67"/>
          <p:cNvSpPr/>
          <p:nvPr/>
        </p:nvSpPr>
        <p:spPr>
          <a:xfrm>
            <a:off x="4956048" y="3968496"/>
            <a:ext cx="2633472" cy="749808"/>
          </a:xfrm>
          <a:prstGeom prst="rect">
            <a:avLst/>
          </a:prstGeom>
          <a:solidFill>
            <a:srgbClr val="EEEDFE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75" name="Text 68"/>
          <p:cNvSpPr/>
          <p:nvPr/>
        </p:nvSpPr>
        <p:spPr>
          <a:xfrm>
            <a:off x="5010912" y="4023360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full release summary report — what deployed, what failed, how resolved, total time (DeployMind)</a:t>
            </a:r>
            <a:endParaRPr lang="en-US" sz="800" dirty="0"/>
          </a:p>
        </p:txBody>
      </p:sp>
      <p:sp>
        <p:nvSpPr>
          <p:cNvPr id="76" name="Shape 69"/>
          <p:cNvSpPr/>
          <p:nvPr/>
        </p:nvSpPr>
        <p:spPr>
          <a:xfrm>
            <a:off x="7662672" y="3968496"/>
            <a:ext cx="1389888" cy="749808"/>
          </a:xfrm>
          <a:prstGeom prst="rect">
            <a:avLst/>
          </a:prstGeom>
          <a:solidFill>
            <a:srgbClr val="F4F4F4"/>
          </a:solidFill>
          <a:ln w="3810">
            <a:solidFill>
              <a:srgbClr val="BBBBBB"/>
            </a:solidFill>
            <a:prstDash val="solid"/>
          </a:ln>
        </p:spPr>
      </p:sp>
      <p:sp>
        <p:nvSpPr>
          <p:cNvPr id="77" name="Text 70"/>
          <p:cNvSpPr/>
          <p:nvPr/>
        </p:nvSpPr>
        <p:spPr>
          <a:xfrm>
            <a:off x="7717536" y="402336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78" name="Shape 7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79" name="Text 72"/>
          <p:cNvSpPr/>
          <p:nvPr/>
        </p:nvSpPr>
        <p:spPr>
          <a:xfrm>
            <a:off x="27432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CSSNA Release Management  |  PipeApprove &amp; DeployMind  |  Confidential  |  April 2026</a:t>
            </a:r>
            <a:endParaRPr lang="en-US" sz="900" dirty="0"/>
          </a:p>
        </p:txBody>
      </p:sp>
      <p:sp>
        <p:nvSpPr>
          <p:cNvPr id="80" name="Text 73"/>
          <p:cNvSpPr/>
          <p:nvPr/>
        </p:nvSpPr>
        <p:spPr>
          <a:xfrm>
            <a:off x="8503920" y="4846320"/>
            <a:ext cx="5486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45720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We Need &amp; What It Changes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694944"/>
            <a:ext cx="420624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694944"/>
            <a:ext cx="4206240" cy="29260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749808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5488" y="694944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PipeApprove — Email Approval Bot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1069848"/>
            <a:ext cx="91440" cy="9144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0624" y="1033272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Jenkins emailext plugin + small middleware (~50 lines)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4320" y="1362456"/>
            <a:ext cx="91440" cy="9144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0624" y="1325880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ServiceNow REST API for ticket update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4320" y="1655064"/>
            <a:ext cx="91440" cy="9144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0624" y="1618488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role: Reads changeset → writes risk summary in approval email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74320" y="1947672"/>
            <a:ext cx="91440" cy="9144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0624" y="1911096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tool — uses plugins already on prerequisite list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82880" y="2542032"/>
            <a:ext cx="4206240" cy="2084832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82880" y="2542032"/>
            <a:ext cx="4206240" cy="292608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2596896"/>
            <a:ext cx="182880" cy="1828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75488" y="2542032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DeployMind — AI Deployment Intelligence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274320" y="2916936"/>
            <a:ext cx="91440" cy="91440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20624" y="288036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Anthropic API (Claude) — called from Jenkins stage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274320" y="3227832"/>
            <a:ext cx="91440" cy="91440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20624" y="3191256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Deployment spool log (text file, ~2000 tokens)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274320" y="3538728"/>
            <a:ext cx="91440" cy="91440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20624" y="350215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Error object, line, root cause, fix recommendation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274320" y="3849624"/>
            <a:ext cx="91440" cy="91440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20624" y="3813048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Under $0.01 per log analysis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274320" y="4160520"/>
            <a:ext cx="91440" cy="91440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20624" y="412394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Ready in days using existing UAT logs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4663440" y="694944"/>
            <a:ext cx="1005840" cy="1005840"/>
          </a:xfrm>
          <a:prstGeom prst="rect">
            <a:avLst/>
          </a:prstGeom>
          <a:solidFill>
            <a:srgbClr val="EEED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663440" y="7498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33" name="Text 29"/>
          <p:cNvSpPr/>
          <p:nvPr/>
        </p:nvSpPr>
        <p:spPr>
          <a:xfrm>
            <a:off x="4663440" y="11155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touchpoints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4663440" y="1325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· backup · log · fix · summary</a:t>
            </a:r>
            <a:endParaRPr lang="en-US" sz="750" dirty="0"/>
          </a:p>
        </p:txBody>
      </p:sp>
      <p:sp>
        <p:nvSpPr>
          <p:cNvPr id="35" name="Shape 31"/>
          <p:cNvSpPr/>
          <p:nvPr/>
        </p:nvSpPr>
        <p:spPr>
          <a:xfrm>
            <a:off x="5779008" y="694944"/>
            <a:ext cx="1005840" cy="1005840"/>
          </a:xfrm>
          <a:prstGeom prst="rect">
            <a:avLst/>
          </a:prstGeom>
          <a:solidFill>
            <a:srgbClr val="FEF3C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779008" y="7498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37" name="Text 33"/>
          <p:cNvSpPr/>
          <p:nvPr/>
        </p:nvSpPr>
        <p:spPr>
          <a:xfrm>
            <a:off x="5779008" y="11155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decisions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5779008" y="1325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· Finance · Developer</a:t>
            </a:r>
            <a:endParaRPr lang="en-US" sz="750" dirty="0"/>
          </a:p>
        </p:txBody>
      </p:sp>
      <p:sp>
        <p:nvSpPr>
          <p:cNvPr id="39" name="Shape 35"/>
          <p:cNvSpPr/>
          <p:nvPr/>
        </p:nvSpPr>
        <p:spPr>
          <a:xfrm>
            <a:off x="6894576" y="694944"/>
            <a:ext cx="1005840" cy="1005840"/>
          </a:xfrm>
          <a:prstGeom prst="rect">
            <a:avLst/>
          </a:prstGeom>
          <a:solidFill>
            <a:srgbClr val="D6E4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894576" y="7498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41" name="Text 37"/>
          <p:cNvSpPr/>
          <p:nvPr/>
        </p:nvSpPr>
        <p:spPr>
          <a:xfrm>
            <a:off x="6894576" y="11155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auto steps</a:t>
            </a:r>
            <a:endParaRPr lang="en-US" sz="850" dirty="0"/>
          </a:p>
        </p:txBody>
      </p:sp>
      <p:sp>
        <p:nvSpPr>
          <p:cNvPr id="42" name="Text 38"/>
          <p:cNvSpPr/>
          <p:nvPr/>
        </p:nvSpPr>
        <p:spPr>
          <a:xfrm>
            <a:off x="6894576" y="1325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deploy · email · SNOW</a:t>
            </a:r>
            <a:endParaRPr lang="en-US" sz="750" dirty="0"/>
          </a:p>
        </p:txBody>
      </p:sp>
      <p:sp>
        <p:nvSpPr>
          <p:cNvPr id="43" name="Shape 39"/>
          <p:cNvSpPr/>
          <p:nvPr/>
        </p:nvSpPr>
        <p:spPr>
          <a:xfrm>
            <a:off x="8010144" y="694944"/>
            <a:ext cx="1005840" cy="1005840"/>
          </a:xfrm>
          <a:prstGeom prst="rect">
            <a:avLst/>
          </a:prstGeom>
          <a:solidFill>
            <a:srgbClr val="D5F5E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010144" y="7498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45" name="Text 41"/>
          <p:cNvSpPr/>
          <p:nvPr/>
        </p:nvSpPr>
        <p:spPr>
          <a:xfrm>
            <a:off x="8010144" y="11155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ticket</a:t>
            </a:r>
            <a:endParaRPr lang="en-US" sz="850" dirty="0"/>
          </a:p>
        </p:txBody>
      </p:sp>
      <p:sp>
        <p:nvSpPr>
          <p:cNvPr id="46" name="Text 42"/>
          <p:cNvSpPr/>
          <p:nvPr/>
        </p:nvSpPr>
        <p:spPr>
          <a:xfrm>
            <a:off x="8010144" y="1325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Auto-created, updated &amp; closed</a:t>
            </a:r>
            <a:endParaRPr lang="en-US" sz="750" dirty="0"/>
          </a:p>
        </p:txBody>
      </p:sp>
      <p:sp>
        <p:nvSpPr>
          <p:cNvPr id="47" name="Shape 43"/>
          <p:cNvSpPr/>
          <p:nvPr/>
        </p:nvSpPr>
        <p:spPr>
          <a:xfrm>
            <a:off x="4663440" y="1810512"/>
            <a:ext cx="4297680" cy="1371600"/>
          </a:xfrm>
          <a:prstGeom prst="rect">
            <a:avLst/>
          </a:prstGeom>
          <a:solidFill>
            <a:srgbClr val="EEEDFE"/>
          </a:solidFill>
          <a:ln w="10160">
            <a:solidFill>
              <a:srgbClr val="AFA9EC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4663440" y="1810512"/>
            <a:ext cx="201168" cy="1371600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1865376"/>
            <a:ext cx="274320" cy="274320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4937760" y="186537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DeployMind AI output example: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4937760" y="2103120"/>
            <a:ext cx="395020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"ORA-00942 on BMS_ORDER_PROC · Line 47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Error: table or view does not exist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BMS_ORDER_MASTER missing from CRB schema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of 14 objects deployed OK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Redeploy BMS_ORDER_PROC only — no full rollback needed"</a:t>
            </a:r>
            <a:endParaRPr lang="en-US" sz="900" dirty="0"/>
          </a:p>
        </p:txBody>
      </p:sp>
      <p:sp>
        <p:nvSpPr>
          <p:cNvPr id="52" name="Shape 47"/>
          <p:cNvSpPr/>
          <p:nvPr/>
        </p:nvSpPr>
        <p:spPr>
          <a:xfrm>
            <a:off x="4663440" y="3255264"/>
            <a:ext cx="4297680" cy="64008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4663440" y="3255264"/>
            <a:ext cx="201168" cy="6400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4937760" y="3255264"/>
            <a:ext cx="3950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are not just automating deployments.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building a pipeline that thinks."</a:t>
            </a:r>
            <a:endParaRPr lang="en-US" sz="1100" dirty="0"/>
          </a:p>
        </p:txBody>
      </p:sp>
      <p:sp>
        <p:nvSpPr>
          <p:cNvPr id="55" name="Shape 50"/>
          <p:cNvSpPr/>
          <p:nvPr/>
        </p:nvSpPr>
        <p:spPr>
          <a:xfrm>
            <a:off x="4663440" y="3968496"/>
            <a:ext cx="1371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1"/>
          <p:cNvSpPr/>
          <p:nvPr/>
        </p:nvSpPr>
        <p:spPr>
          <a:xfrm>
            <a:off x="4663440" y="3968496"/>
            <a:ext cx="1371600" cy="23774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4663440" y="39684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00" dirty="0"/>
          </a:p>
        </p:txBody>
      </p:sp>
      <p:sp>
        <p:nvSpPr>
          <p:cNvPr id="58" name="Text 53"/>
          <p:cNvSpPr/>
          <p:nvPr/>
        </p:nvSpPr>
        <p:spPr>
          <a:xfrm>
            <a:off x="4718304" y="422452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approval</a:t>
            </a:r>
            <a:endParaRPr lang="en-US" sz="850" dirty="0"/>
          </a:p>
        </p:txBody>
      </p:sp>
      <p:sp>
        <p:nvSpPr>
          <p:cNvPr id="59" name="Text 54"/>
          <p:cNvSpPr/>
          <p:nvPr/>
        </p:nvSpPr>
        <p:spPr>
          <a:xfrm>
            <a:off x="4718304" y="442569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this approach today</a:t>
            </a:r>
            <a:endParaRPr lang="en-US" sz="750" dirty="0"/>
          </a:p>
        </p:txBody>
      </p:sp>
      <p:sp>
        <p:nvSpPr>
          <p:cNvPr id="60" name="Shape 55"/>
          <p:cNvSpPr/>
          <p:nvPr/>
        </p:nvSpPr>
        <p:spPr>
          <a:xfrm>
            <a:off x="6108192" y="3968496"/>
            <a:ext cx="1371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1" name="Shape 56"/>
          <p:cNvSpPr/>
          <p:nvPr/>
        </p:nvSpPr>
        <p:spPr>
          <a:xfrm>
            <a:off x="6108192" y="3968496"/>
            <a:ext cx="1371600" cy="237744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6108192" y="39684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00" dirty="0"/>
          </a:p>
        </p:txBody>
      </p:sp>
      <p:sp>
        <p:nvSpPr>
          <p:cNvPr id="63" name="Text 58"/>
          <p:cNvSpPr/>
          <p:nvPr/>
        </p:nvSpPr>
        <p:spPr>
          <a:xfrm>
            <a:off x="6163056" y="422452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DeployMind</a:t>
            </a:r>
            <a:endParaRPr lang="en-US" sz="850" dirty="0"/>
          </a:p>
        </p:txBody>
      </p:sp>
      <p:sp>
        <p:nvSpPr>
          <p:cNvPr id="64" name="Text 59"/>
          <p:cNvSpPr/>
          <p:nvPr/>
        </p:nvSpPr>
        <p:spPr>
          <a:xfrm>
            <a:off x="6163056" y="442569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with UAT logs — days away</a:t>
            </a:r>
            <a:endParaRPr lang="en-US" sz="750" dirty="0"/>
          </a:p>
        </p:txBody>
      </p:sp>
      <p:sp>
        <p:nvSpPr>
          <p:cNvPr id="65" name="Shape 60"/>
          <p:cNvSpPr/>
          <p:nvPr/>
        </p:nvSpPr>
        <p:spPr>
          <a:xfrm>
            <a:off x="7552944" y="3968496"/>
            <a:ext cx="1371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6" name="Shape 61"/>
          <p:cNvSpPr/>
          <p:nvPr/>
        </p:nvSpPr>
        <p:spPr>
          <a:xfrm>
            <a:off x="7552944" y="3968496"/>
            <a:ext cx="1371600" cy="237744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52944" y="39684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00" dirty="0"/>
          </a:p>
        </p:txBody>
      </p:sp>
      <p:sp>
        <p:nvSpPr>
          <p:cNvPr id="68" name="Text 63"/>
          <p:cNvSpPr/>
          <p:nvPr/>
        </p:nvSpPr>
        <p:spPr>
          <a:xfrm>
            <a:off x="7607808" y="422452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go-live</a:t>
            </a:r>
            <a:endParaRPr lang="en-US" sz="850" dirty="0"/>
          </a:p>
        </p:txBody>
      </p:sp>
      <p:sp>
        <p:nvSpPr>
          <p:cNvPr id="69" name="Text 64"/>
          <p:cNvSpPr/>
          <p:nvPr/>
        </p:nvSpPr>
        <p:spPr>
          <a:xfrm>
            <a:off x="7607808" y="442569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in 2–3 weeks</a:t>
            </a:r>
            <a:endParaRPr lang="en-US" sz="750" dirty="0"/>
          </a:p>
        </p:txBody>
      </p:sp>
      <p:sp>
        <p:nvSpPr>
          <p:cNvPr id="70" name="Shape 6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71" name="Text 66"/>
          <p:cNvSpPr/>
          <p:nvPr/>
        </p:nvSpPr>
        <p:spPr>
          <a:xfrm>
            <a:off x="274320" y="4846320"/>
            <a:ext cx="7315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CSSNA Release Management  |  PipeApprove &amp; DeployMind  |  Confidential  |  April 2026</a:t>
            </a:r>
            <a:endParaRPr lang="en-US" sz="900" dirty="0"/>
          </a:p>
        </p:txBody>
      </p:sp>
      <p:sp>
        <p:nvSpPr>
          <p:cNvPr id="72" name="Text 67"/>
          <p:cNvSpPr/>
          <p:nvPr/>
        </p:nvSpPr>
        <p:spPr>
          <a:xfrm>
            <a:off x="8503920" y="4846320"/>
            <a:ext cx="5486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PipeApprove &amp; DeployMind — One Screen Summary</dc:title>
  <dc:subject>PptxGenJS Presentation</dc:subject>
  <dc:creator>PptxGenJS</dc:creator>
  <cp:lastModifiedBy>PptxGenJS</cp:lastModifiedBy>
  <cp:revision>1</cp:revision>
  <dcterms:created xsi:type="dcterms:W3CDTF">2026-04-20T09:49:45Z</dcterms:created>
  <dcterms:modified xsi:type="dcterms:W3CDTF">2026-04-20T09:49:45Z</dcterms:modified>
</cp:coreProperties>
</file>