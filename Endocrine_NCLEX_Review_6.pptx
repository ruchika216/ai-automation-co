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NCLEX REVIEW SERIES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3383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9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Anatomy, Physiology, Pharmacology &amp; Clinical Disorders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4023360"/>
            <a:ext cx="18288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51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clinical review covering: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4846320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77316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Hormonal physiology &amp; feedback regulation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5138928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065776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Adrenal, pituitary, thyroid, parathyroid &amp; pancreatic disorders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5431536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35838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pharmacology &amp; nursing implications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5724144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56509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complications — DKA, HHNS, thyroid storm, adrenal crisis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Saunders Comprehensive Review for NCLEX-RN® Examination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Review Covers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09728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65960" y="1993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&amp; Organization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359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Glands, hormone chemistry, feedback regulation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828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828800"/>
            <a:ext cx="109728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1608" y="1920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558888" y="1993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Hormones by Class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58888" y="2359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Steroids, catecholamines, ADH, thyroid, PTH, insulin, glucagon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71800"/>
            <a:ext cx="109728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65960" y="3136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 Disorders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65960" y="3502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Addison's, Cushing's, Conn's, Pheochromocytoma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3008" y="2971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3008" y="2971800"/>
            <a:ext cx="109728" cy="960120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608" y="3063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558888" y="3136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Pituitary / ADH Disorders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58888" y="3502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Insipidus, SIADH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14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114800"/>
            <a:ext cx="10972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206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965960" y="4279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Disorders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65960" y="4645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Hypothyroidism, Hyperthyroidism, Graves', Thyroid Storm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3008" y="4114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3008" y="4114800"/>
            <a:ext cx="109728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61608" y="4206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558888" y="4279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 Disorders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58888" y="4645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Hypoparathyroidism, Hyperparathyroidism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" y="5257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5257800"/>
            <a:ext cx="109728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349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965960" y="5422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965960" y="5788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1, Type 2, DKA, HHNS, Hypoglycemia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33008" y="5257800"/>
            <a:ext cx="531860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3008" y="5257800"/>
            <a:ext cx="109728" cy="960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1608" y="5349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VIII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558888" y="5422392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Pharmacology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58888" y="5788152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Steroids, insulins, orals, antithyroids, hormone replacements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Outline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24602" y="0"/>
            <a:ext cx="4267093" cy="68580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291840"/>
            <a:ext cx="73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&amp;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Physiology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glands, hormones, and feedback mechanisms that regulate homeostasis, metabolism, growth, and reproduction.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· INTRODUCTION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Endocrine System?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94360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59436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endocrine system is a network of ductless glands that secrete chemical messengers called hormones directly into the bloodstream. Hormones travel to distant target tissues where they bind to specific receptors and regulate cellular activity.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Core Functions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0624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41605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Homeostasis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25880" y="4434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optimal blood glucose, fluid, electrolyte, and pH balance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77316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727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Metabolism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25880" y="5001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cellular metabolism, growth, and energy use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4009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5294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25880" y="5568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male and female reproductive systems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907024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8613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Response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325880" y="613562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 glucose &amp; raise BP in emergencies (fight-or-flight)</a:t>
            </a:r>
            <a:endParaRPr lang="en-US" sz="10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737360"/>
            <a:ext cx="4846320" cy="44805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 · Introduction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56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Organs of the Endocrine System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7607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69164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691640"/>
            <a:ext cx="50292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801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Major Glands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66560" y="212140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Hypothalamus, pituitary, pineal, thyroid, parathyroids (×4), thymus, adrenals (×2), pancreas, gonads.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83680" y="283464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834640"/>
            <a:ext cx="50292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944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Gland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66560" y="326440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pituitary is called the "master gland" because it controls the thyroid, adrenals, and gonads — but it answers to the hypothalamus.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0" y="397764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83680" y="3977640"/>
            <a:ext cx="5029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4087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Function Organs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66560" y="440740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Pancreas, ovaries, testes, and placenta are BOTH endocrine (internal secretion) AND exocrine or reproductive.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0" y="512064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83680" y="5120640"/>
            <a:ext cx="50292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5230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766560" y="555040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Disorders rarely stay isolated. A pituitary tumor can disrupt thyroid, adrenal, and gonadal function all at once.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Organ Overview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REFERENCE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Hormone Chart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8288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276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68880" y="1600200"/>
            <a:ext cx="34747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627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Hormone(s)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201168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276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600200"/>
            <a:ext cx="384048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6276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Action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057400"/>
            <a:ext cx="111556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7568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07568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TRH, CRH, GnRH, GHRH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07568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Ant. pituitary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207568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Release/inhibit anterior pituitary hormones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487168"/>
            <a:ext cx="111556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50545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Ant. Pituitary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50545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TSH, ACTH, FSH, LH, GH, PRL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50545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Thyroid, adrenal cortex, gonads, bone, breast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250545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other endocrine glands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916936"/>
            <a:ext cx="111556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935224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Post. Pituitary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293522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(vasopressin), Oxytocin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293522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Kidneys, uterus, breast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293522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retention; labor &amp; milk let-down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346704"/>
            <a:ext cx="111556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36499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3364992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T3, T4, Calcitonin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3364992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body cell; bones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33649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rate ↑; lower serum Ca²⁺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776472"/>
            <a:ext cx="111556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79476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(×4)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0320" y="3794760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Hormone (PTH)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3794760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Bone, kidney, gut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0" y="37947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serum Ca²⁺; lower phosphate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4206240"/>
            <a:ext cx="111556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22452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60320" y="4224528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Cortisol, Aldosterone, Androgens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4224528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tissues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2245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response, Na⁺/water retention, sex characteristics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636008"/>
            <a:ext cx="111556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654296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Medulla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560320" y="4654296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Epinephrine, Norepinephrine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4654296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Heart, vessels, lungs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0" y="465429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Fight-or-flight (↑HR, ↑BP, ↑BG)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5065776"/>
            <a:ext cx="1115568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5084064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60320" y="5084064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(β), Glucagon (α), Somatostatin (δ)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35040" y="508406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Liver, muscle, fat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508406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(insulin) / raise (glucagon) blood glucose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5495544"/>
            <a:ext cx="111556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5513832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Gonads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60320" y="5513832"/>
            <a:ext cx="3291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Estrogen, Progesterone, Testosterone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5513832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Reproductive organs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046720" y="551383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characteristics, reproduction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Master Chart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56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COMPARE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vs. Nervous System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949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39496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190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64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System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Messenger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31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(chemical)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3172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Bloodstream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33172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(seconds to hours to days)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33172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LONG-lasting effect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6868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3172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tissues; widespread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868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33172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lowers blood glucose over minutes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0" y="1600200"/>
            <a:ext cx="53949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1600200"/>
            <a:ext cx="539496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19072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32320" y="1664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Nervous System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662940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Messenger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09244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Neurotransmitters (electrical + chemical)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Pathway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092440" y="2834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/ synapses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6294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8092440" y="3337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(milliseconds)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62940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09244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effect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662940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09244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localized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6294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809244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nerves accelerate heart in &lt; 1 sec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79008"/>
            <a:ext cx="320040" cy="32004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280160" y="571500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pearl:  The two systems work together — e.g., the sympathetic nervous system triggers the adrenal medulla to release epinephrine during stress. This is why endocrine "emergencies" (adrenal crisis, thyroid storm) present like neurologic crises.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Compare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56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MASTER CONTROLLER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Hypothalamus–Pituitary Axis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03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05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Hypothalamus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3042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nervous system to endocrine system. Senses internal state (temp, osmolality, nutrients) and commands the pituitary.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Releases:  TRH • CRH • GnRH • GHRH • Dopamine (inhibits prolactin)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977640"/>
            <a:ext cx="5303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977640"/>
            <a:ext cx="5303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4223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114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Pituitary Gland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822960" y="46634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TSH, ACTH, FSH, LH, GH, Prolactin
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(vasopressin), Oxytocin — stored here, made in hypothalamus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09360" y="1645920"/>
            <a:ext cx="5394960" cy="4709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1645920"/>
            <a:ext cx="539496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Thyroid Negative Feedback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40280"/>
            <a:ext cx="5212080" cy="39776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0080" y="6080760"/>
            <a:ext cx="10911535" cy="320040"/>
          </a:xfrm>
          <a:prstGeom prst="rect">
            <a:avLst/>
          </a:prstGeom>
          <a:solidFill>
            <a:srgbClr val="FBEA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61081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Post-craniotomy, pituitary surgery, or head injury → monitor for ADH imbalance (DI or SIADH) — watch UOP, Na⁺, and neuro status.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HPA Axis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56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&amp; Parathyroid Glands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Anterior Neck Anatomy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5212080" cy="3977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60020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60020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Gland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1488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Butterfly-shaped, anterior neck, below larynx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lobes connected by isthmus; highly vascular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Secretes:  T3, T4 (metabolism), Calcitonin (↓ Ca²⁺)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dietary iodine to make T3/T4 — deficiency → goiter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406908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4069080"/>
            <a:ext cx="5303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 Glands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29400" y="4617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FOUR tiny glands behind the thyroid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Secrete Parathyroid Hormone (PTH)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PTH raises serum Ca²⁺ (pulls Ca from bone, absorbs in gut, reabsorbs in kidney)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of damage during thyroidectomy → post-op hypocalcemia!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Thyroid/Parathyroid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 Glands — Cortex vs. Medulla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&amp; 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2743200"/>
            <a:ext cx="2011680" cy="3200400"/>
          </a:xfrm>
          <a:prstGeom prst="roundRect">
            <a:avLst>
              <a:gd name="adj" fmla="val 45455"/>
            </a:avLst>
          </a:prstGeom>
          <a:solidFill>
            <a:srgbClr val="A5524C"/>
          </a:solidFill>
          <a:ln w="25400">
            <a:solidFill>
              <a:srgbClr val="8B3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240280"/>
            <a:ext cx="1645920" cy="64008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0"/>
            <a:ext cx="2377440" cy="7498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06240" y="2651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 Glomerulosa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9443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Mineralocorticoids (aldosterone)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3429000"/>
            <a:ext cx="2377440" cy="749808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06240" y="35204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 Fasciculata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38130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Glucocorticoids (cortisol)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4297680"/>
            <a:ext cx="2377440" cy="749808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06240" y="4389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 Reticularis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46817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hormones (androgens)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66160" y="5166360"/>
            <a:ext cx="2377440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206240" y="52578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Medulla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55504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Catecholamines (Epi, NorEpi)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600200"/>
            <a:ext cx="53949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160020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GFR Mnemonic  (cortex layers, superficial → deep)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21488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lomerulosa   → 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(aldosterone)
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asciculata    → 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(cortisol — anti-inflammatory, ↑BG)
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eticularis      →  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(androgens — small amount)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3977640"/>
            <a:ext cx="53949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397764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Medulla = SNS Gland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92240" y="45262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modified sympathetic ganglion. Secretes </a:t>
            </a:r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 (80%)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norepinephrine (20%)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bloodstream during stress.
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↑HR · ↑BP · ↑BG · bronchodilation · pupil dilation · ↓GI motility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Adrenal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Pancreas — Islets of Langerhans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35128" y="169164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5128" y="1691640"/>
            <a:ext cx="36576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6728" y="1965960"/>
            <a:ext cx="914400" cy="91440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6728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5128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α-cells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128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8008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GLUCAGON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8008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blood glucose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3728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Stimulates liver glycogenolysis &amp; gluconeogenesis. Released when BG is LOW.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7048" y="169164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67048" y="1691640"/>
            <a:ext cx="36576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8648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267048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β-cells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67048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9928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9928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blood glucose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95648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"Key" that opens cells to take up glucose. Released when BG is HIGH. Destroyed in Type 1 DM.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98968" y="169164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8968" y="1691640"/>
            <a:ext cx="3657600" cy="73152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70568" y="1965960"/>
            <a:ext cx="914400" cy="914400"/>
          </a:xfrm>
          <a:prstGeom prst="ellipse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70568" y="2057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198968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δ-cells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98968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81848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SOMATOSTATIN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1848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4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27568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both insulin AND glucagon. Fine-tunes glucose homeostasis.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5120640"/>
            <a:ext cx="10911535" cy="1234440"/>
          </a:xfrm>
          <a:prstGeom prst="rect">
            <a:avLst/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57800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325880" y="5212080"/>
            <a:ext cx="97228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+ Exocrine Gland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325880" y="5532120"/>
            <a:ext cx="9722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pancreas is BOTH: endocrine islets (1%) make insulin &amp; glucagon → bloodstream; acinar cells (99%) make digestive enzymes → duodenum. Normal fasting blood glucose: 70–110 mg/dL.  Normal HbA1c: &lt; 5.7%.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· Pancreas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Hormones Are Regulated: Negative Feedback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4864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600200"/>
            <a:ext cx="53035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600200"/>
            <a:ext cx="530352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Thermostat Analogy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2103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your home thermostat: when it gets cold, the heater turns ON. When it's warm enough, the heater turns OFF. Hormones work the same way.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0" y="299008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30083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2971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T3/T4 in blood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086600" y="3227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thermostat senses "cold"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358444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36027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8660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Hypothalamus releases TRH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08660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goes OUT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417880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41970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86600" y="4160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Anterior pituitary releases TSH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086600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is told to "turn ON"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0" y="477316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479145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8660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secretes T3, T4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08660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Metabolism fires up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583680" y="5367528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538581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086600" y="5349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T3/T4 shuts off TRH &amp; TSH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086600" y="5605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 turns OFF — loop closes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Physiology · Feedback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CLASS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Steroids — the Adrenal Cortex Hormones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steroid hormones are made from cholesterol in the adrenal CORTEX (the outer layer of the adrenal gland).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484778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A23B7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14600"/>
            <a:ext cx="3484778" cy="82296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Glucocorticoids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621024"/>
            <a:ext cx="91440" cy="914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52044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Blood glucose (gluconeogenesis)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123944"/>
            <a:ext cx="91440" cy="914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2336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fats &amp; proteins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626864"/>
            <a:ext cx="91440" cy="914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52628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immune system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5129784"/>
            <a:ext cx="91440" cy="914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02920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Anti-inflammatory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5632704"/>
            <a:ext cx="91440" cy="914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53212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effects (euphoria → depression)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53458" y="2514600"/>
            <a:ext cx="3484778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53458" y="2514600"/>
            <a:ext cx="3484778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6338" y="2624328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Mineralocorticoids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36338" y="297180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82058" y="3621024"/>
            <a:ext cx="9144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938" y="352044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sodium (Na⁺) + water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82058" y="4123944"/>
            <a:ext cx="9144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938" y="402336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Excrete potassium (K⁺)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82058" y="4626864"/>
            <a:ext cx="9144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938" y="452628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blood pressure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82058" y="5129784"/>
            <a:ext cx="9144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938" y="502920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RAAS system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82058" y="5632704"/>
            <a:ext cx="9144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938" y="553212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endocrine ↔ renal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6837" y="2514600"/>
            <a:ext cx="3484778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66837" y="2514600"/>
            <a:ext cx="3484778" cy="8229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9717" y="2624328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 Hormones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249717" y="297180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Androgens (small amounts)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95437" y="3621024"/>
            <a:ext cx="91440" cy="9144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8317" y="352044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Testosterone (M + F small amt)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295437" y="4123944"/>
            <a:ext cx="91440" cy="9144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78317" y="402336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/ Progesterone (F)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95437" y="4626864"/>
            <a:ext cx="91440" cy="9144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78317" y="452628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sex characteristics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95437" y="5129784"/>
            <a:ext cx="91440" cy="9144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78317" y="502920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Libido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295437" y="5632704"/>
            <a:ext cx="91440" cy="9144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78317" y="5532120"/>
            <a:ext cx="2890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sex hormones come from gonads, not adrenal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Steroids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CLASS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Catecholamines — Epinephrine &amp; Norepinephrine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640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190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27632"/>
            <a:ext cx="99056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Secreted by the adrenal MEDULLA during stress ("fight-or-flight" hormones)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514600"/>
            <a:ext cx="5318608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514600"/>
            <a:ext cx="5318608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65176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Norepinephrine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68680" y="304495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α-receptor dominant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3474720"/>
            <a:ext cx="128016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3520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Vascular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240280" y="35021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VASOCONSTRICTION → ↑ BP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" y="4041648"/>
            <a:ext cx="128016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40873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40280" y="406908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Contractility and rate (modest)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68680" y="4608576"/>
            <a:ext cx="128016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6112" y="46542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Pupils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40280" y="463600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 (mydriasis)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68680" y="5175504"/>
            <a:ext cx="128016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6112" y="52212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240280" y="5202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gut motility &amp; secretions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68680" y="5742432"/>
            <a:ext cx="128016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112" y="5788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240280" y="576986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of choice for septic shock / hypotension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33008" y="2514600"/>
            <a:ext cx="5318608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33008" y="2514600"/>
            <a:ext cx="531860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61608" y="265176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Epinephrine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6461608" y="304495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+ β receptor (mixed)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61608" y="3474720"/>
            <a:ext cx="128016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89040" y="35204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833208" y="3502152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↑ HR + ↑ contractility (β1)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461608" y="4041648"/>
            <a:ext cx="128016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89040" y="40873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Lungs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833208" y="4069080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BRONCHODILATION (β2)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461608" y="4608576"/>
            <a:ext cx="128016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89040" y="46542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Metabolism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833208" y="4636008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Glucose (glycogenolysis); inhibits insulin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461608" y="5175504"/>
            <a:ext cx="128016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89040" y="52212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Skin/Gut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833208" y="5202936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Vasoconstriction to redirect blood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61608" y="5742432"/>
            <a:ext cx="128016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89040" y="5788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7833208" y="5769864"/>
            <a:ext cx="348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Anaphylaxis, cardiac arrest, severe asthma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Catecholamines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KEY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Antidiuretic Hormone (ADH / Vasopressin)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2423160"/>
            <a:ext cx="118872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the hypothalamus, stored and released by the POSTERIOR pituitary.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383280"/>
            <a:ext cx="118872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410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37490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when blood is too concentrated (high serum osmolality) or BP drops.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4343400"/>
            <a:ext cx="118872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2960" y="47091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kidneys to hold onto WATER (not sodium!). More ADH = concentrated urine, dilute blood.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" y="5303520"/>
            <a:ext cx="118872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5330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" y="56692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vasopressin because at high doses it causes VASOCONSTRICTION → ↑ BP.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09360" y="160020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995160" y="17647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High-Risk Situations for ADH Disruption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492240" y="22860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Craniotomy / pituitary surgery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 injury or traumatic brain injury (TBI)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Sinus surgery near the sella turcica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Brain tumor, stroke, infection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monitor: UOP, serum Na⁺, LOC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309360" y="40690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309360" y="4069080"/>
            <a:ext cx="265176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 ADH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49224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Insipidus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6492240" y="50292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dilute urine → dehydration, hypernatremia, shock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9052560" y="4069080"/>
            <a:ext cx="2651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9052560" y="4069080"/>
            <a:ext cx="26517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235440" y="4206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ADH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23544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SIADH</a:t>
            </a:r>
            <a:endParaRPr lang="en-US" sz="1700" dirty="0"/>
          </a:p>
        </p:txBody>
      </p:sp>
      <p:sp>
        <p:nvSpPr>
          <p:cNvPr id="35" name="Text 31"/>
          <p:cNvSpPr/>
          <p:nvPr/>
        </p:nvSpPr>
        <p:spPr>
          <a:xfrm>
            <a:off x="9235440" y="50292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retention → hyponatremia, seizures (Na⁺ &lt; 125)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ADH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56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KEY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 Hormone (PTH)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&amp; Target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parathyroid glands (behind thyroid)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job: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serum calcium when it's too low.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 organs: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→ pulls Ca²⁺ out into blood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 → reabsorb Ca²⁺; excrete phosphate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INTESTINES → activate Vit D to absorb dietary Ca²⁺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394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160020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Calcium–Phosphorus Relationship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40280"/>
            <a:ext cx="4892040" cy="39319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6144768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Remember: Ca²⁺ and phosphate have an INVERSE relationship.  When one goes UP, the other goes DOWN.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PTH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KEY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Calcitonin — the "Ca-tone-down" Hormone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THYROID gland (parafollicular C cells)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when: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Ca²⁺ is HIGH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osteoCLASTS (cells that break down bone)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Stops bone from releasing Ca²⁺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Promotes Ca²⁺ deposit into bone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Lowers serum Ca²⁺
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use: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calcitonin — treatment of hypercalcemia, Paget's disease, osteoporosis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0020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Yin &amp; Yang: PTH vs. Calcitonin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92240" y="2240280"/>
            <a:ext cx="201168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2585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0" y="2240280"/>
            <a:ext cx="146304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2585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49840" y="2240280"/>
            <a:ext cx="1463040" cy="3657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0" y="22585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Calcitonin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60604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633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2606040"/>
            <a:ext cx="1463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6334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49840" y="2606040"/>
            <a:ext cx="1463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0" y="26334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30175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044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95360" y="301752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30449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Ca²⁺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149840" y="301752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0" y="30449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Ca²⁺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342900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34564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95360" y="3429000"/>
            <a:ext cx="1463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34564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breakdown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149840" y="3429000"/>
            <a:ext cx="1463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34564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breakdown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92240" y="384048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8679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Ca²⁺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95360" y="38404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8679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RAISES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149840" y="3840480"/>
            <a:ext cx="14630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41280" y="386791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LOWERS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92240" y="425196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4279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95360" y="4251960"/>
            <a:ext cx="1463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4279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"Ca-Ptake"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149840" y="4251960"/>
            <a:ext cx="146304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41280" y="427939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"Ca-tone-down"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92240" y="4937760"/>
            <a:ext cx="5029200" cy="1234440"/>
          </a:xfrm>
          <a:prstGeom prst="rect">
            <a:avLst/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5029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Memory cue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5303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Calci-TONIN tones DOWN calcium. PTH PUTS calcium into the blood (P = UP).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Calcitonin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KEY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— the Glucose "Key"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is the KEY that unlocks cells so glucose can enter and be used as fuel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Fast Facts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28803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by: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β-cells of the Islets of Langerhans (pancreas)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when: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glucose rises (after a meal)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actions: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Moves glucose from blood → cells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Promotes glycogen storage in liver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protein &amp; fat (anabolic)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Moves K⁺ into cells
</a:t>
            </a:r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fasting BG: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70–110 mg/dL
</a:t>
            </a:r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HbA1c: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5.7%  (diabetes ≥ 6.5%)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77440"/>
            <a:ext cx="5303520" cy="39319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Insulin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&amp; Key — How Insulin Lets Glucose In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554480"/>
            <a:ext cx="594360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5943600"/>
            <a:ext cx="3484778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0350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5971032"/>
            <a:ext cx="2661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receptor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71600" y="6263640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LOCK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53458" y="5943600"/>
            <a:ext cx="3484778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338" y="603504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84978" y="5971032"/>
            <a:ext cx="2661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084978" y="6263640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KEY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066837" y="5943600"/>
            <a:ext cx="3484778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717" y="603504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98357" y="5971032"/>
            <a:ext cx="2661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Glucose channel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798357" y="6263640"/>
            <a:ext cx="2661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DOOR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 · Lock &amp; Key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56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DIABETES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vs. Without Insulin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BEAEC"/>
          </a:solidFill>
          <a:ln w="25400">
            <a:solidFill>
              <a:srgbClr val="C8102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INSULIN  →  Door is SHUT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530352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2120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reads 400 mg/dL — glucose can't enter cells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Cells STARVE even though blood is flooded with sugar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Type 1 Diabetes (no β-cells)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1600200"/>
            <a:ext cx="5303520" cy="4754880"/>
          </a:xfrm>
          <a:prstGeom prst="rect">
            <a:avLst/>
          </a:prstGeom>
          <a:solidFill>
            <a:srgbClr val="DCFCE7"/>
          </a:solidFill>
          <a:ln w="254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600200"/>
            <a:ext cx="5303520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1627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INSULIN  →  Door is OPEN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120640" cy="2926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29400" y="521208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reads 110 mg/dL — glucose enters cells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Cells get fuel; blood glucose returns to normal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Healthy pancreas + working receptors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Insulin Action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KEY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Glucagon — Insulin's Partner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72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109728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the Blood Sugar!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3317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α-cells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pancreas.  Released when blood glucose drops LOW.  Glucagon tells the liver to:
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Glycogenolysis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(break down glycogen into glucose)  ·  </a:t>
            </a:r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Gluconeogenesis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(make new glucose from amino acids)  →  Blood glucose RISES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657600"/>
            <a:ext cx="531860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3657600"/>
            <a:ext cx="5318608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221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840480"/>
            <a:ext cx="476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Use: Hypoglycemia Rescue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68680" y="4343400"/>
            <a:ext cx="50442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patient is unconscious and has NO IV access, give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GLUCAGON 1 mg IM or SubQ. 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IV is in, push D50W IV instead.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 patient on their side (risk of vomiting on awakening)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Recheck BG in 15 min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 complex carb snack once conscious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33008" y="3657600"/>
            <a:ext cx="531860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33008" y="3657600"/>
            <a:ext cx="531860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07328" y="379476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Memory Trick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07328" y="4160520"/>
            <a:ext cx="4769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cagon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"</a:t>
            </a:r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 gone? </a:t>
            </a:r>
            <a:pPr indent="0" marL="0">
              <a:buNone/>
            </a:pPr>
            <a:r>
              <a:rPr lang="en-US" sz="18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some back!"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507328" y="4846320"/>
            <a:ext cx="476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of insulin: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Insulin  →  LOWERS blood glucose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Glucagon  →  RAISES blood glucose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keep BG in a tight range: 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70–110 mg/dL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· Glucagon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24602" y="0"/>
            <a:ext cx="4267093" cy="685800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291840"/>
            <a:ext cx="731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Disorders &amp;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Nursing Care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Adrenal, pituitary, thyroid, parathyroid, and pancreatic diseases — with emphasis on NCLEX priorities: assessment, labs, medications, and patient education.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HYPO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Addison's Disease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"ADD-i-son  →  you ADD steroids because your adrenals AREN'T making them"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3484778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23B7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3484778" cy="7772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23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Glucocorticoids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(cortisol)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3401568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29184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weakness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68680" y="3785616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67588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 (can't mobilize glucose)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68680" y="4169664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059936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loss, anorexia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68680" y="4553712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444398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Confusion, depression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68680" y="4937760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482803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stress response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53458" y="2331720"/>
            <a:ext cx="3484778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53458" y="2331720"/>
            <a:ext cx="3484778" cy="7772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36338" y="2423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Mineralocorticoids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36338" y="27889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(aldosterone)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82058" y="3401568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19218" y="329184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Na⁺ + water  →  HYPOnatremia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82058" y="3785616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19218" y="367588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K⁺  →  HYPERkalemia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82058" y="4169664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19218" y="4059936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Dehydration, hypovolemia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582058" y="4553712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19218" y="444398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 (orthostatic)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82058" y="4937760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19218" y="482803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cravings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066837" y="2331720"/>
            <a:ext cx="3484778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8066837" y="2331720"/>
            <a:ext cx="3484778" cy="77724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249717" y="2423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Sex Hormones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249717" y="27889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(androgens)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295437" y="3401568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32597" y="329184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Women: loss of axillary &amp; pubic hair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8295437" y="3785616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432597" y="367588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libido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8295437" y="4169664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32597" y="4059936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Menstrual irregularities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295437" y="4553712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32597" y="4443984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Men: less affected (testes dominant)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8295437" y="4937760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32597" y="482803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minor symptom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40080" y="5532120"/>
            <a:ext cx="1091153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40080" y="5532120"/>
            <a:ext cx="10911535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2960" y="5623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Causes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22960" y="58978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Autoimmune destruction (most common)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stop of long-term steroids 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Infection (TB, HIV)  •  Adrenal hemorrhage  •  Metastatic cancer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Addison's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56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ASSESSMENT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Addison's Disease — Clinical Picture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8580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00200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0" y="1600200"/>
            <a:ext cx="41148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Hallmark Labs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219456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Na⁺  (hyponatremia)
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K⁺   (hyperkalemia)
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Glucose
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Cortisol (confirmatory)
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ACTH  (primary)
</a:t>
            </a:r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BUN  (dehydration)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520" y="4069080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89520" y="4069080"/>
            <a:ext cx="41148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Sign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0" y="452628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BRONZED, hyperpigmented skin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on knuckles, elbows, scars, gums.
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cortisol → pituitary makes LOTS of ACTH. ACTH shares a precursor with melanocyte-stimulating hormone (MSH) → extra skin pigment.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Addison's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EMERGENCY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Addisonian Crisis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5486400" cy="594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099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276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Life-Threatening — Think SHOCK!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Triggered by: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Stress (infection, surgery, trauma)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Abruptly stopping steroids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Addison's patient who misses doses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Sepsis, MI, severe vomiting/diarrhea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Presents with: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40690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Severe hypotension, hypovolemic shock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Severe hyponatremia &amp; hyperkalemia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Hypoglycemia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Severe N/V, abdominal pain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Fever, extreme weakness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Confusion, coma, renal shutdown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0" y="1600200"/>
            <a:ext cx="53035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600200"/>
            <a:ext cx="530352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600200"/>
            <a:ext cx="5303520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16276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🚑  Emergency Treatment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583680" y="233172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2359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223760" y="23134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Normal Saline (0.9% NS)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223760" y="26334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bolus — replace fluid + Na⁺ deficit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583680" y="310896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31363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23760" y="30906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Hydrocortisone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223760" y="34107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mg bolus, then drip — replaces cortisol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3913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223760" y="38679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D50W if hypoglycemic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223760" y="41879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blood glucose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83680" y="466344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0" y="4690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223760" y="46451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 hyperkalemia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223760" y="49651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+ D50, calcium gluconate, kayexalate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583680" y="544068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0" y="5468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223760" y="54223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closely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223760" y="57424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I&amp;O, hourly VS, daily weight, ECG, Na⁺/K⁺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Addisonian Crisis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HYPER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Cushing's Disease / Syndrome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cortisol — "too much steroid"  (endogenous tumor OR exogenous steroid therapy)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3484778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A23B7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3484778" cy="77724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23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Glucocorticoids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(cortisol)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3401568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29184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 / steroid-induced DM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8680" y="3886200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377647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Immunosuppression (infection risk!)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68680" y="4370832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4261104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redistribution  →  moon face, buffalo hump, truncal obesity, thin limbs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" y="4855464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4745736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fragile skin, bruising, striae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68680" y="5340096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523036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Osteoporosis, muscle wasting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68680" y="5824728"/>
            <a:ext cx="73152" cy="73152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57150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swings, euphoria, psychosis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353458" y="2331720"/>
            <a:ext cx="3484778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53458" y="2331720"/>
            <a:ext cx="3484778" cy="7772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36338" y="2423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Mineralocorticoids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36338" y="27889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(aldosterone)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82058" y="3401568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19218" y="329184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Na⁺ + water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82058" y="3886200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19218" y="377647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Excrete K⁺  →  HYPOkalemia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82058" y="4370832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19218" y="4261104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82058" y="4855464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19218" y="4745736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overload, edema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82058" y="5340096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19218" y="523036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82058" y="5824728"/>
            <a:ext cx="73152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19218" y="57150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alkalosis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066837" y="2331720"/>
            <a:ext cx="3484778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18F0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066837" y="2331720"/>
            <a:ext cx="3484778" cy="77724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49717" y="242316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Sex Hormones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249717" y="2788920"/>
            <a:ext cx="3119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(androgens)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295437" y="3401568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32597" y="329184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Women: hirsutism (facial hair)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295437" y="3886200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32597" y="3776472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Menstrual irregularities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295437" y="4370832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32597" y="4261104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Acne, oily skin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8295437" y="4855464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32597" y="4745736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pattern baldness (women)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295437" y="5340096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32597" y="5230368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Deepening voice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295437" y="5824728"/>
            <a:ext cx="73152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432597" y="571500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Clitoral enlargement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Cushing's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56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ASSESSMENT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Cushing's — The Classic Look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1323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00200"/>
            <a:ext cx="3886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18120" y="1600200"/>
            <a:ext cx="38862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Hallmark Labs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01000" y="21945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Cortisol  (24-hr urine)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Glucose  (hyperglycemia)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Na⁺  (hypernatremia)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K⁺  (hypokalemia)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WBC (but ↓ immunity!)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Dexamethasone suppression: no ↓ in cortisol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18120" y="4069080"/>
            <a:ext cx="3886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18120" y="4069080"/>
            <a:ext cx="38862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Nursing Priorities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01000" y="45262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Infection prevention (handwashing, limit visitors)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Skin protection (thin, fragile)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 / fracture prevention (osteoporosis)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Na, high K, high protein diet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Emotional support (body image)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glucose regularly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Cushing's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TREATMENT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Cushing's — Treatment &amp; Post-op Care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8477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348477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2661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Drug-Induced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468880"/>
            <a:ext cx="302757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cause is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steroid use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(prednisone, etc.).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 the steroid slowly — never stop abruptly (risk of Addisonian crisis).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medication-alert bracelet &amp; "stress doses" during illness.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53458" y="1691640"/>
            <a:ext cx="348477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53458" y="1691640"/>
            <a:ext cx="348477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058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4978" y="1828800"/>
            <a:ext cx="2661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Pituitary Tumor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82058" y="2468880"/>
            <a:ext cx="302757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Transsphenoidal hypophysectomy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remove tumor through nose/sphenoid sinus.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 priorities: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 NOT brush teeth, cough, sneeze, bend over (4–6 weeks)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Watch for CSF leak (clear drainage, halo sign, glucose+)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for DI or SIADH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66837" y="1691640"/>
            <a:ext cx="3484778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66837" y="1691640"/>
            <a:ext cx="348477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437" y="1874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98357" y="1828800"/>
            <a:ext cx="2661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Adrenal Tumor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95437" y="2468880"/>
            <a:ext cx="302757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Adrenalectomy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remove one or both adrenal glands.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 priorities: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Lifelong steroid replacement if BOTH removed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Infection prevention (still immunosuppressed)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BP and blood glucose closely
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 stress-dose steroid schedule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Cushing's Treatment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RARE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Conn's Syndrome  (Primary Aldosteronism)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tumor (usually benign adenoma) in the adrenal cortex that secretes </a:t>
            </a:r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aldosterone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only aldosterone.
</a:t>
            </a:r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↑ Aldosterone  →  Na⁺ + H₂O retention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↑ Aldosterone  →  K⁺ + H⁺ excretion
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clue: the classic "triad"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Persistent HYPERTENSION (often resistant)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HYPOkalemia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Metabolic ALKALOSIS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0020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Hard-to-control high BP (often despite 3+ meds)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Muscle weakness, cramps, fatigue (from low K⁺)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Headache, palpitations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Polyuria, polydipsia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Paresthesia, tetany, cardiac arrhythmias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4069080"/>
            <a:ext cx="5394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4069080"/>
            <a:ext cx="539496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removal of the tumor (adrenalectomy) — curative if unilateral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Spironolactone (aldosterone antagonist) — K⁺-sparing diuretic
</a:t>
            </a:r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potassium; monitor BP, K⁺, BUN/creatinine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Conn's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RARE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Pheochromocytoma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tumor of the adrenal MEDULLA that dumps epinephrine + norepinephrine into the blood — think "adrenal storm"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P's  ·  Classic Presentation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97180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900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5087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Pressure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08760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Paroxysmal HYPERtension (sudden, severe, often &gt; 200/140)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6301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5087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0876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Severe, throbbing headache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70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50876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Palpitations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08760" y="4480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Tachycardia, arrhythmias, chest pain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9103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50876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Perspiration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508760" y="5120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Profuse, drenching diaphoresis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68680" y="553212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5550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508760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Pallor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508760" y="5760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 vasoconstriction → skin pale, cold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309360" y="2331720"/>
            <a:ext cx="53949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309360" y="233172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9224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272491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24-hour urine </a:t>
            </a:r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catecholamines and metanephrines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(↑↑)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Plasma free metanephrines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CT/MRI of adrenal glands
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 NOT palpate the abdomen — can trigger catecholamine release &amp; HTN crisis!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09360" y="4389120"/>
            <a:ext cx="5394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4389120"/>
            <a:ext cx="539496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4480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92240" y="480060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Alpha-blocker FIRST (phenoxybenzamine) — 10–14 days pre-op
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 AFTER (propranolol) — never give β before α (unopposed α = severe HTN)
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Adrenalectomy — definitive cure
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environment, avoid stimulation, monitor BP every 15 min pre-op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· Pheochromocytoma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HYPO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Insipidus  (DI)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ADH  →  Kidneys dump HUGE amounts of dilute urine  →  dehydration &amp; hypernatremia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Pathophysiology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292608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53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2880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ADH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63040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 or posterior pituitary dysfunction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68680" y="3584448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63040" y="353872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Kidneys ignore water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63040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ducts don't reabsorb H₂O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68680" y="4242816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702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63040" y="41970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Dilute urine flood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63040" y="4489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4–30 L/day! ("insipid" = tasteless/colorless)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68680" y="4901184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9286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48554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concentrates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463040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Na⁺, ↑ osmolality, dehydration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68680" y="5559552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55869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463040" y="55138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Shock risk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6304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Hypotension, tachycardia if fluid not replaced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309360" y="233172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309360" y="233172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9224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Causes &amp; Triggers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27432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 (↓ ADH production):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injury, brain tumor, craniotomy, pituitary surgery
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Nephrogenic DI (kidney doesn't respond):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 toxicity, chronic kidney disease, hypokalemia, hypercalcemia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09360" y="4297680"/>
            <a:ext cx="53949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09360" y="429768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9224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Labs  &amp;  Diagnostics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92240" y="4709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= dilute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Specific gravity &lt; 1.005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Urine osmolality &lt; 200
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= concentrated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Serum Na⁺ &gt; 145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Serum osmolality &gt; 295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Hct &gt; 40%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DI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DI ASSESSMENT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— Signs, Symptoms &amp; Treatment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58368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600200"/>
            <a:ext cx="45720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132320" y="1600200"/>
            <a:ext cx="457200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0" y="1600200"/>
            <a:ext cx="4572000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1627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💊  Treatment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0" y="2240280"/>
            <a:ext cx="91440" cy="548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0" y="2221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neuro status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98080" y="24871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&amp; seizures from hypernatremia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2907792"/>
            <a:ext cx="91440" cy="548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0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Hourly I &amp; 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98080" y="3154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UOP can exceed 4 L/day — replace volume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0" y="3575304"/>
            <a:ext cx="91440" cy="548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0" y="35570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weight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98080" y="38221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indicator of fluid status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15200" y="4242816"/>
            <a:ext cx="91440" cy="548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hypotonic fluids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498080" y="44897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D5W or 0.45% NS to rehydrate + dilute Na⁺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15200" y="4910328"/>
            <a:ext cx="91440" cy="548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98080" y="4892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DESMOPRESSIN (DDAVP)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498080" y="51572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ADH — intranasal, SC, or PO. Watch for water intoxication.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0" y="5577840"/>
            <a:ext cx="91440" cy="548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98080" y="5559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teaching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498080" y="5824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medical alert bracelet; never skip dose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DI Assessment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HYPER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Syndrome of Inappropriate ADH  (SIADH)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ADH  →  Kidneys HOLD water (not Na⁺)  →  dilutional hyponatremia &amp; water intoxication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28803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Excess ADH → kidneys reabsorb WATER only (not Na⁺)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Blood volume ↑ → euvolemic hyponatremia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Urine becomes very concentrated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peripheral edema (water is intracellular)
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cells swell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seizures, coma if Na⁺ &lt; 125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868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Causes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709160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Small-cell lung cancer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(ectopic ADH)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 trauma, stroke, brain tumor, meningitis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Post-pituitary surgery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Drugs: SSRIs, carbamazepine, chemotherapy, NSAIDs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 pressure ventilation, pneumonia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309360" y="233172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233172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&amp; Symptoms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92240" y="27432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GAIN (no edema)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Anorexia, nausea, vomiting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Headache, muscle cramps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Confusion, irritability, hallucinations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Seizures when serum Na⁺ &lt; 125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09360" y="4297680"/>
            <a:ext cx="53949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09360" y="4297680"/>
            <a:ext cx="539496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Labs:  OPPOSITE of DI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7091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= concentrated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Specific gravity &gt; 1.030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Urine osmolality &gt; 1200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Decreased UOP
</a:t>
            </a:r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= diluted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Serum Na⁺ &lt; 135 (often &lt; 125)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Serum osmolality &lt; 275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SIADH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COMPARE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vs. SIADH  —  Know the Difference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7490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7490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Insipidus (DI)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338328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SIADH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0312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057400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210312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21031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2404872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4505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404872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245059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(4–30 L/d)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404872"/>
            <a:ext cx="3383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24505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2752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79806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osmolality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2752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279806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(dilute)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2752344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279806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(concentrated)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099816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14553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specific gravity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3099816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48" y="314553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 1.005)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3099816"/>
            <a:ext cx="3383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314553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(&gt; 1.030)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3447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49300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Na⁺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0" y="3447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8848" y="349300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(&gt; 145)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38160" y="3447288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349300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 135)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3794760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384048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osmolality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0" y="3794760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384048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(&gt; 295)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3794760"/>
            <a:ext cx="3383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384048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 275)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4142232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418795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volume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4142232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98848" y="418795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(dehydrated)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138160" y="4142232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7888" y="418795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(euvolemic)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0080" y="4489704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53542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389120" y="4489704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98848" y="4535424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38160" y="4489704"/>
            <a:ext cx="3383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47888" y="45354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high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" y="4837176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" y="488289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389120" y="4837176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98848" y="4882896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138160" y="4837176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47888" y="48828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(no edema)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184648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" y="523036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risk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389120" y="5184648"/>
            <a:ext cx="374904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98848" y="5230368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Hypovolemic shock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8138160" y="5184648"/>
            <a:ext cx="33832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47888" y="523036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Seizures (Na⁺ &lt; 125)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40080" y="5532120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9808" y="557784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389120" y="5532120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98848" y="5577840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Desmopressin + fluids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138160" y="5532120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47888" y="557784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restrict + hypertonic saline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2960" y="610819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Mnemonic:  DI = "D-iuresis!"  (too little ADH, pee a lot)    |    SIADH = "S-ave water"  (too much ADH, hold water)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· DI vs SIADH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HYPO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Hypothyroidism  —  the Slowed Metabolism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makes TOO LITTLE T3/T4  →  metabolism slows to a crawl  →  "everything is sluggish"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Feedback Loop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5394960" cy="3383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2331720"/>
            <a:ext cx="53949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09360" y="2331720"/>
            <a:ext cx="539496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9224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Causes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92240" y="2743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Hashimoto's thyroiditis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(autoimmune — #1 cause in US)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Iodine deficiency (global #1 cause)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thyroidectomy or radioactive iodine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Lithium, amiodarone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Pituitary failure (secondary)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09360" y="4343400"/>
            <a:ext cx="53949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434340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9224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Labs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92240" y="47548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hypothyroidism: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↑ TSH   (pituitary tries to stimulate)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Free T3  /  ↓ Free T4
</a:t>
            </a:r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expect: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↑ Cholesterol / LDL  ·  ↓ Na⁺  ·  ↓ glucose  ·  ↓ Hgb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Hypothyroidism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ASSESSMENT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Hypothyroidism  —  Clinical Picture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8580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89520" y="1600200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589520" y="1600200"/>
            <a:ext cx="41148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Systems  Review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0" y="21031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slows down: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HR (bradycardia)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BP, ↓ temperature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Energy, fatigue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GI motility → constipation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Reflexes (DTRs)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GAIN despite no appetite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89520" y="4069080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589520" y="4069080"/>
            <a:ext cx="41148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🚨  Myxedema Coma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0" y="452628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form of hypothyroidism: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Severe hypothermia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Hypotension, bradycardia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Hypoventilation → respiratory failure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Hyponatremia, hypoglycemia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Stupor or coma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Tx: IV levothyroxine, warming, airway support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Hypothyroidism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Levothyroxine (Synthroid®) — Drug Spotlight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45720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Medication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420624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1600200"/>
            <a:ext cx="6309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94960" y="1600200"/>
            <a:ext cx="63093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Mechanism &amp; Use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577840" y="2103120"/>
            <a:ext cx="594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T4 (thyroid hormone replacement)
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replacement therapy for hypothyroidism, congenital hypothyroidism, and after thyroidectomy or RAI ablation.
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Onset: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effect takes 4–6 WEEKS — don't expect overnight improvement.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0" y="4069080"/>
            <a:ext cx="6309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94960" y="4069080"/>
            <a:ext cx="63093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 Patient Teaching  (Saunders-style priorities)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577840" y="4526280"/>
            <a:ext cx="594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Take on an EMPTY stomach, same time every morning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Wait 30–60 min before eating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Avoid calcium, iron, antacids within 4 hours (reduce absorption)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LIFELONG therapy — never stop suddenly
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Report signs of OVERDOSE = hyperthyroid symptoms: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tachycardia, palpitations, weight loss, heat intolerance, tremors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Levothyroxine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HYPER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Hyperthyroidism  &amp;  Graves' Disease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T3/T4  →  metabolism goes into overdrive  →  "everything speeds up and burns hot"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85800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589520" y="233172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589520" y="2331720"/>
            <a:ext cx="41148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Graves' Disease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72400" y="283464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— antibodies stimulate the TSH receptor (TSI) as if it were TSH, making the thyroid overproduce.
</a:t>
            </a:r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 signs: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Exophthalmos (bulging eyes)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Enlarged thyroid (goiter)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Pretibial myxedema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589520" y="452628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89520" y="4526280"/>
            <a:ext cx="41148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0" y="4617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Labs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772400" y="4937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hyperthyroidism: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TSH   (pituitary suppressed)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↑ Free T3  /  ↑ Free T4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↑ Radioactive iodine uptake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TSI positive in Graves'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Hyperthyroidism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EMERGENCY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Storm  (Thyrotoxic Crisis)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LIFE-THREATENING — extreme hyperthyroidism; triggered by infection, surgery, trauma, or untreated disease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40080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040880" y="2331720"/>
            <a:ext cx="46634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040880" y="2331720"/>
            <a:ext cx="466344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040880" y="2331720"/>
            <a:ext cx="466344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223760" y="23591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🚑  Emergency Management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178040" y="2926080"/>
            <a:ext cx="320040" cy="3200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78040" y="29352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89520" y="28620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COOL the patient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589520" y="31181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blanket, ice packs, antipyretics (no aspirin — displaces T4!)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178040" y="3520440"/>
            <a:ext cx="320040" cy="3200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78040" y="35295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589520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PTU or Methimazole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589520" y="37124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new thyroid hormone synthesis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178040" y="4114800"/>
            <a:ext cx="320040" cy="3200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178040" y="41239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589520" y="4050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Beta-blocker (propranolol)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589520" y="43068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HR, tremor, anxiety; blocks T4 → T3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178040" y="4709160"/>
            <a:ext cx="320040" cy="3200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78040" y="4718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589520" y="4645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Iodine (SSKI / Lugol's)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589520" y="49011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AFTER antithyroid drugs; inhibits release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178040" y="5303520"/>
            <a:ext cx="320040" cy="3200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178040" y="53126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589520" y="5239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 hydrocortisone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589520" y="5495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peripheral T4 → T3 conversion; treats adrenal stress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178040" y="5897880"/>
            <a:ext cx="320040" cy="3200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178040" y="59070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7589520" y="5833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Supportive care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589520" y="60899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O₂, IV fluids, continuous cardiac monitor, quiet room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Thyroid Storm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56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Antithyroid Drugs  &amp;  Radioactive Iodine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590724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2590724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2590724" cy="777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Methimazole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(Tapazole®)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22249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Thioamide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T3/T4 synthesis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PO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Agranulocytosis (report fever, sore throat), hepatotoxicity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1st trimester of pregnancy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13684" y="1691640"/>
            <a:ext cx="2590724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3684" y="1691640"/>
            <a:ext cx="2590724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3684" y="1691640"/>
            <a:ext cx="2590724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0844" y="178308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Propylthiouracil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0844" y="21488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(PTU)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96564" y="2606040"/>
            <a:ext cx="22249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Thioamide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synthesis AND T4 → T3 conversion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storm, 1st-trimester pregnancy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Hepatotoxicity &gt; methimazole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Saunders: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when pregnancy is a concern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7288" y="1691640"/>
            <a:ext cx="2590724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7288" y="1691640"/>
            <a:ext cx="259072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7288" y="1691640"/>
            <a:ext cx="2590724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448" y="178308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Lugol's / SSKI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24448" y="21488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(iodine solution)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70168" y="2606040"/>
            <a:ext cx="22249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iodine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thyroid hormone RELEASE, shrinks vascularity pre-op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 in juice or water; use a straw (stains teeth)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Saunders: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AFTER antithyroid drug, not before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60891" y="1691640"/>
            <a:ext cx="2590724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0891" y="1691640"/>
            <a:ext cx="2590724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0891" y="1691640"/>
            <a:ext cx="2590724" cy="7772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051" y="1783080"/>
            <a:ext cx="2316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Radioactive Iodine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98051" y="21488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(I-131, RAI)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3771" y="2606040"/>
            <a:ext cx="222496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thyroid tissue over 6–18 wks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become hypothyroid → lifelong levo
</a:t>
            </a:r>
            <a:pPr indent="0" marL="0">
              <a:spcAft>
                <a:spcPts val="1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pregnancy 6 months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Flush toilet twice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 close contact (esp. children/pregnant) several days
</a:t>
            </a:r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separate utensils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Antithyroid Drugs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SURGICAL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Thyroidectomy  —  Post-op Nursing Care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9436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9436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Procedure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66928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3492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goiter, thyroid cancer, severe Graves' unresponsive to therapy, pregnancy complications.
</a:t>
            </a:r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(part removed) or TOTAL (all removed — lifelong levothyroxine).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66560" y="1600200"/>
            <a:ext cx="4937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0" y="1600200"/>
            <a:ext cx="493776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At Bedside — ALWAYS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49440" y="210312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Tracheostomy tray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Suction + O₂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IV calcium gluconate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Semi-Fowler's position, support head with pillows
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check q 2 hr (hoarseness = laryngeal nerve injury)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4069080"/>
            <a:ext cx="49377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766560" y="4069080"/>
            <a:ext cx="49377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Watch For 3 Big Complications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49440" y="452628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Hemorrhage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Check BEHIND the neck (blood pools there, not on pillow)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Laryngeal nerve damage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Hoarseness, stridor, weak voice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Tetany / hypocalcemia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Trousseau's &amp; Chvostek's signs — parathyroids injured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· Thyroidectomy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· HYPO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Hypoparathyroidism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PTH  →  LOW serum Ca²⁺  +  HIGH phosphate  →  neuromuscular irritability (tetany)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Ca–Phosphate Seesaw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0"/>
            <a:ext cx="5212080" cy="329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233172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09360" y="2331720"/>
            <a:ext cx="53949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Findings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80360"/>
            <a:ext cx="5212080" cy="33832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· Hypoparathyroidism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· HYPER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Hyperparathyroidism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PTH  →  HIGH serum Ca²⁺  +  LOW phosphate  →  bones leak calcium into blood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33172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Ca–Phosphate Seesaw (Reversed)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26080"/>
            <a:ext cx="5212080" cy="3291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233172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09360" y="2331720"/>
            <a:ext cx="53949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922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Findings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80360"/>
            <a:ext cx="5212080" cy="33832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· Hyperparathyroidism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Stones · Bones · Groans · Moans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4-part mnemonic for HYPERcalcemia (and hyperparathyroidism)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590724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77440"/>
            <a:ext cx="2590724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22" y="25603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632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STONES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361188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 Stones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21335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Ca²⁺ is filtered by kidneys → calcium stones in kidney &amp; urinary tract. Flank pain, hematuria, frequency.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13684" y="2377440"/>
            <a:ext cx="2590724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B2545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13684" y="2377440"/>
            <a:ext cx="2590724" cy="10972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726" y="25603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13684" y="30632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96564" y="361188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Bone Problems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642284" y="4069080"/>
            <a:ext cx="21335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pulls Ca²⁺ out of bone → osteoporosis, fractures, bone pain, deformities. Bones become "hollow."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87288" y="2377440"/>
            <a:ext cx="2590724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87288" y="2377440"/>
            <a:ext cx="2590724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330" y="25603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87288" y="30632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GROANS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6370168" y="361188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Abdominal Groans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15888" y="4069080"/>
            <a:ext cx="21335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Constipation, anorexia, nausea, PUD, pancreatitis from calcium in GI system. Severe abdominal pain.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8960891" y="2377440"/>
            <a:ext cx="2590724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60891" y="2377440"/>
            <a:ext cx="2590724" cy="1097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1933" y="256032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60891" y="3063240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MOANS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9143771" y="361188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Psychiatric Moans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189491" y="4069080"/>
            <a:ext cx="21335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depression, confusion, anxiety, memory loss, psychosis. "Not feeling myself."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Mnemonic · SBGM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56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· SURGICAL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Parathyroidectomy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8521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85216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Procedure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57784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160020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1600200"/>
            <a:ext cx="50292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Pre-op  &amp;  Intra-op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58000" y="210312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serum Ca²⁺ first (IV NS + furosemide, bisphosphonates, calcitonin)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Intra-op PTH monitoring — drops rapidly when adenoma is removed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Removal of 1 or more of the 4 glands (usually the overactive one)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Consent, baseline vitals, labs (Ca, P, Mg, albumin, creatinine)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675120" y="4069080"/>
            <a:ext cx="5029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75120" y="4069080"/>
            <a:ext cx="50292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Post-op — Rebound HYPOcalcemia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4526280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overactive gland(s), remaining glands may be suppressed &amp; slow to "wake up."
</a:t>
            </a:r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Assess: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Chvostek's &amp; Trousseau's (tetany)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Numbness/tingling around mouth, fingers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Muscle cramps, positive DTRs
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calcium gluconate at bedside — same as thyroidectomy.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· Parathyroidectomy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TYPE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 Type 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destruction of pancreatic β-cells  →  NO insulin produced  →  requires lifelong insulin therapy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58368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3760" y="2331720"/>
            <a:ext cx="44805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223760" y="2331720"/>
            <a:ext cx="44805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0664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Pathophysiology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06640" y="27432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Autoimmune T-cell attack on β-cells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Genetic + viral triggers (HLA genes)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Onset typically childhood/young adult (often &lt; 30)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"Lean" body type; abrupt onset
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Prone to DKA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223760" y="4434840"/>
            <a:ext cx="44805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23760" y="4434840"/>
            <a:ext cx="44805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0664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"3 P's"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406640" y="48463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Polyuria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excess urination (glucose pulls water)
</a:t>
            </a:r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Polydipsia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excessive thirst (dehydration)
</a:t>
            </a:r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Polyphagia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excessive hunger (cells starved)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weight loss, fatigue, blurred vision, frequent infections, slow wound healing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Type 1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EMERGENCY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Diabetic Ketoacidosis  (DKA)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of T1DM  —  NO insulin → fat breakdown → ketones → metabolic acidosis (pH &lt; 7.35)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40080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040880" y="2331720"/>
            <a:ext cx="46634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040880" y="2331720"/>
            <a:ext cx="466344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23760" y="2423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Hallmark Findings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223760" y="274320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 &gt; 300 mg/dL  (often 500+)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 &lt; 7.35 (metabolic acidosis)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HCO₃⁻ &lt; 15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Ketones in urine &amp; blood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Kussmaul respirations (deep &amp; rapid)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Fruity (acetone) breath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Dehydration (3 P's + N/V)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040880" y="4526280"/>
            <a:ext cx="4663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40880" y="4526280"/>
            <a:ext cx="466344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23760" y="4617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🚑  Emergency Management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223760" y="484632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NS FIRST — rehydrate aggressively
</a:t>
            </a:r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insulin IV drip (only IV insulin used)
</a:t>
            </a:r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K⁺ — initially high, drops as insulin drives K⁺ into cells
</a:t>
            </a:r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BG reaches 250 → switch to D5 + ½NS (prevent hypoglycemia &amp; cerebral edema)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DKA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TYPE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 Type 2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9905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 + relative deficiency  —  most common form of diabetes  (90–95% of cases)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583680" cy="4114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23760" y="2331720"/>
            <a:ext cx="44805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223760" y="2331720"/>
            <a:ext cx="448056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0664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Pathophysiology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06640" y="27432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Insulin is produced </a:t>
            </a:r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cells don't respond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(resistance)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Pancreas eventually tires out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genetic + lifestyle component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Adult onset (rising in children/teens)
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Often obese; gradual onset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223760" y="4434840"/>
            <a:ext cx="44805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23760" y="4434840"/>
            <a:ext cx="448056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0664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Factors  (metabolic syndrome)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406640" y="484632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Obesity (especially central/abdominal)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Sedentary lifestyle, poor diet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&gt; 45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Family history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HTN, ↑ triglycerides, ↓ HDL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GDM history or baby &gt; 9 lbs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PCOS, acanthosis nigricans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Type 2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EMERGENCY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DKA vs. HHNS  —  Compare &amp; Contrast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0292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600200"/>
            <a:ext cx="228600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46720" y="1600200"/>
            <a:ext cx="2103120" cy="4572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DKA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149840" y="1600200"/>
            <a:ext cx="1554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9556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HHNS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205740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08483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46720" y="205740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19872" y="208483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DM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0149840" y="205740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22992" y="208483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DM (elderly)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2404872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33872" y="243230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46720" y="2404872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19872" y="243230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(hours–days)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0149840" y="2404872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22992" y="243230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(days–weeks)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60720" y="275234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33872" y="277977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level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46720" y="275234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19872" y="277977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300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0149840" y="2752344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222992" y="27797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600  (often &gt; 1000)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760720" y="3099816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33872" y="312724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Ketones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046720" y="3099816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19872" y="312724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0149840" y="3099816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222992" y="312724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minimal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760720" y="344728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33872" y="347472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046720" y="344728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19872" y="347472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7.35 (acidotic)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0149840" y="3447288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222992" y="347472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760720" y="3794760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33872" y="382219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HCO₃⁻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046720" y="3794760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19872" y="382219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10149840" y="3794760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222992" y="382219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760720" y="414223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833872" y="416966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8046720" y="414223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119872" y="416966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10149840" y="414223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222992" y="416966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5760720" y="4489704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33872" y="451713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status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8046720" y="4489704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119872" y="451713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coma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10149840" y="4489704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222992" y="451713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Confusion, coma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760720" y="483717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833872" y="4864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8046720" y="483717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119872" y="48646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 (acetone)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10149840" y="483717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222992" y="486460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odor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5760720" y="5184648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833872" y="5212080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Respirations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8046720" y="5184648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119872" y="521208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Kussmaul (deep)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10149840" y="5184648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222992" y="521208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shallow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5760720" y="5532120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833872" y="5559552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8046720" y="553212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119872" y="555955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~1–2%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10149840" y="553212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222992" y="5559552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 (much higher)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5760720" y="5879592"/>
            <a:ext cx="228600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833872" y="5907024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key point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8046720" y="5879592"/>
            <a:ext cx="21031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119872" y="590702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+ fluids + K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10149840" y="5879592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222992" y="5907024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FLUIDS first; less insulin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DKA vs HHNS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56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INSULIN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Types  —  Onset · Peak · Duration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22860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691640"/>
            <a:ext cx="23774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7556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691640"/>
            <a:ext cx="18288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7556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Appearance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1691640"/>
            <a:ext cx="13716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17556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1691640"/>
            <a:ext cx="14630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1691640"/>
            <a:ext cx="173736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0" y="17556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19456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240280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Rapid-acting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0" y="2194560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9232" y="224028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Lispro (Humalog)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Aspart (NovoLog)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Glulisine (Apidra)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2194560"/>
            <a:ext cx="1828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22402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0" y="219456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224028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219456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7072" y="22402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966960" y="219456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40112" y="224028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2880360"/>
            <a:ext cx="22860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926080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Short-acting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2880360"/>
            <a:ext cx="23774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9232" y="292608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(Humulin 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IV-safe insulin)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2880360"/>
            <a:ext cx="18288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76672" y="29260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0" y="2880360"/>
            <a:ext cx="13716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292608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min–1 hr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03920" y="2880360"/>
            <a:ext cx="1463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29260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66960" y="2880360"/>
            <a:ext cx="17373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40112" y="292608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hr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356616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3611880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4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926080" y="3566160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99232" y="361188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NPH (Humulin N)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03520" y="3566160"/>
            <a:ext cx="1828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6672" y="36118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32320" y="356616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361188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03920" y="356616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77072" y="36118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4–12 hr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966960" y="356616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40112" y="361188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 hr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4251960"/>
            <a:ext cx="22860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4297680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Long-acting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4251960"/>
            <a:ext cx="23774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429768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Glargine (Lantus)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Detemir (Levemir)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Degludec (Tresiba)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03520" y="4251960"/>
            <a:ext cx="18288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76672" y="42976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32320" y="4251960"/>
            <a:ext cx="137160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05472" y="429768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03920" y="4251960"/>
            <a:ext cx="14630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77072" y="42976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peak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966960" y="4251960"/>
            <a:ext cx="173736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40112" y="429768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hr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0080" y="493776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" y="4983480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Premixed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926080" y="4937760"/>
            <a:ext cx="2377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99232" y="4983480"/>
            <a:ext cx="2231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70/30, 75/25, 50/50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(NPH + regular)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303520" y="4937760"/>
            <a:ext cx="1828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76672" y="4983480"/>
            <a:ext cx="1682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132320" y="4937760"/>
            <a:ext cx="1371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05472" y="4983480"/>
            <a:ext cx="1225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503920" y="4937760"/>
            <a:ext cx="14630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77072" y="4983480"/>
            <a:ext cx="1316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(2 peaks)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966960" y="4937760"/>
            <a:ext cx="1737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40112" y="498348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hr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22960" y="610819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Memory:  "Clear before Cloudy"  when mixing  ·  Regular insulin is the ONLY insulin that can be given IV  ·  Never mix Glargine (Lantus) with anything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Insulin Types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56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ADMIN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Administration  —  Sites, Storage, Safety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&amp; Handling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237744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21945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UNOPENED: refrigerate (2–8 °C)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OPENED: room temp up to 28 days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freeze; never shake (roll NPH)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appearance &amp; expiry each dose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U-100 syringe with U-100 insulin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466344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466344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 Rotation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50749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absorption ➜ slowest absorption:
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→ arm → thigh → buttock. Rotate within one area (don't jump around areas → inconsistent absorption). Space sites ≥ 1 inch apart. Avoid scars, moles, bony areas, lipohypertrophy.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5303520" cy="4754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Insulin Administration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TECHNIQUE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 Angles  &amp;  Mixing Insulin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Needle Angles by Route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21208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32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 (insulin):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or 90° (depends on body fat and needle length)
</a:t>
            </a:r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 ·  </a:t>
            </a:r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</a:t>
            </a:r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5–15°  (bleb forms)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1600200"/>
            <a:ext cx="53035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1600200"/>
            <a:ext cx="5303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Mixing Insulin  ·  "R-N" Rule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5120640" cy="3108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53492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Inject air into NPH (cloudy) vial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Inject air into Regular (clear) vial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Withdraw 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FIRST 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(clear before cloudy)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Then withdraw NPH (cloudy)
</a:t>
            </a:r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"R-N" — so R insulin doesn't contaminate N vial.
</a:t>
            </a:r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mix Glargine (Lantus) with any other insulin.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Injection Technique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ORAL AGENTS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Oral Antidiabetic Drugs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51525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3515258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3515258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0992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METFORMIN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Biguanide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31494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hepatic glucose, ↑ insulin sensitivity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pearl: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for T2DM. HOLD 24–48 hr before/after iodinated contrast (risk of lactic acidosis + AKI). Take with food.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8218" y="1645920"/>
            <a:ext cx="351525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38218" y="1645920"/>
            <a:ext cx="351525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1645920"/>
            <a:ext cx="3515258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5378" y="170992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GLIPIZIDE / GLYBURIDE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75378" y="1965960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Sulfonylurea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1098" y="2331720"/>
            <a:ext cx="31494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Stimulates pancreas to release more insulin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pearl: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HYPOGLYCEMIA. Avoid alcohol (disulfiram reaction). Take 30 min before meals.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36357" y="1645920"/>
            <a:ext cx="351525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36357" y="1645920"/>
            <a:ext cx="351525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6357" y="1645920"/>
            <a:ext cx="3515258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3517" y="170992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PIOGLITAZONE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73517" y="1965960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TZD / Glitazone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19237" y="2331720"/>
            <a:ext cx="31494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insulin sensitivity in muscle &amp; fat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pearl: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onset. Watch for WEIGHT GAIN, edema, heart failure. Contraindicated in NYHA III–IV HF.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351525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114800"/>
            <a:ext cx="351525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14800"/>
            <a:ext cx="3515258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7880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SITAGLIPTIN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434840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DPP-4 inhibitor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800600"/>
            <a:ext cx="31494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incretin → ↑ insulin, ↓ glucagon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pearl: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Weight-neutral. Low hypoglycemia risk unless combined with sulfonylurea. Watch pancreatitis.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38218" y="4114800"/>
            <a:ext cx="351525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38218" y="4114800"/>
            <a:ext cx="3515258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38218" y="4114800"/>
            <a:ext cx="3515258" cy="5486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75378" y="417880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EMPAGLIFLOZIN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75378" y="4434840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SGLT-2 inhibitor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1098" y="4800600"/>
            <a:ext cx="31494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glucose reabsorption → pee out sugar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pearl: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weight loss, BP ↓, CV protection. Watch: genital yeast/UTI, euglycemic DKA, dehydration.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36357" y="4114800"/>
            <a:ext cx="351525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36357" y="4114800"/>
            <a:ext cx="3515258" cy="73152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6357" y="4114800"/>
            <a:ext cx="3515258" cy="548640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3517" y="4178808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SEMAGLUTIDE / LIRAGLUTIDE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73517" y="4434840"/>
            <a:ext cx="3240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agonist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19237" y="4800600"/>
            <a:ext cx="314949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insulin, ↓ glucagon, slows gastric emptying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pearl: 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weight loss. SC injection. Watch: nausea, pancreatitis, thyroid C-cell tumors (black box).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 · Oral Antidiabetics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COMPLICATION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Hypoglycemia  —  BG &lt; 70 mg/dL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4864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&amp; Symptoms  (early → late)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2743200" cy="2103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11880" y="21488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(sympathetic)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Shaky, sweating, pale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Hunger, tachycardia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Anxiety, irritability
</a:t>
            </a:r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(neuroglycopenia)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Confusion, slurred speech
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Seizures, loss of consciousness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4480560"/>
            <a:ext cx="5486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4480560"/>
            <a:ext cx="548640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Rule of 15  (conscious patient)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48920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 carbs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wait </a:t>
            </a:r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recheck BG. Repeat up to </a:t>
            </a:r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times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still low, call MD.  Once BG normal, give </a:t>
            </a:r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carb snack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protein (cheese + crackers).
</a:t>
            </a:r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15-g carb sources: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cup juice/regular soda  ·  4 glucose tabs  ·  1 Tbsp honey  ·  8 oz skim milk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1600200"/>
            <a:ext cx="5303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600200"/>
            <a:ext cx="5303520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 15 – 15 – 15  Rule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2286000"/>
            <a:ext cx="1280160" cy="1280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7512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67512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9224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 carb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73568" y="2514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412480" y="2286000"/>
            <a:ext cx="1280160" cy="1280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841248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296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710928" y="2514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Shape 24"/>
          <p:cNvSpPr/>
          <p:nvPr/>
        </p:nvSpPr>
        <p:spPr>
          <a:xfrm>
            <a:off x="10149840" y="2286000"/>
            <a:ext cx="1280160" cy="128016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49840" y="24231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1014984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96696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RECHECK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58368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up to 3 times. If still &lt; 70 mg/dL, escalate.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0" y="4663440"/>
            <a:ext cx="5303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400800" y="4663440"/>
            <a:ext cx="530352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0" y="4754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🚨  Unconscious Patient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583680" y="50292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access: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 D50W  25 mL IV
</a:t>
            </a:r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IV: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GLUCAGON 1 mg IM or SC  →  turn patient on side (vomiting risk).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anything by mouth to an unconscious patient!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Hypoglycemia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EDUCATION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Management  &amp;  Patient Teaching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11535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glucose control PREVENTS complications:  retinopathy, nephropathy, neuropathy, CV disease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8477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31720"/>
            <a:ext cx="3484778" cy="731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496312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06324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carb counting. Plate method: ½ veggies, ¼ protein, ¼ complex carb. Limit simple sugars, saturated fat. Don't skip meals if on insulin.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53458" y="2331720"/>
            <a:ext cx="348477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53458" y="2331720"/>
            <a:ext cx="3484778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338" y="25146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84978" y="2496312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82058" y="306324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min/week moderate activity. Check BG before exercise; snack if BG &lt; 100. Carry fast carb. Exercise = "natural insulin."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66837" y="2331720"/>
            <a:ext cx="348477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6837" y="2331720"/>
            <a:ext cx="3484778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717" y="25146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98357" y="2496312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A1c Goals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95437" y="306324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HbA1c &lt; 7%  (individualized — less strict in elderly). Reflects average BG over 3 months. Test every 3–6 months.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4572000"/>
            <a:ext cx="348477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4572000"/>
            <a:ext cx="3484778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7548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736592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 Care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68680" y="530352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feet DAILY with mirror. Never walk barefoot. Cut nails straight across. Well-fitting shoes. Report cuts, ulcers, numbness immediately.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353458" y="4572000"/>
            <a:ext cx="348477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353458" y="4572000"/>
            <a:ext cx="348477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338" y="475488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84978" y="4736592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Sick Day Rules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582058" y="530352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insulin even if not eating. Check BG + ketones q4h. Drink fluids. Call provider for vomiting, ketones, BG &gt; 250, or inability to keep fluids.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066837" y="4572000"/>
            <a:ext cx="348477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066837" y="4572000"/>
            <a:ext cx="3484778" cy="73152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717" y="4754880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798357" y="4736592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Self-Monitoring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8295437" y="5303520"/>
            <a:ext cx="30275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log, CGM use, site rotation, recognize hypo/hyper symptoms. Carry medical alert ID. Always carry fast-acting carb.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40080" y="6446520"/>
            <a:ext cx="1091153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Long-term Management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56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8076895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NCLEX Review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332378" cy="21488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20240"/>
            <a:ext cx="333237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is everything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endocrine labs follow a "high one, low the other" pattern (TSH↑↓ vs T3/T4↓↑, PTH vs Ca/phosphate). Trace the feedback loop — diagnosis follows.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29658" y="1920240"/>
            <a:ext cx="3332378" cy="2148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29658" y="1920240"/>
            <a:ext cx="333237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8258" y="21488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 crises are life-threatening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58258" y="269748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Addisonian crisis, thyroid storm, DKA, myxedema coma, SIADH-induced seizures — recognize early, act fast with fluids, drugs, monitoring.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36357" y="1920240"/>
            <a:ext cx="3332378" cy="2148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36357" y="1920240"/>
            <a:ext cx="333237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4957" y="214884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the drug pearls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4957" y="269748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Levothyroxine → empty stomach, lifelong. Metformin → hold for contrast. PTU in pregnancy. Regular is the only IV insulin. Clear before cloudy.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3332378" cy="2148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4343400"/>
            <a:ext cx="333237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57200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 &amp; phosphate seesaw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512064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raises Ca²⁺ and lowers phosphate. Calcitonin tones DOWN calcium. Watch Chvostek &amp; Trousseau after any neck surgery.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29658" y="4343400"/>
            <a:ext cx="3332378" cy="21488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29658" y="4343400"/>
            <a:ext cx="333237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8258" y="457200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teaching SAVES lives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58258" y="512064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rotation, sick-day rules, foot care, medical-alert ID, steroid tapers, stress dosing — nurses are the "feedback loop" for the patient at home.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36357" y="4343400"/>
            <a:ext cx="3332378" cy="2148840"/>
          </a:xfrm>
          <a:prstGeom prst="rect">
            <a:avLst/>
          </a:prstGeom>
          <a:solidFill>
            <a:srgbClr val="1E4A7B"/>
          </a:solidFill>
          <a:ln w="12700">
            <a:solidFill>
              <a:srgbClr val="1E4A7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36357" y="4343400"/>
            <a:ext cx="3332378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4957" y="457200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ABCs still win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64957" y="5120640"/>
            <a:ext cx="28751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 — airway, fluids, electrolytes first. Then treat the hormone. Hypotension + hyperkalemia + hypoglycemia = steroids + saline NOW.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6172200"/>
            <a:ext cx="10545775" cy="0"/>
          </a:xfrm>
          <a:prstGeom prst="line">
            <a:avLst/>
          </a:prstGeom>
          <a:noFill/>
          <a:ln w="9525">
            <a:solidFill>
              <a:srgbClr val="3A54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2636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reference:  Saunders Comprehensive Review for NCLEX-RN® Examination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45775" y="6263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56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Endocrine System — NCLEX Review</dc:title>
  <dc:subject>PptxGenJS Presentation</dc:subject>
  <dc:creator>Clinical Education</dc:creator>
  <cp:lastModifiedBy>Clinical Education</cp:lastModifiedBy>
  <cp:revision>1</cp:revision>
  <dcterms:created xsi:type="dcterms:W3CDTF">2026-04-23T17:03:29Z</dcterms:created>
  <dcterms:modified xsi:type="dcterms:W3CDTF">2026-04-23T17:03:29Z</dcterms:modified>
</cp:coreProperties>
</file>